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99" r:id="rId4"/>
    <p:sldId id="289" r:id="rId5"/>
    <p:sldId id="301" r:id="rId6"/>
    <p:sldId id="300" r:id="rId7"/>
    <p:sldId id="302" r:id="rId8"/>
    <p:sldId id="303" r:id="rId9"/>
    <p:sldId id="304" r:id="rId10"/>
    <p:sldId id="305" r:id="rId11"/>
    <p:sldId id="290" r:id="rId12"/>
    <p:sldId id="307" r:id="rId13"/>
    <p:sldId id="29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2540"/>
    <a:srgbClr val="0D3D6B"/>
    <a:srgbClr val="15578A"/>
    <a:srgbClr val="2E8EC7"/>
    <a:srgbClr val="52A8DB"/>
    <a:srgbClr val="7DBFE6"/>
    <a:srgbClr val="A8D4EF"/>
    <a:srgbClr val="C9E6F7"/>
    <a:srgbClr val="E8F4FD"/>
    <a:srgbClr val="28A7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8C948F-F7FE-4DA8-AA13-94F059126AF8}" type="doc">
      <dgm:prSet loTypeId="urn:microsoft.com/office/officeart/2024/layout/NumberedLinearArrowProcess" loCatId="process" qsTypeId="urn:microsoft.com/office/officeart/2005/8/quickstyle/simple1" qsCatId="simple" csTypeId="urn:microsoft.com/office/officeart/2005/8/colors/accent1_1" csCatId="accent1" phldr="1"/>
      <dgm:spPr/>
      <dgm:t>
        <a:bodyPr/>
        <a:lstStyle/>
        <a:p>
          <a:endParaRPr lang="fr-FR"/>
        </a:p>
      </dgm:t>
    </dgm:pt>
    <dgm:pt modelId="{A67CF5FB-4332-46AF-9DB2-FEAD1C292031}">
      <dgm:prSet phldrT="[Texte]" phldr="0" custT="1"/>
      <dgm:spPr/>
      <dgm:t>
        <a:bodyPr/>
        <a:lstStyle/>
        <a:p>
          <a:r>
            <a:rPr lang="fr-FR" sz="1600" b="1" noProof="0" dirty="0">
              <a:latin typeface="Calibri" panose="020F0502020204030204" pitchFamily="34" charset="0"/>
              <a:ea typeface="Calibri" panose="020F0502020204030204" pitchFamily="34" charset="0"/>
              <a:cs typeface="Calibri" panose="020F0502020204030204" pitchFamily="34" charset="0"/>
            </a:rPr>
            <a:t>Collecte</a:t>
          </a:r>
        </a:p>
        <a:p>
          <a:r>
            <a:rPr lang="fr-FR" sz="1200" noProof="0" dirty="0">
              <a:latin typeface="Calibri" panose="020F0502020204030204" pitchFamily="34" charset="0"/>
              <a:ea typeface="Calibri" panose="020F0502020204030204" pitchFamily="34" charset="0"/>
              <a:cs typeface="Calibri" panose="020F0502020204030204" pitchFamily="34" charset="0"/>
            </a:rPr>
            <a:t>Données FAO, Banque mondiale, CEPII</a:t>
          </a:r>
        </a:p>
      </dgm:t>
    </dgm:pt>
    <dgm:pt modelId="{679FB10E-563A-4B99-9FCB-6EC849FAE9B9}" type="parTrans" cxnId="{C7F0977E-5550-4205-89A9-EC72621E42D6}">
      <dgm:prSet/>
      <dgm:spPr/>
      <dgm:t>
        <a:bodyPr/>
        <a:lstStyle/>
        <a:p>
          <a:endParaRPr lang="fr-FR"/>
        </a:p>
      </dgm:t>
    </dgm:pt>
    <dgm:pt modelId="{A041B3DD-103C-43CC-A3C4-B3A100ED0F6E}" type="sibTrans" cxnId="{C7F0977E-5550-4205-89A9-EC72621E42D6}">
      <dgm:prSet phldrT="1" phldr="0"/>
      <dgm:spPr/>
      <dgm:t>
        <a:bodyPr/>
        <a:lstStyle/>
        <a:p>
          <a:r>
            <a:rPr lang="fr-FR" noProof="0" dirty="0"/>
            <a:t>1</a:t>
          </a:r>
        </a:p>
      </dgm:t>
    </dgm:pt>
    <dgm:pt modelId="{1CC3DC7E-9F3B-48D5-83A5-DC7791373647}">
      <dgm:prSet phldrT="[Texte]" custT="1"/>
      <dgm:spPr/>
      <dgm:t>
        <a:bodyPr/>
        <a:lstStyle/>
        <a:p>
          <a:r>
            <a:rPr lang="fr-FR" sz="1600" b="1" noProof="0" dirty="0">
              <a:latin typeface="Calibri" pitchFamily="34" charset="0"/>
              <a:ea typeface="Calibri" pitchFamily="34" charset="-122"/>
              <a:cs typeface="Calibri" pitchFamily="34" charset="-120"/>
            </a:rPr>
            <a:t>Identification des axes clés</a:t>
          </a:r>
        </a:p>
        <a:p>
          <a:r>
            <a:rPr lang="fr-FR" sz="1200" noProof="0" dirty="0">
              <a:latin typeface="Calibri" panose="020F0502020204030204" pitchFamily="34" charset="0"/>
              <a:ea typeface="Calibri" panose="020F0502020204030204" pitchFamily="34" charset="0"/>
              <a:cs typeface="Calibri" panose="020F0502020204030204" pitchFamily="34" charset="0"/>
            </a:rPr>
            <a:t>Quelles composantes différencient et rassemblent le plus les pays</a:t>
          </a:r>
        </a:p>
      </dgm:t>
    </dgm:pt>
    <dgm:pt modelId="{6F56872B-3F4E-49FC-8DAF-29CD1FAEA890}" type="parTrans" cxnId="{DEFE38A2-AD39-49EE-B74F-C0127FA0B0E9}">
      <dgm:prSet/>
      <dgm:spPr/>
      <dgm:t>
        <a:bodyPr/>
        <a:lstStyle/>
        <a:p>
          <a:endParaRPr lang="fr-FR"/>
        </a:p>
      </dgm:t>
    </dgm:pt>
    <dgm:pt modelId="{952FF2A7-8B9E-4AA5-BF8B-E260E7DFC704}" type="sibTrans" cxnId="{DEFE38A2-AD39-49EE-B74F-C0127FA0B0E9}">
      <dgm:prSet phldrT="4" phldr="0"/>
      <dgm:spPr/>
      <dgm:t>
        <a:bodyPr/>
        <a:lstStyle/>
        <a:p>
          <a:r>
            <a:rPr lang="fr-FR" noProof="0" dirty="0"/>
            <a:t>4</a:t>
          </a:r>
        </a:p>
      </dgm:t>
    </dgm:pt>
    <dgm:pt modelId="{EFE327D4-8906-4129-9E24-90834A897F97}">
      <dgm:prSet phldrT="[Texte]" custT="1"/>
      <dgm:spPr/>
      <dgm:t>
        <a:bodyPr/>
        <a:lstStyle/>
        <a:p>
          <a:r>
            <a:rPr lang="fr-FR" sz="1600" b="1" noProof="0" dirty="0">
              <a:latin typeface="Calibri" pitchFamily="34" charset="0"/>
              <a:ea typeface="Calibri" pitchFamily="34" charset="-122"/>
              <a:cs typeface="Calibri" pitchFamily="34" charset="-120"/>
            </a:rPr>
            <a:t>Regroupement des pays</a:t>
          </a:r>
        </a:p>
        <a:p>
          <a:r>
            <a:rPr lang="fr-FR" sz="1200" noProof="0" dirty="0">
              <a:latin typeface="Calibri" panose="020F0502020204030204" pitchFamily="34" charset="0"/>
              <a:ea typeface="Calibri" panose="020F0502020204030204" pitchFamily="34" charset="0"/>
              <a:cs typeface="Calibri" panose="020F0502020204030204" pitchFamily="34" charset="0"/>
            </a:rPr>
            <a:t>Pays ayant les mêmes caractéristiques regroupées aux seins de clusters</a:t>
          </a:r>
        </a:p>
      </dgm:t>
    </dgm:pt>
    <dgm:pt modelId="{45FEF96F-2948-44B5-BE17-1EC19FCAE35D}" type="parTrans" cxnId="{D6828A28-840E-4EF4-AD3A-D161AB5A098E}">
      <dgm:prSet/>
      <dgm:spPr/>
      <dgm:t>
        <a:bodyPr/>
        <a:lstStyle/>
        <a:p>
          <a:endParaRPr lang="fr-FR"/>
        </a:p>
      </dgm:t>
    </dgm:pt>
    <dgm:pt modelId="{8CDFDE72-C693-4760-824E-B913E7FB48F8}" type="sibTrans" cxnId="{D6828A28-840E-4EF4-AD3A-D161AB5A098E}">
      <dgm:prSet phldrT="5" phldr="0"/>
      <dgm:spPr/>
      <dgm:t>
        <a:bodyPr/>
        <a:lstStyle/>
        <a:p>
          <a:r>
            <a:rPr lang="fr-FR" dirty="0"/>
            <a:t>5</a:t>
          </a:r>
        </a:p>
      </dgm:t>
    </dgm:pt>
    <dgm:pt modelId="{BC89B1F9-FACD-4B00-8F8E-27406D696D71}">
      <dgm:prSet custT="1"/>
      <dgm:spPr/>
      <dgm:t>
        <a:bodyPr/>
        <a:lstStyle/>
        <a:p>
          <a:r>
            <a:rPr lang="fr-FR" sz="1600" b="1" noProof="0" dirty="0">
              <a:latin typeface="Calibri" pitchFamily="34" charset="0"/>
              <a:ea typeface="Calibri" pitchFamily="34" charset="-122"/>
              <a:cs typeface="Calibri" pitchFamily="34" charset="-120"/>
            </a:rPr>
            <a:t>Préparation</a:t>
          </a:r>
          <a:endParaRPr lang="fr-FR" sz="1600" noProof="0" dirty="0"/>
        </a:p>
        <a:p>
          <a:r>
            <a:rPr lang="fr-FR" sz="1200" noProof="0" dirty="0">
              <a:latin typeface="Calibri" panose="020F0502020204030204" pitchFamily="34" charset="0"/>
              <a:ea typeface="Calibri" panose="020F0502020204030204" pitchFamily="34" charset="0"/>
              <a:cs typeface="Calibri" panose="020F0502020204030204" pitchFamily="34" charset="0"/>
            </a:rPr>
            <a:t>Nettoyage et mise cohérence des données</a:t>
          </a:r>
        </a:p>
      </dgm:t>
    </dgm:pt>
    <dgm:pt modelId="{C7D3263B-FEBD-4CF9-B1BB-486BFBBB0ECB}" type="parTrans" cxnId="{66BE040A-42FE-4A15-B928-5F89705FD2E4}">
      <dgm:prSet/>
      <dgm:spPr/>
      <dgm:t>
        <a:bodyPr/>
        <a:lstStyle/>
        <a:p>
          <a:endParaRPr lang="fr-FR"/>
        </a:p>
      </dgm:t>
    </dgm:pt>
    <dgm:pt modelId="{70ACDC9F-9B26-404D-82CD-EA86B9B31658}" type="sibTrans" cxnId="{66BE040A-42FE-4A15-B928-5F89705FD2E4}">
      <dgm:prSet phldrT="2" phldr="0"/>
      <dgm:spPr/>
      <dgm:t>
        <a:bodyPr/>
        <a:lstStyle/>
        <a:p>
          <a:r>
            <a:rPr lang="fr-FR" noProof="0" dirty="0"/>
            <a:t>2</a:t>
          </a:r>
        </a:p>
      </dgm:t>
    </dgm:pt>
    <dgm:pt modelId="{AAC0DAB3-7FC0-4C69-8747-400A1A713FA1}">
      <dgm:prSet custT="1"/>
      <dgm:spPr/>
      <dgm:t>
        <a:bodyPr/>
        <a:lstStyle/>
        <a:p>
          <a:r>
            <a:rPr lang="fr-FR" sz="1600" b="1" noProof="0" dirty="0">
              <a:latin typeface="Calibri" pitchFamily="34" charset="0"/>
              <a:ea typeface="Calibri" pitchFamily="34" charset="-122"/>
              <a:cs typeface="Calibri" pitchFamily="34" charset="-120"/>
            </a:rPr>
            <a:t>Sélection des variables</a:t>
          </a:r>
        </a:p>
        <a:p>
          <a:r>
            <a:rPr lang="fr-FR" sz="1200" noProof="0" dirty="0">
              <a:latin typeface="Calibri" panose="020F0502020204030204" pitchFamily="34" charset="0"/>
              <a:ea typeface="Calibri" panose="020F0502020204030204" pitchFamily="34" charset="0"/>
              <a:cs typeface="Calibri" panose="020F0502020204030204" pitchFamily="34" charset="0"/>
            </a:rPr>
            <a:t>11 variables économiques, sociales et géographiques choisies</a:t>
          </a:r>
        </a:p>
      </dgm:t>
    </dgm:pt>
    <dgm:pt modelId="{650C5FD3-7133-4E00-BB43-41AADDB89A29}" type="parTrans" cxnId="{310D5C3D-0ED6-47B7-8C75-E82D87EE3150}">
      <dgm:prSet/>
      <dgm:spPr/>
      <dgm:t>
        <a:bodyPr/>
        <a:lstStyle/>
        <a:p>
          <a:endParaRPr lang="fr-FR"/>
        </a:p>
      </dgm:t>
    </dgm:pt>
    <dgm:pt modelId="{2D616529-57A8-4449-9BC1-C9DF67587F13}" type="sibTrans" cxnId="{310D5C3D-0ED6-47B7-8C75-E82D87EE3150}">
      <dgm:prSet phldrT="3" phldr="0"/>
      <dgm:spPr/>
      <dgm:t>
        <a:bodyPr/>
        <a:lstStyle/>
        <a:p>
          <a:r>
            <a:rPr lang="fr-FR" noProof="0" dirty="0"/>
            <a:t>3</a:t>
          </a:r>
        </a:p>
      </dgm:t>
    </dgm:pt>
    <dgm:pt modelId="{1FCE5120-75FC-42EF-B14B-32D3DBC7F005}">
      <dgm:prSet custT="1"/>
      <dgm:spPr/>
      <dgm:t>
        <a:bodyPr/>
        <a:lstStyle/>
        <a:p>
          <a:r>
            <a:rPr lang="fr-FR" sz="1600" b="1" dirty="0">
              <a:latin typeface="Calibri" panose="020F0502020204030204" pitchFamily="34" charset="0"/>
              <a:ea typeface="Calibri" panose="020F0502020204030204" pitchFamily="34" charset="0"/>
              <a:cs typeface="Calibri" panose="020F0502020204030204" pitchFamily="34" charset="0"/>
            </a:rPr>
            <a:t>Conclusions et recommandations</a:t>
          </a:r>
        </a:p>
        <a:p>
          <a:r>
            <a:rPr lang="fr-FR" sz="1200" b="0" dirty="0">
              <a:latin typeface="Calibri" panose="020F0502020204030204" pitchFamily="34" charset="0"/>
              <a:ea typeface="Calibri" panose="020F0502020204030204" pitchFamily="34" charset="0"/>
              <a:cs typeface="Calibri" panose="020F0502020204030204" pitchFamily="34" charset="0"/>
            </a:rPr>
            <a:t>Marchés cibles</a:t>
          </a:r>
        </a:p>
      </dgm:t>
    </dgm:pt>
    <dgm:pt modelId="{5BF1A519-CA89-4374-9275-AAB75A7AE4B5}" type="parTrans" cxnId="{F2A3B14D-B700-4715-8C47-2EF6746D3DEF}">
      <dgm:prSet/>
      <dgm:spPr/>
      <dgm:t>
        <a:bodyPr/>
        <a:lstStyle/>
        <a:p>
          <a:endParaRPr lang="fr-FR"/>
        </a:p>
      </dgm:t>
    </dgm:pt>
    <dgm:pt modelId="{431834B3-04EC-4411-AAE1-A599DEE1BE04}" type="sibTrans" cxnId="{F2A3B14D-B700-4715-8C47-2EF6746D3DEF}">
      <dgm:prSet phldrT="6" phldr="0"/>
      <dgm:spPr/>
      <dgm:t>
        <a:bodyPr/>
        <a:lstStyle/>
        <a:p>
          <a:r>
            <a:rPr lang="fr-FR" dirty="0"/>
            <a:t>6</a:t>
          </a:r>
        </a:p>
      </dgm:t>
    </dgm:pt>
    <dgm:pt modelId="{8E6B7F0F-8E33-46ED-BB06-D83A606F8191}" type="pres">
      <dgm:prSet presAssocID="{8F8C948F-F7FE-4DA8-AA13-94F059126AF8}" presName="linearFlow" presStyleCnt="0">
        <dgm:presLayoutVars>
          <dgm:dir/>
          <dgm:animLvl val="lvl"/>
          <dgm:resizeHandles val="exact"/>
        </dgm:presLayoutVars>
      </dgm:prSet>
      <dgm:spPr/>
    </dgm:pt>
    <dgm:pt modelId="{FFE8996B-0C30-48B1-B164-53B7F46C9D76}" type="pres">
      <dgm:prSet presAssocID="{A67CF5FB-4332-46AF-9DB2-FEAD1C292031}" presName="compositeNode" presStyleCnt="0"/>
      <dgm:spPr/>
    </dgm:pt>
    <dgm:pt modelId="{6CDFFFF8-D0C9-4449-BBB4-842784CC27AA}" type="pres">
      <dgm:prSet presAssocID="{A67CF5FB-4332-46AF-9DB2-FEAD1C292031}" presName="parTx" presStyleLbl="node1" presStyleIdx="0" presStyleCnt="0">
        <dgm:presLayoutVars>
          <dgm:chMax val="0"/>
          <dgm:chPref val="0"/>
          <dgm:bulletEnabled val="1"/>
        </dgm:presLayoutVars>
      </dgm:prSet>
      <dgm:spPr/>
    </dgm:pt>
    <dgm:pt modelId="{C410F235-C6D8-4621-A978-97E5DC393019}" type="pres">
      <dgm:prSet presAssocID="{A67CF5FB-4332-46AF-9DB2-FEAD1C292031}" presName="parSh" presStyleCnt="0"/>
      <dgm:spPr/>
    </dgm:pt>
    <dgm:pt modelId="{DE6DB592-DC4E-458F-81D3-CC55B41E40B4}" type="pres">
      <dgm:prSet presAssocID="{A67CF5FB-4332-46AF-9DB2-FEAD1C292031}" presName="lineNode" presStyleLbl="alignNode1" presStyleIdx="0" presStyleCnt="18"/>
      <dgm:spPr/>
    </dgm:pt>
    <dgm:pt modelId="{6E9B4518-0D19-4ACE-9727-37C7C8A7F077}" type="pres">
      <dgm:prSet presAssocID="{A67CF5FB-4332-46AF-9DB2-FEAD1C292031}" presName="lineArrowNode" presStyleLbl="alignNode1" presStyleIdx="1" presStyleCnt="18"/>
      <dgm:spPr/>
    </dgm:pt>
    <dgm:pt modelId="{15D688B6-4680-450C-BBFF-FE357F3A1FB5}" type="pres">
      <dgm:prSet presAssocID="{A041B3DD-103C-43CC-A3C4-B3A100ED0F6E}" presName="sibTransNodeCircle" presStyleLbl="alignNode1" presStyleIdx="2" presStyleCnt="18">
        <dgm:presLayoutVars>
          <dgm:chMax val="0"/>
          <dgm:bulletEnabled/>
        </dgm:presLayoutVars>
      </dgm:prSet>
      <dgm:spPr/>
    </dgm:pt>
    <dgm:pt modelId="{B34BAE92-28FD-46B1-BF06-F19B00FD0D16}" type="pres">
      <dgm:prSet presAssocID="{A041B3DD-103C-43CC-A3C4-B3A100ED0F6E}" presName="spacerBetweenCircleAndCallout" presStyleCnt="0">
        <dgm:presLayoutVars/>
      </dgm:prSet>
      <dgm:spPr/>
    </dgm:pt>
    <dgm:pt modelId="{B1A7449E-9463-47F4-A95C-4766CEE57D3A}" type="pres">
      <dgm:prSet presAssocID="{A041B3DD-103C-43CC-A3C4-B3A100ED0F6E}" presName="verticalConnector" presStyleLbl="alignAccFollowNode1" presStyleIdx="0" presStyleCnt="6"/>
      <dgm:spPr/>
    </dgm:pt>
    <dgm:pt modelId="{956519F7-F251-4F6F-85E7-52EC53DBEFB3}" type="pres">
      <dgm:prSet presAssocID="{A67CF5FB-4332-46AF-9DB2-FEAD1C292031}" presName="nodeText" presStyleLbl="fgAcc1" presStyleIdx="0" presStyleCnt="6">
        <dgm:presLayoutVars>
          <dgm:bulletEnabled val="1"/>
        </dgm:presLayoutVars>
      </dgm:prSet>
      <dgm:spPr/>
    </dgm:pt>
    <dgm:pt modelId="{DDC87A9F-C077-4C5C-8097-FA264B7D414E}" type="pres">
      <dgm:prSet presAssocID="{A041B3DD-103C-43CC-A3C4-B3A100ED0F6E}" presName="sibTransComposite" presStyleCnt="0"/>
      <dgm:spPr/>
    </dgm:pt>
    <dgm:pt modelId="{C7129637-AD4D-419A-AF3A-50955F7425BF}" type="pres">
      <dgm:prSet presAssocID="{BC89B1F9-FACD-4B00-8F8E-27406D696D71}" presName="compositeNode" presStyleCnt="0"/>
      <dgm:spPr/>
    </dgm:pt>
    <dgm:pt modelId="{E8008A96-A68F-4638-AAF7-E355172D017B}" type="pres">
      <dgm:prSet presAssocID="{BC89B1F9-FACD-4B00-8F8E-27406D696D71}" presName="parTx" presStyleLbl="node1" presStyleIdx="0" presStyleCnt="0">
        <dgm:presLayoutVars>
          <dgm:chMax val="0"/>
          <dgm:chPref val="0"/>
          <dgm:bulletEnabled val="1"/>
        </dgm:presLayoutVars>
      </dgm:prSet>
      <dgm:spPr/>
    </dgm:pt>
    <dgm:pt modelId="{B925C624-043E-40A5-8B41-83B41A1F19A7}" type="pres">
      <dgm:prSet presAssocID="{BC89B1F9-FACD-4B00-8F8E-27406D696D71}" presName="parSh" presStyleCnt="0"/>
      <dgm:spPr/>
    </dgm:pt>
    <dgm:pt modelId="{2B612614-67AB-49EE-B850-3B22BAB85E01}" type="pres">
      <dgm:prSet presAssocID="{BC89B1F9-FACD-4B00-8F8E-27406D696D71}" presName="lineNode" presStyleLbl="alignNode1" presStyleIdx="3" presStyleCnt="18"/>
      <dgm:spPr/>
    </dgm:pt>
    <dgm:pt modelId="{C46F3173-F211-4A77-A203-4F30C2AA2FD8}" type="pres">
      <dgm:prSet presAssocID="{BC89B1F9-FACD-4B00-8F8E-27406D696D71}" presName="lineArrowNode" presStyleLbl="alignNode1" presStyleIdx="4" presStyleCnt="18"/>
      <dgm:spPr/>
    </dgm:pt>
    <dgm:pt modelId="{96C3CFB0-8605-48A6-864C-40F997DE2CF8}" type="pres">
      <dgm:prSet presAssocID="{70ACDC9F-9B26-404D-82CD-EA86B9B31658}" presName="sibTransNodeCircle" presStyleLbl="alignNode1" presStyleIdx="5" presStyleCnt="18">
        <dgm:presLayoutVars>
          <dgm:chMax val="0"/>
          <dgm:bulletEnabled/>
        </dgm:presLayoutVars>
      </dgm:prSet>
      <dgm:spPr/>
    </dgm:pt>
    <dgm:pt modelId="{E245CEEA-F4B6-4FCB-B5DE-631A802A38DB}" type="pres">
      <dgm:prSet presAssocID="{70ACDC9F-9B26-404D-82CD-EA86B9B31658}" presName="spacerBetweenCircleAndCallout" presStyleCnt="0">
        <dgm:presLayoutVars/>
      </dgm:prSet>
      <dgm:spPr/>
    </dgm:pt>
    <dgm:pt modelId="{EADF17E3-1E47-4494-94EA-D5B975BD4341}" type="pres">
      <dgm:prSet presAssocID="{70ACDC9F-9B26-404D-82CD-EA86B9B31658}" presName="verticalConnector" presStyleLbl="alignAccFollowNode1" presStyleIdx="1" presStyleCnt="6"/>
      <dgm:spPr/>
    </dgm:pt>
    <dgm:pt modelId="{16B6019F-E229-4DB8-8A36-24B5750E8A3B}" type="pres">
      <dgm:prSet presAssocID="{BC89B1F9-FACD-4B00-8F8E-27406D696D71}" presName="nodeText" presStyleLbl="fgAcc1" presStyleIdx="1" presStyleCnt="6">
        <dgm:presLayoutVars>
          <dgm:bulletEnabled val="1"/>
        </dgm:presLayoutVars>
      </dgm:prSet>
      <dgm:spPr/>
    </dgm:pt>
    <dgm:pt modelId="{7754F48C-0CC9-4F7C-B3D3-60393C53BD85}" type="pres">
      <dgm:prSet presAssocID="{70ACDC9F-9B26-404D-82CD-EA86B9B31658}" presName="sibTransComposite" presStyleCnt="0"/>
      <dgm:spPr/>
    </dgm:pt>
    <dgm:pt modelId="{0F74C1E5-BA7A-454E-9ABA-CF85D6CAAD1D}" type="pres">
      <dgm:prSet presAssocID="{AAC0DAB3-7FC0-4C69-8747-400A1A713FA1}" presName="compositeNode" presStyleCnt="0"/>
      <dgm:spPr/>
    </dgm:pt>
    <dgm:pt modelId="{0FAF4AE9-76C7-4F7D-9D5D-C7C23E823CD3}" type="pres">
      <dgm:prSet presAssocID="{AAC0DAB3-7FC0-4C69-8747-400A1A713FA1}" presName="parTx" presStyleLbl="node1" presStyleIdx="0" presStyleCnt="0">
        <dgm:presLayoutVars>
          <dgm:chMax val="0"/>
          <dgm:chPref val="0"/>
          <dgm:bulletEnabled val="1"/>
        </dgm:presLayoutVars>
      </dgm:prSet>
      <dgm:spPr/>
    </dgm:pt>
    <dgm:pt modelId="{E9FC4F76-96CD-49B7-8B50-D22B5D9E11F2}" type="pres">
      <dgm:prSet presAssocID="{AAC0DAB3-7FC0-4C69-8747-400A1A713FA1}" presName="parSh" presStyleCnt="0"/>
      <dgm:spPr/>
    </dgm:pt>
    <dgm:pt modelId="{5E28E092-BA5B-4C45-ABC8-EBC076B598B0}" type="pres">
      <dgm:prSet presAssocID="{AAC0DAB3-7FC0-4C69-8747-400A1A713FA1}" presName="lineNode" presStyleLbl="alignNode1" presStyleIdx="6" presStyleCnt="18"/>
      <dgm:spPr/>
    </dgm:pt>
    <dgm:pt modelId="{E9154F9E-9504-4090-BD2E-C7ED531C8190}" type="pres">
      <dgm:prSet presAssocID="{AAC0DAB3-7FC0-4C69-8747-400A1A713FA1}" presName="lineArrowNode" presStyleLbl="alignNode1" presStyleIdx="7" presStyleCnt="18"/>
      <dgm:spPr/>
    </dgm:pt>
    <dgm:pt modelId="{0955F396-5ECE-49F0-AA5C-4961165E2BCB}" type="pres">
      <dgm:prSet presAssocID="{2D616529-57A8-4449-9BC1-C9DF67587F13}" presName="sibTransNodeCircle" presStyleLbl="alignNode1" presStyleIdx="8" presStyleCnt="18">
        <dgm:presLayoutVars>
          <dgm:chMax val="0"/>
          <dgm:bulletEnabled/>
        </dgm:presLayoutVars>
      </dgm:prSet>
      <dgm:spPr/>
    </dgm:pt>
    <dgm:pt modelId="{9737D903-D3B6-4B54-920E-9D343A8B64CC}" type="pres">
      <dgm:prSet presAssocID="{2D616529-57A8-4449-9BC1-C9DF67587F13}" presName="spacerBetweenCircleAndCallout" presStyleCnt="0">
        <dgm:presLayoutVars/>
      </dgm:prSet>
      <dgm:spPr/>
    </dgm:pt>
    <dgm:pt modelId="{049F524D-9E79-4844-9D7C-7585A3D76C91}" type="pres">
      <dgm:prSet presAssocID="{2D616529-57A8-4449-9BC1-C9DF67587F13}" presName="verticalConnector" presStyleLbl="alignAccFollowNode1" presStyleIdx="2" presStyleCnt="6"/>
      <dgm:spPr/>
    </dgm:pt>
    <dgm:pt modelId="{D157F42F-67D1-4820-9E8C-A2A015EE2554}" type="pres">
      <dgm:prSet presAssocID="{AAC0DAB3-7FC0-4C69-8747-400A1A713FA1}" presName="nodeText" presStyleLbl="fgAcc1" presStyleIdx="2" presStyleCnt="6">
        <dgm:presLayoutVars>
          <dgm:bulletEnabled val="1"/>
        </dgm:presLayoutVars>
      </dgm:prSet>
      <dgm:spPr/>
    </dgm:pt>
    <dgm:pt modelId="{D5559D41-A7E5-4596-B4A3-8621D883B477}" type="pres">
      <dgm:prSet presAssocID="{2D616529-57A8-4449-9BC1-C9DF67587F13}" presName="sibTransComposite" presStyleCnt="0"/>
      <dgm:spPr/>
    </dgm:pt>
    <dgm:pt modelId="{1FDD751C-0959-4596-8499-BCEA5C0A197A}" type="pres">
      <dgm:prSet presAssocID="{1CC3DC7E-9F3B-48D5-83A5-DC7791373647}" presName="compositeNode" presStyleCnt="0"/>
      <dgm:spPr/>
    </dgm:pt>
    <dgm:pt modelId="{8E99496E-E95A-4640-8D8A-CFC8CBFDAA68}" type="pres">
      <dgm:prSet presAssocID="{1CC3DC7E-9F3B-48D5-83A5-DC7791373647}" presName="parTx" presStyleLbl="node1" presStyleIdx="0" presStyleCnt="0">
        <dgm:presLayoutVars>
          <dgm:chMax val="0"/>
          <dgm:chPref val="0"/>
          <dgm:bulletEnabled val="1"/>
        </dgm:presLayoutVars>
      </dgm:prSet>
      <dgm:spPr/>
    </dgm:pt>
    <dgm:pt modelId="{D0541124-8E71-4D7C-9540-E4BFDBAF30B9}" type="pres">
      <dgm:prSet presAssocID="{1CC3DC7E-9F3B-48D5-83A5-DC7791373647}" presName="parSh" presStyleCnt="0"/>
      <dgm:spPr/>
    </dgm:pt>
    <dgm:pt modelId="{E1761CF5-8A7E-46B1-9930-E2E64AB11D1E}" type="pres">
      <dgm:prSet presAssocID="{1CC3DC7E-9F3B-48D5-83A5-DC7791373647}" presName="lineNode" presStyleLbl="alignNode1" presStyleIdx="9" presStyleCnt="18"/>
      <dgm:spPr/>
    </dgm:pt>
    <dgm:pt modelId="{A175F4CF-FF0B-40BA-879B-264125B8F846}" type="pres">
      <dgm:prSet presAssocID="{1CC3DC7E-9F3B-48D5-83A5-DC7791373647}" presName="lineArrowNode" presStyleLbl="alignNode1" presStyleIdx="10" presStyleCnt="18"/>
      <dgm:spPr/>
    </dgm:pt>
    <dgm:pt modelId="{6EC42A0A-E7D9-4E74-AE9F-9F7EE813614D}" type="pres">
      <dgm:prSet presAssocID="{952FF2A7-8B9E-4AA5-BF8B-E260E7DFC704}" presName="sibTransNodeCircle" presStyleLbl="alignNode1" presStyleIdx="11" presStyleCnt="18">
        <dgm:presLayoutVars>
          <dgm:chMax val="0"/>
          <dgm:bulletEnabled/>
        </dgm:presLayoutVars>
      </dgm:prSet>
      <dgm:spPr/>
    </dgm:pt>
    <dgm:pt modelId="{65F9BB95-B2F0-4A98-AC0B-AE7FBB62E267}" type="pres">
      <dgm:prSet presAssocID="{952FF2A7-8B9E-4AA5-BF8B-E260E7DFC704}" presName="spacerBetweenCircleAndCallout" presStyleCnt="0">
        <dgm:presLayoutVars/>
      </dgm:prSet>
      <dgm:spPr/>
    </dgm:pt>
    <dgm:pt modelId="{24B0F169-0A48-419A-AE34-0406B938247C}" type="pres">
      <dgm:prSet presAssocID="{952FF2A7-8B9E-4AA5-BF8B-E260E7DFC704}" presName="verticalConnector" presStyleLbl="alignAccFollowNode1" presStyleIdx="3" presStyleCnt="6"/>
      <dgm:spPr/>
    </dgm:pt>
    <dgm:pt modelId="{DC98A511-260F-448F-BABD-D4C6210C2C9E}" type="pres">
      <dgm:prSet presAssocID="{1CC3DC7E-9F3B-48D5-83A5-DC7791373647}" presName="nodeText" presStyleLbl="fgAcc1" presStyleIdx="3" presStyleCnt="6">
        <dgm:presLayoutVars>
          <dgm:bulletEnabled val="1"/>
        </dgm:presLayoutVars>
      </dgm:prSet>
      <dgm:spPr/>
    </dgm:pt>
    <dgm:pt modelId="{F4D28FA9-81E3-4C1F-9D8C-A37187A4679C}" type="pres">
      <dgm:prSet presAssocID="{952FF2A7-8B9E-4AA5-BF8B-E260E7DFC704}" presName="sibTransComposite" presStyleCnt="0"/>
      <dgm:spPr/>
    </dgm:pt>
    <dgm:pt modelId="{E86D102D-B70B-47BF-99A4-80B6FA32C8D4}" type="pres">
      <dgm:prSet presAssocID="{EFE327D4-8906-4129-9E24-90834A897F97}" presName="compositeNode" presStyleCnt="0"/>
      <dgm:spPr/>
    </dgm:pt>
    <dgm:pt modelId="{093121CA-7DD8-4DC6-91F5-E53C58B5CF9A}" type="pres">
      <dgm:prSet presAssocID="{EFE327D4-8906-4129-9E24-90834A897F97}" presName="parTx" presStyleLbl="node1" presStyleIdx="0" presStyleCnt="0">
        <dgm:presLayoutVars>
          <dgm:chMax val="0"/>
          <dgm:chPref val="0"/>
          <dgm:bulletEnabled val="1"/>
        </dgm:presLayoutVars>
      </dgm:prSet>
      <dgm:spPr/>
    </dgm:pt>
    <dgm:pt modelId="{A9FBC6B7-A395-448A-8430-CBB423FF8838}" type="pres">
      <dgm:prSet presAssocID="{EFE327D4-8906-4129-9E24-90834A897F97}" presName="parSh" presStyleCnt="0"/>
      <dgm:spPr/>
    </dgm:pt>
    <dgm:pt modelId="{7A68922A-5640-4D82-A615-28D0E09EE2B5}" type="pres">
      <dgm:prSet presAssocID="{EFE327D4-8906-4129-9E24-90834A897F97}" presName="lineNode" presStyleLbl="alignNode1" presStyleIdx="12" presStyleCnt="18"/>
      <dgm:spPr/>
    </dgm:pt>
    <dgm:pt modelId="{EDF84A47-09DE-4B46-B635-8B10F17415B0}" type="pres">
      <dgm:prSet presAssocID="{EFE327D4-8906-4129-9E24-90834A897F97}" presName="lineArrowNode" presStyleLbl="alignNode1" presStyleIdx="13" presStyleCnt="18"/>
      <dgm:spPr/>
    </dgm:pt>
    <dgm:pt modelId="{3C3B0AB5-4A15-49DD-93AB-E55CCA3CA3E6}" type="pres">
      <dgm:prSet presAssocID="{8CDFDE72-C693-4760-824E-B913E7FB48F8}" presName="sibTransNodeCircle" presStyleLbl="alignNode1" presStyleIdx="14" presStyleCnt="18">
        <dgm:presLayoutVars>
          <dgm:chMax val="0"/>
          <dgm:bulletEnabled/>
        </dgm:presLayoutVars>
      </dgm:prSet>
      <dgm:spPr/>
    </dgm:pt>
    <dgm:pt modelId="{A240602D-AC03-46C0-9651-E01BD07B940F}" type="pres">
      <dgm:prSet presAssocID="{8CDFDE72-C693-4760-824E-B913E7FB48F8}" presName="spacerBetweenCircleAndCallout" presStyleCnt="0">
        <dgm:presLayoutVars/>
      </dgm:prSet>
      <dgm:spPr/>
    </dgm:pt>
    <dgm:pt modelId="{38B6DA17-B7ED-46AA-8D74-09E3F4B42407}" type="pres">
      <dgm:prSet presAssocID="{8CDFDE72-C693-4760-824E-B913E7FB48F8}" presName="verticalConnector" presStyleLbl="alignAccFollowNode1" presStyleIdx="4" presStyleCnt="6"/>
      <dgm:spPr/>
    </dgm:pt>
    <dgm:pt modelId="{D3AD2B79-7976-4E9B-BB85-E77D22807E96}" type="pres">
      <dgm:prSet presAssocID="{EFE327D4-8906-4129-9E24-90834A897F97}" presName="nodeText" presStyleLbl="fgAcc1" presStyleIdx="4" presStyleCnt="6">
        <dgm:presLayoutVars>
          <dgm:bulletEnabled val="1"/>
        </dgm:presLayoutVars>
      </dgm:prSet>
      <dgm:spPr/>
    </dgm:pt>
    <dgm:pt modelId="{84073DB0-20C8-4A9C-98B7-553126122680}" type="pres">
      <dgm:prSet presAssocID="{8CDFDE72-C693-4760-824E-B913E7FB48F8}" presName="sibTransComposite" presStyleCnt="0"/>
      <dgm:spPr/>
    </dgm:pt>
    <dgm:pt modelId="{4911985E-8D37-451C-AF3F-4C1793FDD76D}" type="pres">
      <dgm:prSet presAssocID="{1FCE5120-75FC-42EF-B14B-32D3DBC7F005}" presName="compositeNode" presStyleCnt="0"/>
      <dgm:spPr/>
    </dgm:pt>
    <dgm:pt modelId="{068CA445-4ABC-408E-842D-7EA2D0778E15}" type="pres">
      <dgm:prSet presAssocID="{1FCE5120-75FC-42EF-B14B-32D3DBC7F005}" presName="parTx" presStyleLbl="node1" presStyleIdx="0" presStyleCnt="0">
        <dgm:presLayoutVars>
          <dgm:chMax val="0"/>
          <dgm:chPref val="0"/>
          <dgm:bulletEnabled val="1"/>
        </dgm:presLayoutVars>
      </dgm:prSet>
      <dgm:spPr/>
    </dgm:pt>
    <dgm:pt modelId="{E7BFB4D2-70DF-4135-8F5F-6D7A70571778}" type="pres">
      <dgm:prSet presAssocID="{1FCE5120-75FC-42EF-B14B-32D3DBC7F005}" presName="parSh" presStyleCnt="0"/>
      <dgm:spPr/>
    </dgm:pt>
    <dgm:pt modelId="{8A906867-BC42-4F43-8B66-941009DF3817}" type="pres">
      <dgm:prSet presAssocID="{1FCE5120-75FC-42EF-B14B-32D3DBC7F005}" presName="lineNode" presStyleLbl="alignNode1" presStyleIdx="15" presStyleCnt="18"/>
      <dgm:spPr/>
    </dgm:pt>
    <dgm:pt modelId="{1E755C6B-0512-48CB-A095-F18EBEF9A9C5}" type="pres">
      <dgm:prSet presAssocID="{1FCE5120-75FC-42EF-B14B-32D3DBC7F005}" presName="lineArrowNode" presStyleLbl="alignNode1" presStyleIdx="16" presStyleCnt="18"/>
      <dgm:spPr/>
    </dgm:pt>
    <dgm:pt modelId="{0353A8A5-1596-47A1-97B3-E6B901E50B08}" type="pres">
      <dgm:prSet presAssocID="{431834B3-04EC-4411-AAE1-A599DEE1BE04}" presName="sibTransNodeCircle" presStyleLbl="alignNode1" presStyleIdx="17" presStyleCnt="18">
        <dgm:presLayoutVars>
          <dgm:chMax val="0"/>
          <dgm:bulletEnabled/>
        </dgm:presLayoutVars>
      </dgm:prSet>
      <dgm:spPr/>
    </dgm:pt>
    <dgm:pt modelId="{090BDFBC-C7A8-4C59-887F-2B209B4A047A}" type="pres">
      <dgm:prSet presAssocID="{431834B3-04EC-4411-AAE1-A599DEE1BE04}" presName="spacerBetweenCircleAndCallout" presStyleCnt="0">
        <dgm:presLayoutVars/>
      </dgm:prSet>
      <dgm:spPr/>
    </dgm:pt>
    <dgm:pt modelId="{99A51E40-7DD3-417B-87B3-1D90420E4621}" type="pres">
      <dgm:prSet presAssocID="{431834B3-04EC-4411-AAE1-A599DEE1BE04}" presName="verticalConnector" presStyleLbl="alignAccFollowNode1" presStyleIdx="5" presStyleCnt="6"/>
      <dgm:spPr/>
    </dgm:pt>
    <dgm:pt modelId="{53324595-2DAD-4EEF-B126-732C372F8D2A}" type="pres">
      <dgm:prSet presAssocID="{1FCE5120-75FC-42EF-B14B-32D3DBC7F005}" presName="nodeText" presStyleLbl="fgAcc1" presStyleIdx="5" presStyleCnt="6">
        <dgm:presLayoutVars>
          <dgm:bulletEnabled val="1"/>
        </dgm:presLayoutVars>
      </dgm:prSet>
      <dgm:spPr/>
    </dgm:pt>
  </dgm:ptLst>
  <dgm:cxnLst>
    <dgm:cxn modelId="{66BE040A-42FE-4A15-B928-5F89705FD2E4}" srcId="{8F8C948F-F7FE-4DA8-AA13-94F059126AF8}" destId="{BC89B1F9-FACD-4B00-8F8E-27406D696D71}" srcOrd="1" destOrd="0" parTransId="{C7D3263B-FEBD-4CF9-B1BB-486BFBBB0ECB}" sibTransId="{70ACDC9F-9B26-404D-82CD-EA86B9B31658}"/>
    <dgm:cxn modelId="{EB9FEC0A-64CE-4B01-A18B-66535FD87D5B}" type="presOf" srcId="{AAC0DAB3-7FC0-4C69-8747-400A1A713FA1}" destId="{D157F42F-67D1-4820-9E8C-A2A015EE2554}" srcOrd="1" destOrd="0" presId="urn:microsoft.com/office/officeart/2024/layout/NumberedLinearArrowProcess"/>
    <dgm:cxn modelId="{448BE81C-1A5E-48C3-AB9B-C389AC3FEC24}" type="presOf" srcId="{AAC0DAB3-7FC0-4C69-8747-400A1A713FA1}" destId="{E9154F9E-9504-4090-BD2E-C7ED531C8190}" srcOrd="0" destOrd="0" presId="urn:microsoft.com/office/officeart/2024/layout/NumberedLinearArrowProcess"/>
    <dgm:cxn modelId="{D6828A28-840E-4EF4-AD3A-D161AB5A098E}" srcId="{8F8C948F-F7FE-4DA8-AA13-94F059126AF8}" destId="{EFE327D4-8906-4129-9E24-90834A897F97}" srcOrd="4" destOrd="0" parTransId="{45FEF96F-2948-44B5-BE17-1EC19FCAE35D}" sibTransId="{8CDFDE72-C693-4760-824E-B913E7FB48F8}"/>
    <dgm:cxn modelId="{0402412B-5939-48B5-B826-A2C66507C65A}" type="presOf" srcId="{952FF2A7-8B9E-4AA5-BF8B-E260E7DFC704}" destId="{6EC42A0A-E7D9-4E74-AE9F-9F7EE813614D}" srcOrd="0" destOrd="0" presId="urn:microsoft.com/office/officeart/2024/layout/NumberedLinearArrowProcess"/>
    <dgm:cxn modelId="{DBECB938-C19D-4C27-A8E4-547A75E62043}" type="presOf" srcId="{431834B3-04EC-4411-AAE1-A599DEE1BE04}" destId="{0353A8A5-1596-47A1-97B3-E6B901E50B08}" srcOrd="0" destOrd="0" presId="urn:microsoft.com/office/officeart/2024/layout/NumberedLinearArrowProcess"/>
    <dgm:cxn modelId="{310D5C3D-0ED6-47B7-8C75-E82D87EE3150}" srcId="{8F8C948F-F7FE-4DA8-AA13-94F059126AF8}" destId="{AAC0DAB3-7FC0-4C69-8747-400A1A713FA1}" srcOrd="2" destOrd="0" parTransId="{650C5FD3-7133-4E00-BB43-41AADDB89A29}" sibTransId="{2D616529-57A8-4449-9BC1-C9DF67587F13}"/>
    <dgm:cxn modelId="{F2A3B14D-B700-4715-8C47-2EF6746D3DEF}" srcId="{8F8C948F-F7FE-4DA8-AA13-94F059126AF8}" destId="{1FCE5120-75FC-42EF-B14B-32D3DBC7F005}" srcOrd="5" destOrd="0" parTransId="{5BF1A519-CA89-4374-9275-AAB75A7AE4B5}" sibTransId="{431834B3-04EC-4411-AAE1-A599DEE1BE04}"/>
    <dgm:cxn modelId="{7D67485A-C9CF-4EDE-B075-385B56FCF9C6}" type="presOf" srcId="{2D616529-57A8-4449-9BC1-C9DF67587F13}" destId="{0955F396-5ECE-49F0-AA5C-4961165E2BCB}" srcOrd="0" destOrd="0" presId="urn:microsoft.com/office/officeart/2024/layout/NumberedLinearArrowProcess"/>
    <dgm:cxn modelId="{C7F0977E-5550-4205-89A9-EC72621E42D6}" srcId="{8F8C948F-F7FE-4DA8-AA13-94F059126AF8}" destId="{A67CF5FB-4332-46AF-9DB2-FEAD1C292031}" srcOrd="0" destOrd="0" parTransId="{679FB10E-563A-4B99-9FCB-6EC849FAE9B9}" sibTransId="{A041B3DD-103C-43CC-A3C4-B3A100ED0F6E}"/>
    <dgm:cxn modelId="{1CD03488-3916-44FB-AAA0-399C3B49C9CC}" type="presOf" srcId="{1FCE5120-75FC-42EF-B14B-32D3DBC7F005}" destId="{53324595-2DAD-4EEF-B126-732C372F8D2A}" srcOrd="1" destOrd="0" presId="urn:microsoft.com/office/officeart/2024/layout/NumberedLinearArrowProcess"/>
    <dgm:cxn modelId="{DEFE38A2-AD39-49EE-B74F-C0127FA0B0E9}" srcId="{8F8C948F-F7FE-4DA8-AA13-94F059126AF8}" destId="{1CC3DC7E-9F3B-48D5-83A5-DC7791373647}" srcOrd="3" destOrd="0" parTransId="{6F56872B-3F4E-49FC-8DAF-29CD1FAEA890}" sibTransId="{952FF2A7-8B9E-4AA5-BF8B-E260E7DFC704}"/>
    <dgm:cxn modelId="{B4A78CAB-20F7-4057-9CFE-0381AC6B261D}" type="presOf" srcId="{70ACDC9F-9B26-404D-82CD-EA86B9B31658}" destId="{96C3CFB0-8605-48A6-864C-40F997DE2CF8}" srcOrd="0" destOrd="0" presId="urn:microsoft.com/office/officeart/2024/layout/NumberedLinearArrowProcess"/>
    <dgm:cxn modelId="{0F9BCAC1-EC2F-48D7-A30C-84F734D09176}" type="presOf" srcId="{1CC3DC7E-9F3B-48D5-83A5-DC7791373647}" destId="{DC98A511-260F-448F-BABD-D4C6210C2C9E}" srcOrd="1" destOrd="0" presId="urn:microsoft.com/office/officeart/2024/layout/NumberedLinearArrowProcess"/>
    <dgm:cxn modelId="{DCA1FCCC-6E28-438A-A61C-3F68E594DF1E}" type="presOf" srcId="{8CDFDE72-C693-4760-824E-B913E7FB48F8}" destId="{3C3B0AB5-4A15-49DD-93AB-E55CCA3CA3E6}" srcOrd="0" destOrd="0" presId="urn:microsoft.com/office/officeart/2024/layout/NumberedLinearArrowProcess"/>
    <dgm:cxn modelId="{44ADA1D0-0A6C-48E3-A783-2B89F71B62A4}" type="presOf" srcId="{1CC3DC7E-9F3B-48D5-83A5-DC7791373647}" destId="{A175F4CF-FF0B-40BA-879B-264125B8F846}" srcOrd="0" destOrd="0" presId="urn:microsoft.com/office/officeart/2024/layout/NumberedLinearArrowProcess"/>
    <dgm:cxn modelId="{616398D7-F8B2-40A2-9CEA-7EDB10FD1CC6}" type="presOf" srcId="{A041B3DD-103C-43CC-A3C4-B3A100ED0F6E}" destId="{15D688B6-4680-450C-BBFF-FE357F3A1FB5}" srcOrd="0" destOrd="0" presId="urn:microsoft.com/office/officeart/2024/layout/NumberedLinearArrowProcess"/>
    <dgm:cxn modelId="{DE45FFD8-5434-4210-A9A4-077C3684EEC0}" type="presOf" srcId="{A67CF5FB-4332-46AF-9DB2-FEAD1C292031}" destId="{6E9B4518-0D19-4ACE-9727-37C7C8A7F077}" srcOrd="0" destOrd="0" presId="urn:microsoft.com/office/officeart/2024/layout/NumberedLinearArrowProcess"/>
    <dgm:cxn modelId="{48F135DF-BC79-4ECA-9372-FB8B9DCCF12E}" type="presOf" srcId="{EFE327D4-8906-4129-9E24-90834A897F97}" destId="{D3AD2B79-7976-4E9B-BB85-E77D22807E96}" srcOrd="1" destOrd="0" presId="urn:microsoft.com/office/officeart/2024/layout/NumberedLinearArrowProcess"/>
    <dgm:cxn modelId="{1CD0D6E9-E2E8-4530-A26B-6BCC93B57B1B}" type="presOf" srcId="{EFE327D4-8906-4129-9E24-90834A897F97}" destId="{EDF84A47-09DE-4B46-B635-8B10F17415B0}" srcOrd="0" destOrd="0" presId="urn:microsoft.com/office/officeart/2024/layout/NumberedLinearArrowProcess"/>
    <dgm:cxn modelId="{A651F3EF-BE89-4306-A121-834D7ACA473B}" type="presOf" srcId="{1FCE5120-75FC-42EF-B14B-32D3DBC7F005}" destId="{1E755C6B-0512-48CB-A095-F18EBEF9A9C5}" srcOrd="0" destOrd="0" presId="urn:microsoft.com/office/officeart/2024/layout/NumberedLinearArrowProcess"/>
    <dgm:cxn modelId="{A0F8A2F3-0D26-450A-B3D9-21FF6A132CF3}" type="presOf" srcId="{BC89B1F9-FACD-4B00-8F8E-27406D696D71}" destId="{C46F3173-F211-4A77-A203-4F30C2AA2FD8}" srcOrd="0" destOrd="0" presId="urn:microsoft.com/office/officeart/2024/layout/NumberedLinearArrowProcess"/>
    <dgm:cxn modelId="{D2CE3DF4-C009-4C87-BF29-F3BDC4CDCF23}" type="presOf" srcId="{A67CF5FB-4332-46AF-9DB2-FEAD1C292031}" destId="{956519F7-F251-4F6F-85E7-52EC53DBEFB3}" srcOrd="1" destOrd="0" presId="urn:microsoft.com/office/officeart/2024/layout/NumberedLinearArrowProcess"/>
    <dgm:cxn modelId="{4115A1F9-2FAC-4AE0-B11E-CF7B11F59377}" type="presOf" srcId="{8F8C948F-F7FE-4DA8-AA13-94F059126AF8}" destId="{8E6B7F0F-8E33-46ED-BB06-D83A606F8191}" srcOrd="0" destOrd="0" presId="urn:microsoft.com/office/officeart/2024/layout/NumberedLinearArrowProcess"/>
    <dgm:cxn modelId="{009266FE-7A1B-45EF-A4EE-28D494F3771D}" type="presOf" srcId="{BC89B1F9-FACD-4B00-8F8E-27406D696D71}" destId="{16B6019F-E229-4DB8-8A36-24B5750E8A3B}" srcOrd="1" destOrd="0" presId="urn:microsoft.com/office/officeart/2024/layout/NumberedLinearArrowProcess"/>
    <dgm:cxn modelId="{292CBAB2-8FB7-4513-A61F-D33F12223633}" type="presParOf" srcId="{8E6B7F0F-8E33-46ED-BB06-D83A606F8191}" destId="{FFE8996B-0C30-48B1-B164-53B7F46C9D76}" srcOrd="0" destOrd="0" presId="urn:microsoft.com/office/officeart/2024/layout/NumberedLinearArrowProcess"/>
    <dgm:cxn modelId="{17DD7D58-0A61-4D1C-B3CE-A6B0CC6FD300}" type="presParOf" srcId="{FFE8996B-0C30-48B1-B164-53B7F46C9D76}" destId="{6CDFFFF8-D0C9-4449-BBB4-842784CC27AA}" srcOrd="0" destOrd="0" presId="urn:microsoft.com/office/officeart/2024/layout/NumberedLinearArrowProcess"/>
    <dgm:cxn modelId="{14E965E9-D3F3-41C9-82D7-102F4B9B8A9E}" type="presParOf" srcId="{FFE8996B-0C30-48B1-B164-53B7F46C9D76}" destId="{C410F235-C6D8-4621-A978-97E5DC393019}" srcOrd="1" destOrd="0" presId="urn:microsoft.com/office/officeart/2024/layout/NumberedLinearArrowProcess"/>
    <dgm:cxn modelId="{14E9DE7C-1BF0-4FDE-929C-512C705DB869}" type="presParOf" srcId="{C410F235-C6D8-4621-A978-97E5DC393019}" destId="{DE6DB592-DC4E-458F-81D3-CC55B41E40B4}" srcOrd="0" destOrd="0" presId="urn:microsoft.com/office/officeart/2024/layout/NumberedLinearArrowProcess"/>
    <dgm:cxn modelId="{A9AF7DA9-08FB-492D-BF00-5CF0A49514FE}" type="presParOf" srcId="{C410F235-C6D8-4621-A978-97E5DC393019}" destId="{6E9B4518-0D19-4ACE-9727-37C7C8A7F077}" srcOrd="1" destOrd="0" presId="urn:microsoft.com/office/officeart/2024/layout/NumberedLinearArrowProcess"/>
    <dgm:cxn modelId="{2BD7E6D0-4127-4014-9E7E-6A7BAFEADBB9}" type="presParOf" srcId="{C410F235-C6D8-4621-A978-97E5DC393019}" destId="{15D688B6-4680-450C-BBFF-FE357F3A1FB5}" srcOrd="2" destOrd="0" presId="urn:microsoft.com/office/officeart/2024/layout/NumberedLinearArrowProcess"/>
    <dgm:cxn modelId="{9DA08A08-1EA1-45A5-B865-09B4B37B73EE}" type="presParOf" srcId="{C410F235-C6D8-4621-A978-97E5DC393019}" destId="{B34BAE92-28FD-46B1-BF06-F19B00FD0D16}" srcOrd="3" destOrd="0" presId="urn:microsoft.com/office/officeart/2024/layout/NumberedLinearArrowProcess"/>
    <dgm:cxn modelId="{E0939E7F-8355-40A5-904F-5A3055ECB782}" type="presParOf" srcId="{C410F235-C6D8-4621-A978-97E5DC393019}" destId="{B1A7449E-9463-47F4-A95C-4766CEE57D3A}" srcOrd="4" destOrd="0" presId="urn:microsoft.com/office/officeart/2024/layout/NumberedLinearArrowProcess"/>
    <dgm:cxn modelId="{A7E96CA2-ED07-49D4-8657-675C1D2F2089}" type="presParOf" srcId="{FFE8996B-0C30-48B1-B164-53B7F46C9D76}" destId="{956519F7-F251-4F6F-85E7-52EC53DBEFB3}" srcOrd="2" destOrd="0" presId="urn:microsoft.com/office/officeart/2024/layout/NumberedLinearArrowProcess"/>
    <dgm:cxn modelId="{6C0ACBEC-ED93-4328-9857-B72BFB0834D4}" type="presParOf" srcId="{8E6B7F0F-8E33-46ED-BB06-D83A606F8191}" destId="{DDC87A9F-C077-4C5C-8097-FA264B7D414E}" srcOrd="1" destOrd="0" presId="urn:microsoft.com/office/officeart/2024/layout/NumberedLinearArrowProcess"/>
    <dgm:cxn modelId="{7392030F-DDC7-46AE-823F-0BB7B5034690}" type="presParOf" srcId="{8E6B7F0F-8E33-46ED-BB06-D83A606F8191}" destId="{C7129637-AD4D-419A-AF3A-50955F7425BF}" srcOrd="2" destOrd="0" presId="urn:microsoft.com/office/officeart/2024/layout/NumberedLinearArrowProcess"/>
    <dgm:cxn modelId="{E6A5AEEF-28D9-412A-82AD-BE5D74463F66}" type="presParOf" srcId="{C7129637-AD4D-419A-AF3A-50955F7425BF}" destId="{E8008A96-A68F-4638-AAF7-E355172D017B}" srcOrd="0" destOrd="0" presId="urn:microsoft.com/office/officeart/2024/layout/NumberedLinearArrowProcess"/>
    <dgm:cxn modelId="{19DBB3B1-E4C7-4B04-AB5E-9D0F22137AB2}" type="presParOf" srcId="{C7129637-AD4D-419A-AF3A-50955F7425BF}" destId="{B925C624-043E-40A5-8B41-83B41A1F19A7}" srcOrd="1" destOrd="0" presId="urn:microsoft.com/office/officeart/2024/layout/NumberedLinearArrowProcess"/>
    <dgm:cxn modelId="{DB2B5F77-ED32-409F-93B1-1473FCF9D6A7}" type="presParOf" srcId="{B925C624-043E-40A5-8B41-83B41A1F19A7}" destId="{2B612614-67AB-49EE-B850-3B22BAB85E01}" srcOrd="0" destOrd="0" presId="urn:microsoft.com/office/officeart/2024/layout/NumberedLinearArrowProcess"/>
    <dgm:cxn modelId="{74CB89FE-109F-4FDC-9926-299DA8A793CF}" type="presParOf" srcId="{B925C624-043E-40A5-8B41-83B41A1F19A7}" destId="{C46F3173-F211-4A77-A203-4F30C2AA2FD8}" srcOrd="1" destOrd="0" presId="urn:microsoft.com/office/officeart/2024/layout/NumberedLinearArrowProcess"/>
    <dgm:cxn modelId="{2C87AACD-1F11-45D9-8448-E21FA586336F}" type="presParOf" srcId="{B925C624-043E-40A5-8B41-83B41A1F19A7}" destId="{96C3CFB0-8605-48A6-864C-40F997DE2CF8}" srcOrd="2" destOrd="0" presId="urn:microsoft.com/office/officeart/2024/layout/NumberedLinearArrowProcess"/>
    <dgm:cxn modelId="{C4E24ECB-E9AE-4F56-9C40-2282E509929D}" type="presParOf" srcId="{B925C624-043E-40A5-8B41-83B41A1F19A7}" destId="{E245CEEA-F4B6-4FCB-B5DE-631A802A38DB}" srcOrd="3" destOrd="0" presId="urn:microsoft.com/office/officeart/2024/layout/NumberedLinearArrowProcess"/>
    <dgm:cxn modelId="{CB751998-F2C6-49A4-AFC7-D2B35D796812}" type="presParOf" srcId="{B925C624-043E-40A5-8B41-83B41A1F19A7}" destId="{EADF17E3-1E47-4494-94EA-D5B975BD4341}" srcOrd="4" destOrd="0" presId="urn:microsoft.com/office/officeart/2024/layout/NumberedLinearArrowProcess"/>
    <dgm:cxn modelId="{62C1C663-3AA1-4A04-A266-8AA6FD4BDB8D}" type="presParOf" srcId="{C7129637-AD4D-419A-AF3A-50955F7425BF}" destId="{16B6019F-E229-4DB8-8A36-24B5750E8A3B}" srcOrd="2" destOrd="0" presId="urn:microsoft.com/office/officeart/2024/layout/NumberedLinearArrowProcess"/>
    <dgm:cxn modelId="{9F150CFF-3412-45FF-AD7E-B13B8FF65FFC}" type="presParOf" srcId="{8E6B7F0F-8E33-46ED-BB06-D83A606F8191}" destId="{7754F48C-0CC9-4F7C-B3D3-60393C53BD85}" srcOrd="3" destOrd="0" presId="urn:microsoft.com/office/officeart/2024/layout/NumberedLinearArrowProcess"/>
    <dgm:cxn modelId="{92FCA37C-7360-4919-8235-0841A7E04B35}" type="presParOf" srcId="{8E6B7F0F-8E33-46ED-BB06-D83A606F8191}" destId="{0F74C1E5-BA7A-454E-9ABA-CF85D6CAAD1D}" srcOrd="4" destOrd="0" presId="urn:microsoft.com/office/officeart/2024/layout/NumberedLinearArrowProcess"/>
    <dgm:cxn modelId="{5208F3FE-52CD-4BCA-B1E2-79AEB9CB58AC}" type="presParOf" srcId="{0F74C1E5-BA7A-454E-9ABA-CF85D6CAAD1D}" destId="{0FAF4AE9-76C7-4F7D-9D5D-C7C23E823CD3}" srcOrd="0" destOrd="0" presId="urn:microsoft.com/office/officeart/2024/layout/NumberedLinearArrowProcess"/>
    <dgm:cxn modelId="{583BC64A-137F-4B4E-B84A-28B46038F744}" type="presParOf" srcId="{0F74C1E5-BA7A-454E-9ABA-CF85D6CAAD1D}" destId="{E9FC4F76-96CD-49B7-8B50-D22B5D9E11F2}" srcOrd="1" destOrd="0" presId="urn:microsoft.com/office/officeart/2024/layout/NumberedLinearArrowProcess"/>
    <dgm:cxn modelId="{FE20CD1C-3B83-40A5-9B5B-9B52EFA40CAD}" type="presParOf" srcId="{E9FC4F76-96CD-49B7-8B50-D22B5D9E11F2}" destId="{5E28E092-BA5B-4C45-ABC8-EBC076B598B0}" srcOrd="0" destOrd="0" presId="urn:microsoft.com/office/officeart/2024/layout/NumberedLinearArrowProcess"/>
    <dgm:cxn modelId="{A5157E96-A944-46E7-A5AA-B9F68DBE68BA}" type="presParOf" srcId="{E9FC4F76-96CD-49B7-8B50-D22B5D9E11F2}" destId="{E9154F9E-9504-4090-BD2E-C7ED531C8190}" srcOrd="1" destOrd="0" presId="urn:microsoft.com/office/officeart/2024/layout/NumberedLinearArrowProcess"/>
    <dgm:cxn modelId="{A66DFA63-F908-43F9-B8F3-A53FFCBF6E2E}" type="presParOf" srcId="{E9FC4F76-96CD-49B7-8B50-D22B5D9E11F2}" destId="{0955F396-5ECE-49F0-AA5C-4961165E2BCB}" srcOrd="2" destOrd="0" presId="urn:microsoft.com/office/officeart/2024/layout/NumberedLinearArrowProcess"/>
    <dgm:cxn modelId="{914A7589-4C5B-4A0B-B912-EFAD451B578F}" type="presParOf" srcId="{E9FC4F76-96CD-49B7-8B50-D22B5D9E11F2}" destId="{9737D903-D3B6-4B54-920E-9D343A8B64CC}" srcOrd="3" destOrd="0" presId="urn:microsoft.com/office/officeart/2024/layout/NumberedLinearArrowProcess"/>
    <dgm:cxn modelId="{AF455E50-E8AA-4B7E-B48E-34ECC3BF093B}" type="presParOf" srcId="{E9FC4F76-96CD-49B7-8B50-D22B5D9E11F2}" destId="{049F524D-9E79-4844-9D7C-7585A3D76C91}" srcOrd="4" destOrd="0" presId="urn:microsoft.com/office/officeart/2024/layout/NumberedLinearArrowProcess"/>
    <dgm:cxn modelId="{F937DC80-01F6-4526-931A-551FDC49D6A8}" type="presParOf" srcId="{0F74C1E5-BA7A-454E-9ABA-CF85D6CAAD1D}" destId="{D157F42F-67D1-4820-9E8C-A2A015EE2554}" srcOrd="2" destOrd="0" presId="urn:microsoft.com/office/officeart/2024/layout/NumberedLinearArrowProcess"/>
    <dgm:cxn modelId="{65C27E37-7568-48AE-9BF7-0D15283FF21C}" type="presParOf" srcId="{8E6B7F0F-8E33-46ED-BB06-D83A606F8191}" destId="{D5559D41-A7E5-4596-B4A3-8621D883B477}" srcOrd="5" destOrd="0" presId="urn:microsoft.com/office/officeart/2024/layout/NumberedLinearArrowProcess"/>
    <dgm:cxn modelId="{D56A0795-8DEA-4A9C-8490-EB762B6314CE}" type="presParOf" srcId="{8E6B7F0F-8E33-46ED-BB06-D83A606F8191}" destId="{1FDD751C-0959-4596-8499-BCEA5C0A197A}" srcOrd="6" destOrd="0" presId="urn:microsoft.com/office/officeart/2024/layout/NumberedLinearArrowProcess"/>
    <dgm:cxn modelId="{F1E0FBEE-C0A9-4995-A9CF-B01D2654C451}" type="presParOf" srcId="{1FDD751C-0959-4596-8499-BCEA5C0A197A}" destId="{8E99496E-E95A-4640-8D8A-CFC8CBFDAA68}" srcOrd="0" destOrd="0" presId="urn:microsoft.com/office/officeart/2024/layout/NumberedLinearArrowProcess"/>
    <dgm:cxn modelId="{56396341-14B2-406E-BC13-AE15474CA62F}" type="presParOf" srcId="{1FDD751C-0959-4596-8499-BCEA5C0A197A}" destId="{D0541124-8E71-4D7C-9540-E4BFDBAF30B9}" srcOrd="1" destOrd="0" presId="urn:microsoft.com/office/officeart/2024/layout/NumberedLinearArrowProcess"/>
    <dgm:cxn modelId="{52C8B0BF-3AAF-4732-AAAF-46ADD7226AB1}" type="presParOf" srcId="{D0541124-8E71-4D7C-9540-E4BFDBAF30B9}" destId="{E1761CF5-8A7E-46B1-9930-E2E64AB11D1E}" srcOrd="0" destOrd="0" presId="urn:microsoft.com/office/officeart/2024/layout/NumberedLinearArrowProcess"/>
    <dgm:cxn modelId="{2457901E-C270-409C-A2B2-037F951681B7}" type="presParOf" srcId="{D0541124-8E71-4D7C-9540-E4BFDBAF30B9}" destId="{A175F4CF-FF0B-40BA-879B-264125B8F846}" srcOrd="1" destOrd="0" presId="urn:microsoft.com/office/officeart/2024/layout/NumberedLinearArrowProcess"/>
    <dgm:cxn modelId="{B7920E71-319A-4B88-B899-D3BF19D9DB13}" type="presParOf" srcId="{D0541124-8E71-4D7C-9540-E4BFDBAF30B9}" destId="{6EC42A0A-E7D9-4E74-AE9F-9F7EE813614D}" srcOrd="2" destOrd="0" presId="urn:microsoft.com/office/officeart/2024/layout/NumberedLinearArrowProcess"/>
    <dgm:cxn modelId="{3859F317-C789-4325-ADE8-C2976A22487A}" type="presParOf" srcId="{D0541124-8E71-4D7C-9540-E4BFDBAF30B9}" destId="{65F9BB95-B2F0-4A98-AC0B-AE7FBB62E267}" srcOrd="3" destOrd="0" presId="urn:microsoft.com/office/officeart/2024/layout/NumberedLinearArrowProcess"/>
    <dgm:cxn modelId="{BC52A837-2671-4345-98A8-FA7F34E7EFF2}" type="presParOf" srcId="{D0541124-8E71-4D7C-9540-E4BFDBAF30B9}" destId="{24B0F169-0A48-419A-AE34-0406B938247C}" srcOrd="4" destOrd="0" presId="urn:microsoft.com/office/officeart/2024/layout/NumberedLinearArrowProcess"/>
    <dgm:cxn modelId="{D833759D-F3D1-457A-9ABD-5045E64961EA}" type="presParOf" srcId="{1FDD751C-0959-4596-8499-BCEA5C0A197A}" destId="{DC98A511-260F-448F-BABD-D4C6210C2C9E}" srcOrd="2" destOrd="0" presId="urn:microsoft.com/office/officeart/2024/layout/NumberedLinearArrowProcess"/>
    <dgm:cxn modelId="{6A655E6A-EEBF-4CC7-AFDD-B755E415E0B6}" type="presParOf" srcId="{8E6B7F0F-8E33-46ED-BB06-D83A606F8191}" destId="{F4D28FA9-81E3-4C1F-9D8C-A37187A4679C}" srcOrd="7" destOrd="0" presId="urn:microsoft.com/office/officeart/2024/layout/NumberedLinearArrowProcess"/>
    <dgm:cxn modelId="{35F74D7E-D50A-4206-AC4B-C2585395C5D1}" type="presParOf" srcId="{8E6B7F0F-8E33-46ED-BB06-D83A606F8191}" destId="{E86D102D-B70B-47BF-99A4-80B6FA32C8D4}" srcOrd="8" destOrd="0" presId="urn:microsoft.com/office/officeart/2024/layout/NumberedLinearArrowProcess"/>
    <dgm:cxn modelId="{E6E2D8B9-69BC-4D1B-9772-56A4801F014F}" type="presParOf" srcId="{E86D102D-B70B-47BF-99A4-80B6FA32C8D4}" destId="{093121CA-7DD8-4DC6-91F5-E53C58B5CF9A}" srcOrd="0" destOrd="0" presId="urn:microsoft.com/office/officeart/2024/layout/NumberedLinearArrowProcess"/>
    <dgm:cxn modelId="{3A2233F8-04E4-4E75-B3A0-875369EEA886}" type="presParOf" srcId="{E86D102D-B70B-47BF-99A4-80B6FA32C8D4}" destId="{A9FBC6B7-A395-448A-8430-CBB423FF8838}" srcOrd="1" destOrd="0" presId="urn:microsoft.com/office/officeart/2024/layout/NumberedLinearArrowProcess"/>
    <dgm:cxn modelId="{635FE6B9-20D8-4F85-9B7E-A91A4E1F3347}" type="presParOf" srcId="{A9FBC6B7-A395-448A-8430-CBB423FF8838}" destId="{7A68922A-5640-4D82-A615-28D0E09EE2B5}" srcOrd="0" destOrd="0" presId="urn:microsoft.com/office/officeart/2024/layout/NumberedLinearArrowProcess"/>
    <dgm:cxn modelId="{B27ABF06-AED8-48DA-AE07-5D2FC1337A25}" type="presParOf" srcId="{A9FBC6B7-A395-448A-8430-CBB423FF8838}" destId="{EDF84A47-09DE-4B46-B635-8B10F17415B0}" srcOrd="1" destOrd="0" presId="urn:microsoft.com/office/officeart/2024/layout/NumberedLinearArrowProcess"/>
    <dgm:cxn modelId="{AB66B365-7771-417C-966C-7D29C9FB0E9A}" type="presParOf" srcId="{A9FBC6B7-A395-448A-8430-CBB423FF8838}" destId="{3C3B0AB5-4A15-49DD-93AB-E55CCA3CA3E6}" srcOrd="2" destOrd="0" presId="urn:microsoft.com/office/officeart/2024/layout/NumberedLinearArrowProcess"/>
    <dgm:cxn modelId="{2F61DCF4-BA2E-4A5D-ACCD-B6C9D8D4425B}" type="presParOf" srcId="{A9FBC6B7-A395-448A-8430-CBB423FF8838}" destId="{A240602D-AC03-46C0-9651-E01BD07B940F}" srcOrd="3" destOrd="0" presId="urn:microsoft.com/office/officeart/2024/layout/NumberedLinearArrowProcess"/>
    <dgm:cxn modelId="{D687AB0D-A5D5-49A7-A16D-43D543F17BC4}" type="presParOf" srcId="{A9FBC6B7-A395-448A-8430-CBB423FF8838}" destId="{38B6DA17-B7ED-46AA-8D74-09E3F4B42407}" srcOrd="4" destOrd="0" presId="urn:microsoft.com/office/officeart/2024/layout/NumberedLinearArrowProcess"/>
    <dgm:cxn modelId="{70402C5B-76B0-439D-9EAD-D5A6245BE854}" type="presParOf" srcId="{E86D102D-B70B-47BF-99A4-80B6FA32C8D4}" destId="{D3AD2B79-7976-4E9B-BB85-E77D22807E96}" srcOrd="2" destOrd="0" presId="urn:microsoft.com/office/officeart/2024/layout/NumberedLinearArrowProcess"/>
    <dgm:cxn modelId="{9ADBBF00-376D-4252-A860-67557435F749}" type="presParOf" srcId="{8E6B7F0F-8E33-46ED-BB06-D83A606F8191}" destId="{84073DB0-20C8-4A9C-98B7-553126122680}" srcOrd="9" destOrd="0" presId="urn:microsoft.com/office/officeart/2024/layout/NumberedLinearArrowProcess"/>
    <dgm:cxn modelId="{78857E91-9A9F-4378-87C3-58597A2C1D46}" type="presParOf" srcId="{8E6B7F0F-8E33-46ED-BB06-D83A606F8191}" destId="{4911985E-8D37-451C-AF3F-4C1793FDD76D}" srcOrd="10" destOrd="0" presId="urn:microsoft.com/office/officeart/2024/layout/NumberedLinearArrowProcess"/>
    <dgm:cxn modelId="{AB41536D-4501-44F4-97C2-D2E2DB66AAE7}" type="presParOf" srcId="{4911985E-8D37-451C-AF3F-4C1793FDD76D}" destId="{068CA445-4ABC-408E-842D-7EA2D0778E15}" srcOrd="0" destOrd="0" presId="urn:microsoft.com/office/officeart/2024/layout/NumberedLinearArrowProcess"/>
    <dgm:cxn modelId="{06CD55CE-E1B5-4B9E-B802-8EF6E001FE55}" type="presParOf" srcId="{4911985E-8D37-451C-AF3F-4C1793FDD76D}" destId="{E7BFB4D2-70DF-4135-8F5F-6D7A70571778}" srcOrd="1" destOrd="0" presId="urn:microsoft.com/office/officeart/2024/layout/NumberedLinearArrowProcess"/>
    <dgm:cxn modelId="{0F3A1F2C-462B-407C-9643-296C12C31501}" type="presParOf" srcId="{E7BFB4D2-70DF-4135-8F5F-6D7A70571778}" destId="{8A906867-BC42-4F43-8B66-941009DF3817}" srcOrd="0" destOrd="0" presId="urn:microsoft.com/office/officeart/2024/layout/NumberedLinearArrowProcess"/>
    <dgm:cxn modelId="{8C034C1A-1B10-4C43-98B4-0CB785AC3878}" type="presParOf" srcId="{E7BFB4D2-70DF-4135-8F5F-6D7A70571778}" destId="{1E755C6B-0512-48CB-A095-F18EBEF9A9C5}" srcOrd="1" destOrd="0" presId="urn:microsoft.com/office/officeart/2024/layout/NumberedLinearArrowProcess"/>
    <dgm:cxn modelId="{7B146F04-1CA5-4A35-A531-15C2FABF4912}" type="presParOf" srcId="{E7BFB4D2-70DF-4135-8F5F-6D7A70571778}" destId="{0353A8A5-1596-47A1-97B3-E6B901E50B08}" srcOrd="2" destOrd="0" presId="urn:microsoft.com/office/officeart/2024/layout/NumberedLinearArrowProcess"/>
    <dgm:cxn modelId="{F8188DC8-BDFB-425D-91EB-E19168CF8F1D}" type="presParOf" srcId="{E7BFB4D2-70DF-4135-8F5F-6D7A70571778}" destId="{090BDFBC-C7A8-4C59-887F-2B209B4A047A}" srcOrd="3" destOrd="0" presId="urn:microsoft.com/office/officeart/2024/layout/NumberedLinearArrowProcess"/>
    <dgm:cxn modelId="{9659A0A7-F9BC-45C1-8A18-49223BC524D6}" type="presParOf" srcId="{E7BFB4D2-70DF-4135-8F5F-6D7A70571778}" destId="{99A51E40-7DD3-417B-87B3-1D90420E4621}" srcOrd="4" destOrd="0" presId="urn:microsoft.com/office/officeart/2024/layout/NumberedLinearArrowProcess"/>
    <dgm:cxn modelId="{253D0241-11B2-467D-801E-5CD3007B6679}" type="presParOf" srcId="{4911985E-8D37-451C-AF3F-4C1793FDD76D}" destId="{53324595-2DAD-4EEF-B126-732C372F8D2A}" srcOrd="2" destOrd="0" presId="urn:microsoft.com/office/officeart/2024/layout/NumberedLinear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DB592-DC4E-458F-81D3-CC55B41E40B4}">
      <dsp:nvSpPr>
        <dsp:cNvPr id="0" name=""/>
        <dsp:cNvSpPr/>
      </dsp:nvSpPr>
      <dsp:spPr>
        <a:xfrm>
          <a:off x="1063532" y="1221047"/>
          <a:ext cx="673203" cy="71"/>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9B4518-0D19-4ACE-9727-37C7C8A7F077}">
      <dsp:nvSpPr>
        <dsp:cNvPr id="0" name=""/>
        <dsp:cNvSpPr/>
      </dsp:nvSpPr>
      <dsp:spPr>
        <a:xfrm>
          <a:off x="1679033" y="1142606"/>
          <a:ext cx="88478" cy="166106"/>
        </a:xfrm>
        <a:prstGeom prst="chevron">
          <a:avLst>
            <a:gd name="adj" fmla="val 9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anose="020F0502020204030204" pitchFamily="34" charset="0"/>
              <a:ea typeface="Calibri" panose="020F0502020204030204" pitchFamily="34" charset="0"/>
              <a:cs typeface="Calibri" panose="020F0502020204030204" pitchFamily="34" charset="0"/>
            </a:rPr>
            <a:t>Collecte</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Données FAO, Banque mondiale, CEPII</a:t>
          </a:r>
        </a:p>
      </dsp:txBody>
      <dsp:txXfrm>
        <a:off x="152514" y="1930890"/>
        <a:ext cx="1629691" cy="1673396"/>
      </dsp:txXfrm>
    </dsp:sp>
    <dsp:sp modelId="{15D688B6-4680-450C-BBFF-FE357F3A1FB5}">
      <dsp:nvSpPr>
        <dsp:cNvPr id="0" name=""/>
        <dsp:cNvSpPr/>
      </dsp:nvSpPr>
      <dsp:spPr>
        <a:xfrm>
          <a:off x="703302" y="957025"/>
          <a:ext cx="528115" cy="528115"/>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94" tIns="20494" rIns="20494" bIns="20494" numCol="1" spcCol="1270" anchor="ctr" anchorCtr="0">
          <a:noAutofit/>
        </a:bodyPr>
        <a:lstStyle/>
        <a:p>
          <a:pPr marL="0" lvl="0" indent="0" algn="ctr" defTabSz="1022350">
            <a:lnSpc>
              <a:spcPct val="90000"/>
            </a:lnSpc>
            <a:spcBef>
              <a:spcPct val="0"/>
            </a:spcBef>
            <a:spcAft>
              <a:spcPct val="35000"/>
            </a:spcAft>
            <a:buNone/>
          </a:pPr>
          <a:r>
            <a:rPr lang="fr-FR" sz="2300" kern="1200" noProof="0" dirty="0"/>
            <a:t>1</a:t>
          </a:r>
        </a:p>
      </dsp:txBody>
      <dsp:txXfrm>
        <a:off x="780643" y="1034366"/>
        <a:ext cx="373433" cy="373433"/>
      </dsp:txXfrm>
    </dsp:sp>
    <dsp:sp modelId="{B1A7449E-9463-47F4-A95C-4766CEE57D3A}">
      <dsp:nvSpPr>
        <dsp:cNvPr id="0" name=""/>
        <dsp:cNvSpPr/>
      </dsp:nvSpPr>
      <dsp:spPr>
        <a:xfrm>
          <a:off x="967324" y="1557107"/>
          <a:ext cx="72" cy="322985"/>
        </a:xfrm>
        <a:prstGeom prst="rect">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6519F7-F251-4F6F-85E7-52EC53DBEFB3}">
      <dsp:nvSpPr>
        <dsp:cNvPr id="0" name=""/>
        <dsp:cNvSpPr/>
      </dsp:nvSpPr>
      <dsp:spPr>
        <a:xfrm>
          <a:off x="101812" y="1880188"/>
          <a:ext cx="1731095" cy="177480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anose="020F0502020204030204" pitchFamily="34" charset="0"/>
              <a:ea typeface="Calibri" panose="020F0502020204030204" pitchFamily="34" charset="0"/>
              <a:cs typeface="Calibri" panose="020F0502020204030204" pitchFamily="34" charset="0"/>
            </a:rPr>
            <a:t>Collecte</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Données FAO, Banque mondiale, CEPII</a:t>
          </a:r>
        </a:p>
      </dsp:txBody>
      <dsp:txXfrm>
        <a:off x="152514" y="1930890"/>
        <a:ext cx="1629691" cy="1673396"/>
      </dsp:txXfrm>
    </dsp:sp>
    <dsp:sp modelId="{2B612614-67AB-49EE-B850-3B22BAB85E01}">
      <dsp:nvSpPr>
        <dsp:cNvPr id="0" name=""/>
        <dsp:cNvSpPr/>
      </dsp:nvSpPr>
      <dsp:spPr>
        <a:xfrm>
          <a:off x="1929080" y="1220994"/>
          <a:ext cx="1731095" cy="71"/>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6F3173-F211-4A77-A203-4F30C2AA2FD8}">
      <dsp:nvSpPr>
        <dsp:cNvPr id="0" name=""/>
        <dsp:cNvSpPr/>
      </dsp:nvSpPr>
      <dsp:spPr>
        <a:xfrm>
          <a:off x="3602473" y="1142553"/>
          <a:ext cx="88478" cy="166151"/>
        </a:xfrm>
        <a:prstGeom prst="chevron">
          <a:avLst>
            <a:gd name="adj" fmla="val 9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Préparation</a:t>
          </a:r>
          <a:endParaRPr lang="fr-FR" sz="1600" kern="1200" noProof="0" dirty="0"/>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Nettoyage et mise cohérence des données</a:t>
          </a:r>
        </a:p>
      </dsp:txBody>
      <dsp:txXfrm>
        <a:off x="2075954" y="1930890"/>
        <a:ext cx="1629691" cy="1673396"/>
      </dsp:txXfrm>
    </dsp:sp>
    <dsp:sp modelId="{96C3CFB0-8605-48A6-864C-40F997DE2CF8}">
      <dsp:nvSpPr>
        <dsp:cNvPr id="0" name=""/>
        <dsp:cNvSpPr/>
      </dsp:nvSpPr>
      <dsp:spPr>
        <a:xfrm>
          <a:off x="2626742" y="956972"/>
          <a:ext cx="528115" cy="528115"/>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94" tIns="20494" rIns="20494" bIns="20494" numCol="1" spcCol="1270" anchor="ctr" anchorCtr="0">
          <a:noAutofit/>
        </a:bodyPr>
        <a:lstStyle/>
        <a:p>
          <a:pPr marL="0" lvl="0" indent="0" algn="ctr" defTabSz="1022350">
            <a:lnSpc>
              <a:spcPct val="90000"/>
            </a:lnSpc>
            <a:spcBef>
              <a:spcPct val="0"/>
            </a:spcBef>
            <a:spcAft>
              <a:spcPct val="35000"/>
            </a:spcAft>
            <a:buNone/>
          </a:pPr>
          <a:r>
            <a:rPr lang="fr-FR" sz="2300" kern="1200" noProof="0" dirty="0"/>
            <a:t>2</a:t>
          </a:r>
        </a:p>
      </dsp:txBody>
      <dsp:txXfrm>
        <a:off x="2704083" y="1034313"/>
        <a:ext cx="373433" cy="373433"/>
      </dsp:txXfrm>
    </dsp:sp>
    <dsp:sp modelId="{EADF17E3-1E47-4494-94EA-D5B975BD4341}">
      <dsp:nvSpPr>
        <dsp:cNvPr id="0" name=""/>
        <dsp:cNvSpPr/>
      </dsp:nvSpPr>
      <dsp:spPr>
        <a:xfrm>
          <a:off x="2890764" y="1557073"/>
          <a:ext cx="72" cy="323072"/>
        </a:xfrm>
        <a:prstGeom prst="rect">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B6019F-E229-4DB8-8A36-24B5750E8A3B}">
      <dsp:nvSpPr>
        <dsp:cNvPr id="0" name=""/>
        <dsp:cNvSpPr/>
      </dsp:nvSpPr>
      <dsp:spPr>
        <a:xfrm>
          <a:off x="2025252" y="1880188"/>
          <a:ext cx="1731095" cy="177480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Préparation</a:t>
          </a:r>
          <a:endParaRPr lang="fr-FR" sz="1600" kern="1200" noProof="0" dirty="0"/>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Nettoyage et mise cohérence des données</a:t>
          </a:r>
        </a:p>
      </dsp:txBody>
      <dsp:txXfrm>
        <a:off x="2075954" y="1930890"/>
        <a:ext cx="1629691" cy="1673396"/>
      </dsp:txXfrm>
    </dsp:sp>
    <dsp:sp modelId="{5E28E092-BA5B-4C45-ABC8-EBC076B598B0}">
      <dsp:nvSpPr>
        <dsp:cNvPr id="0" name=""/>
        <dsp:cNvSpPr/>
      </dsp:nvSpPr>
      <dsp:spPr>
        <a:xfrm>
          <a:off x="3852520" y="1220968"/>
          <a:ext cx="1731095" cy="71"/>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154F9E-9504-4090-BD2E-C7ED531C8190}">
      <dsp:nvSpPr>
        <dsp:cNvPr id="0" name=""/>
        <dsp:cNvSpPr/>
      </dsp:nvSpPr>
      <dsp:spPr>
        <a:xfrm>
          <a:off x="5525912" y="1142528"/>
          <a:ext cx="88478" cy="166170"/>
        </a:xfrm>
        <a:prstGeom prst="chevron">
          <a:avLst>
            <a:gd name="adj" fmla="val 9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Sélection des variables</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11 variables économiques, sociales et géographiques choisies</a:t>
          </a:r>
        </a:p>
      </dsp:txBody>
      <dsp:txXfrm>
        <a:off x="3999394" y="1930883"/>
        <a:ext cx="1629691" cy="1673396"/>
      </dsp:txXfrm>
    </dsp:sp>
    <dsp:sp modelId="{0955F396-5ECE-49F0-AA5C-4961165E2BCB}">
      <dsp:nvSpPr>
        <dsp:cNvPr id="0" name=""/>
        <dsp:cNvSpPr/>
      </dsp:nvSpPr>
      <dsp:spPr>
        <a:xfrm>
          <a:off x="4550182" y="956946"/>
          <a:ext cx="528115" cy="528115"/>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94" tIns="20494" rIns="20494" bIns="20494" numCol="1" spcCol="1270" anchor="ctr" anchorCtr="0">
          <a:noAutofit/>
        </a:bodyPr>
        <a:lstStyle/>
        <a:p>
          <a:pPr marL="0" lvl="0" indent="0" algn="ctr" defTabSz="1022350">
            <a:lnSpc>
              <a:spcPct val="90000"/>
            </a:lnSpc>
            <a:spcBef>
              <a:spcPct val="0"/>
            </a:spcBef>
            <a:spcAft>
              <a:spcPct val="35000"/>
            </a:spcAft>
            <a:buNone/>
          </a:pPr>
          <a:r>
            <a:rPr lang="fr-FR" sz="2300" kern="1200" noProof="0" dirty="0"/>
            <a:t>3</a:t>
          </a:r>
        </a:p>
      </dsp:txBody>
      <dsp:txXfrm>
        <a:off x="4627523" y="1034287"/>
        <a:ext cx="373433" cy="373433"/>
      </dsp:txXfrm>
    </dsp:sp>
    <dsp:sp modelId="{049F524D-9E79-4844-9D7C-7585A3D76C91}">
      <dsp:nvSpPr>
        <dsp:cNvPr id="0" name=""/>
        <dsp:cNvSpPr/>
      </dsp:nvSpPr>
      <dsp:spPr>
        <a:xfrm>
          <a:off x="4814204" y="1557056"/>
          <a:ext cx="72" cy="323109"/>
        </a:xfrm>
        <a:prstGeom prst="rect">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57F42F-67D1-4820-9E8C-A2A015EE2554}">
      <dsp:nvSpPr>
        <dsp:cNvPr id="0" name=""/>
        <dsp:cNvSpPr/>
      </dsp:nvSpPr>
      <dsp:spPr>
        <a:xfrm>
          <a:off x="3948692" y="1880181"/>
          <a:ext cx="1731095" cy="177480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Sélection des variables</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11 variables économiques, sociales et géographiques choisies</a:t>
          </a:r>
        </a:p>
      </dsp:txBody>
      <dsp:txXfrm>
        <a:off x="3999394" y="1930883"/>
        <a:ext cx="1629691" cy="1673396"/>
      </dsp:txXfrm>
    </dsp:sp>
    <dsp:sp modelId="{E1761CF5-8A7E-46B1-9930-E2E64AB11D1E}">
      <dsp:nvSpPr>
        <dsp:cNvPr id="0" name=""/>
        <dsp:cNvSpPr/>
      </dsp:nvSpPr>
      <dsp:spPr>
        <a:xfrm>
          <a:off x="5775960" y="1220958"/>
          <a:ext cx="1731095" cy="71"/>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75F4CF-FF0B-40BA-879B-264125B8F846}">
      <dsp:nvSpPr>
        <dsp:cNvPr id="0" name=""/>
        <dsp:cNvSpPr/>
      </dsp:nvSpPr>
      <dsp:spPr>
        <a:xfrm>
          <a:off x="7449352" y="1142518"/>
          <a:ext cx="88478" cy="166179"/>
        </a:xfrm>
        <a:prstGeom prst="chevron">
          <a:avLst>
            <a:gd name="adj" fmla="val 9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Identification des axes clés</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Quelles composantes différencient et rassemblent le plus les pays</a:t>
          </a:r>
        </a:p>
      </dsp:txBody>
      <dsp:txXfrm>
        <a:off x="5922833" y="1930883"/>
        <a:ext cx="1629691" cy="1673396"/>
      </dsp:txXfrm>
    </dsp:sp>
    <dsp:sp modelId="{6EC42A0A-E7D9-4E74-AE9F-9F7EE813614D}">
      <dsp:nvSpPr>
        <dsp:cNvPr id="0" name=""/>
        <dsp:cNvSpPr/>
      </dsp:nvSpPr>
      <dsp:spPr>
        <a:xfrm>
          <a:off x="6473621" y="956936"/>
          <a:ext cx="528115" cy="528115"/>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94" tIns="20494" rIns="20494" bIns="20494" numCol="1" spcCol="1270" anchor="ctr" anchorCtr="0">
          <a:noAutofit/>
        </a:bodyPr>
        <a:lstStyle/>
        <a:p>
          <a:pPr marL="0" lvl="0" indent="0" algn="ctr" defTabSz="1022350">
            <a:lnSpc>
              <a:spcPct val="90000"/>
            </a:lnSpc>
            <a:spcBef>
              <a:spcPct val="0"/>
            </a:spcBef>
            <a:spcAft>
              <a:spcPct val="35000"/>
            </a:spcAft>
            <a:buNone/>
          </a:pPr>
          <a:r>
            <a:rPr lang="fr-FR" sz="2300" kern="1200" noProof="0" dirty="0"/>
            <a:t>4</a:t>
          </a:r>
        </a:p>
      </dsp:txBody>
      <dsp:txXfrm>
        <a:off x="6550962" y="1034277"/>
        <a:ext cx="373433" cy="373433"/>
      </dsp:txXfrm>
    </dsp:sp>
    <dsp:sp modelId="{24B0F169-0A48-419A-AE34-0406B938247C}">
      <dsp:nvSpPr>
        <dsp:cNvPr id="0" name=""/>
        <dsp:cNvSpPr/>
      </dsp:nvSpPr>
      <dsp:spPr>
        <a:xfrm>
          <a:off x="6737643" y="1557050"/>
          <a:ext cx="72" cy="323125"/>
        </a:xfrm>
        <a:prstGeom prst="rect">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8A511-260F-448F-BABD-D4C6210C2C9E}">
      <dsp:nvSpPr>
        <dsp:cNvPr id="0" name=""/>
        <dsp:cNvSpPr/>
      </dsp:nvSpPr>
      <dsp:spPr>
        <a:xfrm>
          <a:off x="5872131" y="1880181"/>
          <a:ext cx="1731095" cy="177480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Identification des axes clés</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Quelles composantes différencient et rassemblent le plus les pays</a:t>
          </a:r>
        </a:p>
      </dsp:txBody>
      <dsp:txXfrm>
        <a:off x="5922833" y="1930883"/>
        <a:ext cx="1629691" cy="1673396"/>
      </dsp:txXfrm>
    </dsp:sp>
    <dsp:sp modelId="{7A68922A-5640-4D82-A615-28D0E09EE2B5}">
      <dsp:nvSpPr>
        <dsp:cNvPr id="0" name=""/>
        <dsp:cNvSpPr/>
      </dsp:nvSpPr>
      <dsp:spPr>
        <a:xfrm>
          <a:off x="7699399" y="1220954"/>
          <a:ext cx="1731095" cy="71"/>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F84A47-09DE-4B46-B635-8B10F17415B0}">
      <dsp:nvSpPr>
        <dsp:cNvPr id="0" name=""/>
        <dsp:cNvSpPr/>
      </dsp:nvSpPr>
      <dsp:spPr>
        <a:xfrm>
          <a:off x="9372792" y="1142514"/>
          <a:ext cx="88478" cy="166182"/>
        </a:xfrm>
        <a:prstGeom prst="chevron">
          <a:avLst>
            <a:gd name="adj" fmla="val 9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Regroupement des pays</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Pays ayant les mêmes caractéristiques regroupées aux seins de clusters</a:t>
          </a:r>
        </a:p>
      </dsp:txBody>
      <dsp:txXfrm>
        <a:off x="7846273" y="1930883"/>
        <a:ext cx="1629691" cy="1673396"/>
      </dsp:txXfrm>
    </dsp:sp>
    <dsp:sp modelId="{3C3B0AB5-4A15-49DD-93AB-E55CCA3CA3E6}">
      <dsp:nvSpPr>
        <dsp:cNvPr id="0" name=""/>
        <dsp:cNvSpPr/>
      </dsp:nvSpPr>
      <dsp:spPr>
        <a:xfrm>
          <a:off x="8397061" y="956932"/>
          <a:ext cx="528115" cy="528115"/>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94" tIns="20494" rIns="20494" bIns="20494" numCol="1" spcCol="1270" anchor="ctr" anchorCtr="0">
          <a:noAutofit/>
        </a:bodyPr>
        <a:lstStyle/>
        <a:p>
          <a:pPr marL="0" lvl="0" indent="0" algn="ctr" defTabSz="1022350">
            <a:lnSpc>
              <a:spcPct val="90000"/>
            </a:lnSpc>
            <a:spcBef>
              <a:spcPct val="0"/>
            </a:spcBef>
            <a:spcAft>
              <a:spcPct val="35000"/>
            </a:spcAft>
            <a:buNone/>
          </a:pPr>
          <a:r>
            <a:rPr lang="fr-FR" sz="2300" kern="1200" dirty="0"/>
            <a:t>5</a:t>
          </a:r>
        </a:p>
      </dsp:txBody>
      <dsp:txXfrm>
        <a:off x="8474402" y="1034273"/>
        <a:ext cx="373433" cy="373433"/>
      </dsp:txXfrm>
    </dsp:sp>
    <dsp:sp modelId="{38B6DA17-B7ED-46AA-8D74-09E3F4B42407}">
      <dsp:nvSpPr>
        <dsp:cNvPr id="0" name=""/>
        <dsp:cNvSpPr/>
      </dsp:nvSpPr>
      <dsp:spPr>
        <a:xfrm>
          <a:off x="8661083" y="1557047"/>
          <a:ext cx="72" cy="323132"/>
        </a:xfrm>
        <a:prstGeom prst="rect">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D2B79-7976-4E9B-BB85-E77D22807E96}">
      <dsp:nvSpPr>
        <dsp:cNvPr id="0" name=""/>
        <dsp:cNvSpPr/>
      </dsp:nvSpPr>
      <dsp:spPr>
        <a:xfrm>
          <a:off x="7795571" y="1880181"/>
          <a:ext cx="1731095" cy="177480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noProof="0" dirty="0">
              <a:latin typeface="Calibri" pitchFamily="34" charset="0"/>
              <a:ea typeface="Calibri" pitchFamily="34" charset="-122"/>
              <a:cs typeface="Calibri" pitchFamily="34" charset="-120"/>
            </a:rPr>
            <a:t>Regroupement des pays</a:t>
          </a:r>
        </a:p>
        <a:p>
          <a:pPr marL="0" lvl="0" indent="0" algn="ctr" defTabSz="711200">
            <a:lnSpc>
              <a:spcPct val="90000"/>
            </a:lnSpc>
            <a:spcBef>
              <a:spcPct val="0"/>
            </a:spcBef>
            <a:spcAft>
              <a:spcPct val="35000"/>
            </a:spcAft>
            <a:buNone/>
          </a:pPr>
          <a:r>
            <a:rPr lang="fr-FR" sz="1200" kern="1200" noProof="0" dirty="0">
              <a:latin typeface="Calibri" panose="020F0502020204030204" pitchFamily="34" charset="0"/>
              <a:ea typeface="Calibri" panose="020F0502020204030204" pitchFamily="34" charset="0"/>
              <a:cs typeface="Calibri" panose="020F0502020204030204" pitchFamily="34" charset="0"/>
            </a:rPr>
            <a:t>Pays ayant les mêmes caractéristiques regroupées aux seins de clusters</a:t>
          </a:r>
        </a:p>
      </dsp:txBody>
      <dsp:txXfrm>
        <a:off x="7846273" y="1930883"/>
        <a:ext cx="1629691" cy="1673396"/>
      </dsp:txXfrm>
    </dsp:sp>
    <dsp:sp modelId="{8A906867-BC42-4F43-8B66-941009DF3817}">
      <dsp:nvSpPr>
        <dsp:cNvPr id="0" name=""/>
        <dsp:cNvSpPr/>
      </dsp:nvSpPr>
      <dsp:spPr>
        <a:xfrm>
          <a:off x="9622839" y="1220952"/>
          <a:ext cx="961719" cy="71"/>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53A8A5-1596-47A1-97B3-E6B901E50B08}">
      <dsp:nvSpPr>
        <dsp:cNvPr id="0" name=""/>
        <dsp:cNvSpPr/>
      </dsp:nvSpPr>
      <dsp:spPr>
        <a:xfrm>
          <a:off x="10320501" y="956930"/>
          <a:ext cx="528115" cy="528115"/>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94" tIns="20494" rIns="20494" bIns="20494" numCol="1" spcCol="1270" anchor="ctr" anchorCtr="0">
          <a:noAutofit/>
        </a:bodyPr>
        <a:lstStyle/>
        <a:p>
          <a:pPr marL="0" lvl="0" indent="0" algn="ctr" defTabSz="1022350">
            <a:lnSpc>
              <a:spcPct val="90000"/>
            </a:lnSpc>
            <a:spcBef>
              <a:spcPct val="0"/>
            </a:spcBef>
            <a:spcAft>
              <a:spcPct val="35000"/>
            </a:spcAft>
            <a:buNone/>
          </a:pPr>
          <a:r>
            <a:rPr lang="fr-FR" sz="2300" kern="1200" dirty="0"/>
            <a:t>6</a:t>
          </a:r>
        </a:p>
      </dsp:txBody>
      <dsp:txXfrm>
        <a:off x="10397842" y="1034271"/>
        <a:ext cx="373433" cy="373433"/>
      </dsp:txXfrm>
    </dsp:sp>
    <dsp:sp modelId="{99A51E40-7DD3-417B-87B3-1D90420E4621}">
      <dsp:nvSpPr>
        <dsp:cNvPr id="0" name=""/>
        <dsp:cNvSpPr/>
      </dsp:nvSpPr>
      <dsp:spPr>
        <a:xfrm>
          <a:off x="10584523" y="1557046"/>
          <a:ext cx="72" cy="323135"/>
        </a:xfrm>
        <a:prstGeom prst="rect">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324595-2DAD-4EEF-B126-732C372F8D2A}">
      <dsp:nvSpPr>
        <dsp:cNvPr id="0" name=""/>
        <dsp:cNvSpPr/>
      </dsp:nvSpPr>
      <dsp:spPr>
        <a:xfrm>
          <a:off x="9719011" y="1880181"/>
          <a:ext cx="1731095" cy="177480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535" tIns="165100" rIns="30535" bIns="165100" numCol="1" spcCol="1270" anchor="t" anchorCtr="0">
          <a:noAutofit/>
        </a:bodyPr>
        <a:lstStyle/>
        <a:p>
          <a:pPr marL="0" lvl="0" indent="0" algn="ctr" defTabSz="711200">
            <a:lnSpc>
              <a:spcPct val="90000"/>
            </a:lnSpc>
            <a:spcBef>
              <a:spcPct val="0"/>
            </a:spcBef>
            <a:spcAft>
              <a:spcPct val="35000"/>
            </a:spcAft>
            <a:buNone/>
          </a:pPr>
          <a:r>
            <a:rPr lang="fr-FR" sz="1600" b="1" kern="1200" dirty="0">
              <a:latin typeface="Calibri" panose="020F0502020204030204" pitchFamily="34" charset="0"/>
              <a:ea typeface="Calibri" panose="020F0502020204030204" pitchFamily="34" charset="0"/>
              <a:cs typeface="Calibri" panose="020F0502020204030204" pitchFamily="34" charset="0"/>
            </a:rPr>
            <a:t>Conclusions et recommandations</a:t>
          </a:r>
        </a:p>
        <a:p>
          <a:pPr marL="0" lvl="0" indent="0" algn="ctr" defTabSz="711200">
            <a:lnSpc>
              <a:spcPct val="90000"/>
            </a:lnSpc>
            <a:spcBef>
              <a:spcPct val="0"/>
            </a:spcBef>
            <a:spcAft>
              <a:spcPct val="35000"/>
            </a:spcAft>
            <a:buNone/>
          </a:pPr>
          <a:r>
            <a:rPr lang="fr-FR" sz="1200" b="0" kern="1200" dirty="0">
              <a:latin typeface="Calibri" panose="020F0502020204030204" pitchFamily="34" charset="0"/>
              <a:ea typeface="Calibri" panose="020F0502020204030204" pitchFamily="34" charset="0"/>
              <a:cs typeface="Calibri" panose="020F0502020204030204" pitchFamily="34" charset="0"/>
            </a:rPr>
            <a:t>Marchés cibles</a:t>
          </a:r>
        </a:p>
      </dsp:txBody>
      <dsp:txXfrm>
        <a:off x="9769713" y="1930883"/>
        <a:ext cx="1629691" cy="1673396"/>
      </dsp:txXfrm>
    </dsp:sp>
  </dsp:spTree>
</dsp:drawing>
</file>

<file path=ppt/diagrams/layout1.xml><?xml version="1.0" encoding="utf-8"?>
<dgm:layoutDef xmlns:dgm="http://schemas.openxmlformats.org/drawingml/2006/diagram" xmlns:a="http://schemas.openxmlformats.org/drawingml/2006/main" uniqueId="urn:microsoft.com/office/officeart/2024/layout/NumberedLinearArrowProcess">
  <dgm:title val=""/>
  <dgm:desc val=""/>
  <dgm:catLst>
    <dgm:cat type="process" pri="1700"/>
  </dgm:catLst>
  <dgm:sampData>
    <dgm:dataModel>
      <dgm:ptLst>
        <dgm:pt modelId="0" type="doc"/>
        <dgm:pt modelId="1">
          <dgm:prSet phldr="1"/>
        </dgm:pt>
        <dgm:pt modelId="2">
          <dgm:prSet phldr="1"/>
        </dgm:pt>
        <dgm:pt modelId="3">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04E2DA-5A10-4533-BDAC-45B439DDBF9E}" type="datetimeFigureOut">
              <a:rPr lang="fr-FR" smtClean="0"/>
              <a:t>16/05/2026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1F5936-43C8-4ACC-A019-2DDE01D095CD}" type="slidenum">
              <a:rPr lang="fr-FR" smtClean="0"/>
              <a:t>‹N°›</a:t>
            </a:fld>
            <a:endParaRPr lang="fr-FR" dirty="0"/>
          </a:p>
        </p:txBody>
      </p:sp>
    </p:spTree>
    <p:extLst>
      <p:ext uri="{BB962C8B-B14F-4D97-AF65-F5344CB8AC3E}">
        <p14:creationId xmlns:p14="http://schemas.microsoft.com/office/powerpoint/2010/main" val="2734822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2C1236-AFD6-1314-326F-77220B90C4B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17478D0-4109-2ACD-05F5-B1D3CD34D8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A7918B6-8BDE-9FCD-F78B-96C5F118DB45}"/>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5" name="Espace réservé du pied de page 4">
            <a:extLst>
              <a:ext uri="{FF2B5EF4-FFF2-40B4-BE49-F238E27FC236}">
                <a16:creationId xmlns:a16="http://schemas.microsoft.com/office/drawing/2014/main" id="{437B23DA-EFCB-DD61-5DE9-7CE547EA3600}"/>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98F118B4-DC8C-E5FD-1CBC-8332E451F1D5}"/>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628889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7FD85B-3EE8-1AB3-0FCB-493341A548A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CF7BEA9-F012-2921-EA3D-67764C51833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F6223D7-90F1-EB86-81E2-B6AA2A0255A4}"/>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5" name="Espace réservé du pied de page 4">
            <a:extLst>
              <a:ext uri="{FF2B5EF4-FFF2-40B4-BE49-F238E27FC236}">
                <a16:creationId xmlns:a16="http://schemas.microsoft.com/office/drawing/2014/main" id="{C0CF5E55-FADE-6B8C-9548-50315BE94053}"/>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3D15C717-718E-B3A7-AD92-4BAF58F6C907}"/>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241335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E97DA-DEDD-FB57-4073-0876CDD3ECE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CB8D437-90FD-9699-6245-C1567394ECA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871E551-0B7E-3141-1132-9A7B6978CC5A}"/>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5" name="Espace réservé du pied de page 4">
            <a:extLst>
              <a:ext uri="{FF2B5EF4-FFF2-40B4-BE49-F238E27FC236}">
                <a16:creationId xmlns:a16="http://schemas.microsoft.com/office/drawing/2014/main" id="{4F79897B-5FDA-8391-222C-648A69E2C5C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D7785B34-EF57-79BC-2197-8296F657EFB8}"/>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300256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B140EA-FF9B-07BE-A810-64A4DEFDCA8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A09721-531E-E5D4-CDDA-D361B3718EF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E5DBD7C-13FD-CF46-ED26-A81F3891637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BC0390B-6331-27B3-9A60-9ABE8B8F75E5}"/>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6" name="Espace réservé du pied de page 5">
            <a:extLst>
              <a:ext uri="{FF2B5EF4-FFF2-40B4-BE49-F238E27FC236}">
                <a16:creationId xmlns:a16="http://schemas.microsoft.com/office/drawing/2014/main" id="{FBA7D846-0A05-F052-6CF3-0B67554E3A49}"/>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BC3A0466-926D-33FB-175D-DC199229C132}"/>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15958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1F6E0D-739E-394A-948D-AF9CD630DE7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7216D657-B015-65F8-7CE9-67A4C36A7F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A809402-BCAA-5CAA-02BA-531B0F35A91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DE66F46-387D-B4E3-DE81-E1AF0328BC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9E6DAA4-6EC2-1FF3-D8AD-B7A8C0CC69C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A92C031-CBFB-4D48-0615-A4ACF2DA0E04}"/>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8" name="Espace réservé du pied de page 7">
            <a:extLst>
              <a:ext uri="{FF2B5EF4-FFF2-40B4-BE49-F238E27FC236}">
                <a16:creationId xmlns:a16="http://schemas.microsoft.com/office/drawing/2014/main" id="{D2A57B44-16EF-E4B4-D3F1-0D53F96D5756}"/>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a16="http://schemas.microsoft.com/office/drawing/2014/main" id="{60BC1A4A-0567-4534-1864-00A668D8A419}"/>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3158786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2945C0-842F-D157-A882-9CBECAD6537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5209662-2202-259E-9641-B0AB8E5F2902}"/>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4" name="Espace réservé du pied de page 3">
            <a:extLst>
              <a:ext uri="{FF2B5EF4-FFF2-40B4-BE49-F238E27FC236}">
                <a16:creationId xmlns:a16="http://schemas.microsoft.com/office/drawing/2014/main" id="{00B090C6-1B7D-2B61-BE2F-FF94E7C06318}"/>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77FA287C-C3E9-F0A5-396A-2B1691245D88}"/>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401686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A314674-F10B-173E-9029-69AD76F2267A}"/>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3" name="Espace réservé du pied de page 2">
            <a:extLst>
              <a:ext uri="{FF2B5EF4-FFF2-40B4-BE49-F238E27FC236}">
                <a16:creationId xmlns:a16="http://schemas.microsoft.com/office/drawing/2014/main" id="{3F297CBB-53CF-FC2A-FBB5-A2BF0C308052}"/>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64F615E-8325-E0BE-5672-4BFC53C9FCF9}"/>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2883810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357BB4-09A9-49B4-DB23-71A0CBC275C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AE138A5-DE18-5C00-5F3E-D9C30F984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9E8120A-9A3F-EF50-420D-017E30A45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BA5ADAD-8E26-1892-5DDB-9BFF7B822A6F}"/>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6" name="Espace réservé du pied de page 5">
            <a:extLst>
              <a:ext uri="{FF2B5EF4-FFF2-40B4-BE49-F238E27FC236}">
                <a16:creationId xmlns:a16="http://schemas.microsoft.com/office/drawing/2014/main" id="{F60212D0-48D8-4226-67CF-9E7A6EB70FA4}"/>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F2529A4F-8051-05BC-0067-B4700C7C2DA3}"/>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2132347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67B89E-2F05-2FE2-49A3-AEA01ACA7A5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7E70836-63F4-7CCA-A09B-E2F2EE8AE7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a:extLst>
              <a:ext uri="{FF2B5EF4-FFF2-40B4-BE49-F238E27FC236}">
                <a16:creationId xmlns:a16="http://schemas.microsoft.com/office/drawing/2014/main" id="{BD9AAB3A-C71C-6CA7-4041-05EA8AD49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E05DF36-A31C-2298-D961-1DD82EB65514}"/>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6" name="Espace réservé du pied de page 5">
            <a:extLst>
              <a:ext uri="{FF2B5EF4-FFF2-40B4-BE49-F238E27FC236}">
                <a16:creationId xmlns:a16="http://schemas.microsoft.com/office/drawing/2014/main" id="{943EB067-2C70-87EB-0FA7-54D58F6B3C88}"/>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EFEE6B79-2000-0B4A-3529-3B10253668C5}"/>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18598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3E2CC0-07D2-0687-5B09-A80ACC3A7DD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1704E98-CC4E-3069-5F1C-4DE22B247D9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D528BA4-5B4B-300A-7C07-6B65FD1DE65B}"/>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5" name="Espace réservé du pied de page 4">
            <a:extLst>
              <a:ext uri="{FF2B5EF4-FFF2-40B4-BE49-F238E27FC236}">
                <a16:creationId xmlns:a16="http://schemas.microsoft.com/office/drawing/2014/main" id="{68C13FBF-55B4-5D4D-CA34-2E1569AC9D0D}"/>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D3C0872F-1D03-5F51-6FB6-49F9C6BF1408}"/>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2113533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F92E35B-BB24-BD2B-EEC9-37695783A74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23B11B1-D768-5486-4FA6-58CC17390E8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6FF593F-6BB7-4C70-8838-4E8958FA0FB9}"/>
              </a:ext>
            </a:extLst>
          </p:cNvPr>
          <p:cNvSpPr>
            <a:spLocks noGrp="1"/>
          </p:cNvSpPr>
          <p:nvPr>
            <p:ph type="dt" sz="half" idx="10"/>
          </p:nvPr>
        </p:nvSpPr>
        <p:spPr/>
        <p:txBody>
          <a:bodyPr/>
          <a:lstStyle/>
          <a:p>
            <a:fld id="{CF3BB60B-67E8-4EE8-83DF-9286A7186806}" type="datetimeFigureOut">
              <a:rPr lang="fr-FR" smtClean="0"/>
              <a:t>16/05/2026</a:t>
            </a:fld>
            <a:endParaRPr lang="fr-FR" dirty="0"/>
          </a:p>
        </p:txBody>
      </p:sp>
      <p:sp>
        <p:nvSpPr>
          <p:cNvPr id="5" name="Espace réservé du pied de page 4">
            <a:extLst>
              <a:ext uri="{FF2B5EF4-FFF2-40B4-BE49-F238E27FC236}">
                <a16:creationId xmlns:a16="http://schemas.microsoft.com/office/drawing/2014/main" id="{9164ED8D-E549-E487-A1D6-18DEF52C7FC7}"/>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A57304F3-9DE2-1790-2D1C-3C1AC96E598B}"/>
              </a:ext>
            </a:extLst>
          </p:cNvPr>
          <p:cNvSpPr>
            <a:spLocks noGrp="1"/>
          </p:cNvSpPr>
          <p:nvPr>
            <p:ph type="sldNum" sz="quarter" idx="12"/>
          </p:nvPr>
        </p:nvSpPr>
        <p:spPr/>
        <p:txBody>
          <a:bodyPr/>
          <a:lstStyle/>
          <a:p>
            <a:fld id="{05875730-EFAE-4A38-998E-FCE8F0EA5930}" type="slidenum">
              <a:rPr lang="fr-FR" smtClean="0"/>
              <a:t>‹N°›</a:t>
            </a:fld>
            <a:endParaRPr lang="fr-FR" dirty="0"/>
          </a:p>
        </p:txBody>
      </p:sp>
    </p:spTree>
    <p:extLst>
      <p:ext uri="{BB962C8B-B14F-4D97-AF65-F5344CB8AC3E}">
        <p14:creationId xmlns:p14="http://schemas.microsoft.com/office/powerpoint/2010/main" val="2668917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272C1B7-FFDA-5C70-04E4-A45FE9B296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A4E0C21-ED94-F4E4-C719-BA13D4F87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5D6431F-EB60-C99F-04DA-C427F7B550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3BB60B-67E8-4EE8-83DF-9286A7186806}" type="datetimeFigureOut">
              <a:rPr lang="fr-FR" smtClean="0"/>
              <a:t>16/05/2026</a:t>
            </a:fld>
            <a:endParaRPr lang="fr-FR" dirty="0"/>
          </a:p>
        </p:txBody>
      </p:sp>
      <p:sp>
        <p:nvSpPr>
          <p:cNvPr id="5" name="Espace réservé du pied de page 4">
            <a:extLst>
              <a:ext uri="{FF2B5EF4-FFF2-40B4-BE49-F238E27FC236}">
                <a16:creationId xmlns:a16="http://schemas.microsoft.com/office/drawing/2014/main" id="{6D683A6E-78FA-E88A-1A04-FDCAFC6256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78071261-B49C-2F5C-E48A-CC6885A04F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875730-EFAE-4A38-998E-FCE8F0EA5930}" type="slidenum">
              <a:rPr lang="fr-FR" smtClean="0"/>
              <a:t>‹N°›</a:t>
            </a:fld>
            <a:endParaRPr lang="fr-FR" dirty="0"/>
          </a:p>
        </p:txBody>
      </p:sp>
    </p:spTree>
    <p:extLst>
      <p:ext uri="{BB962C8B-B14F-4D97-AF65-F5344CB8AC3E}">
        <p14:creationId xmlns:p14="http://schemas.microsoft.com/office/powerpoint/2010/main" val="2766880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 name="Shape 1">
            <a:extLst>
              <a:ext uri="{FF2B5EF4-FFF2-40B4-BE49-F238E27FC236}">
                <a16:creationId xmlns:a16="http://schemas.microsoft.com/office/drawing/2014/main" id="{3537FBBD-9708-2E8E-D7E5-BF5E49EA2CFB}"/>
              </a:ext>
            </a:extLst>
          </p:cNvPr>
          <p:cNvSpPr>
            <a:spLocks noGrp="1"/>
          </p:cNvSpPr>
          <p:nvPr>
            <p:ph type="ctrTitle"/>
          </p:nvPr>
        </p:nvSpPr>
        <p:spPr>
          <a:xfrm>
            <a:off x="579009" y="2612571"/>
            <a:ext cx="10056333" cy="1164188"/>
          </a:xfrm>
          <a:prstGeom prst="rect">
            <a:avLst/>
          </a:prstGeom>
        </p:spPr>
        <p:txBody>
          <a:bodyPr>
            <a:normAutofit/>
          </a:bodyPr>
          <a:lstStyle/>
          <a:p>
            <a:pPr algn="l"/>
            <a:r>
              <a:rPr lang="fr-FR" sz="4400" b="1" noProof="0" dirty="0">
                <a:solidFill>
                  <a:srgbClr val="FFFFFF"/>
                </a:solidFill>
                <a:latin typeface="Calibri" pitchFamily="34" charset="0"/>
                <a:ea typeface="Calibri" pitchFamily="34" charset="-122"/>
                <a:cs typeface="Calibri" pitchFamily="34" charset="-120"/>
              </a:rPr>
              <a:t>Stratégie d’expansion internationale</a:t>
            </a:r>
            <a:endParaRPr lang="fr-FR" sz="4400" noProof="0" dirty="0">
              <a:solidFill>
                <a:srgbClr val="FFFFFF"/>
              </a:solidFill>
            </a:endParaRP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 name="Text 4">
            <a:extLst>
              <a:ext uri="{FF2B5EF4-FFF2-40B4-BE49-F238E27FC236}">
                <a16:creationId xmlns:a16="http://schemas.microsoft.com/office/drawing/2014/main" id="{BC809661-EF0B-9597-80DA-5C1222A9C53D}"/>
              </a:ext>
            </a:extLst>
          </p:cNvPr>
          <p:cNvSpPr/>
          <p:nvPr/>
        </p:nvSpPr>
        <p:spPr>
          <a:xfrm>
            <a:off x="635836" y="3884558"/>
            <a:ext cx="10972800" cy="487680"/>
          </a:xfrm>
          <a:prstGeom prst="rect">
            <a:avLst/>
          </a:prstGeom>
          <a:noFill/>
          <a:ln/>
        </p:spPr>
        <p:txBody>
          <a:bodyPr wrap="square" lIns="0" tIns="0" rIns="0" bIns="0" rtlCol="0" anchor="ctr"/>
          <a:lstStyle/>
          <a:p>
            <a:pPr defTabSz="1219170"/>
            <a:r>
              <a:rPr lang="fr-FR" sz="1733" dirty="0">
                <a:solidFill>
                  <a:srgbClr val="FFC000"/>
                </a:solidFill>
                <a:latin typeface="Calibri" panose="020F0502020204030204"/>
              </a:rPr>
              <a:t>Analyse des groupements de pays – Présentation COMEX</a:t>
            </a:r>
            <a:endParaRPr lang="fr-FR" sz="1733" noProof="0" dirty="0">
              <a:solidFill>
                <a:srgbClr val="FFC000"/>
              </a:solidFill>
              <a:latin typeface="Calibri" panose="020F0502020204030204"/>
            </a:endParaRPr>
          </a:p>
        </p:txBody>
      </p:sp>
      <p:sp>
        <p:nvSpPr>
          <p:cNvPr id="2" name="Shape 1">
            <a:extLst>
              <a:ext uri="{FF2B5EF4-FFF2-40B4-BE49-F238E27FC236}">
                <a16:creationId xmlns:a16="http://schemas.microsoft.com/office/drawing/2014/main" id="{BFD315A7-A632-5041-3225-A8B35B9A2997}"/>
              </a:ext>
            </a:extLst>
          </p:cNvPr>
          <p:cNvSpPr txBox="1">
            <a:spLocks/>
          </p:cNvSpPr>
          <p:nvPr/>
        </p:nvSpPr>
        <p:spPr>
          <a:xfrm>
            <a:off x="579009" y="371687"/>
            <a:ext cx="8027044" cy="158051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4400" b="1" dirty="0">
                <a:solidFill>
                  <a:srgbClr val="FFC000"/>
                </a:solidFill>
              </a:rPr>
              <a:t>LA POULE QUI CHANTE</a:t>
            </a:r>
            <a:endParaRPr lang="fr-FR" sz="4400" b="1" noProof="0" dirty="0">
              <a:solidFill>
                <a:srgbClr val="FFC000"/>
              </a:solidFill>
            </a:endParaRPr>
          </a:p>
        </p:txBody>
      </p:sp>
    </p:spTree>
    <p:extLst>
      <p:ext uri="{BB962C8B-B14F-4D97-AF65-F5344CB8AC3E}">
        <p14:creationId xmlns:p14="http://schemas.microsoft.com/office/powerpoint/2010/main" val="810162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33B9C452-2C6E-4D52-8FC7-669291EE9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34E1CC44-1B7F-472B-B668-B4F2F4723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B5BAD077-4A41-458D-9909-1A108699E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F1FC21CE-01FD-49CC-BAFC-06F38B34B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67BE83C0-7097-C375-6D37-D57C3C77D07A}"/>
              </a:ext>
            </a:extLst>
          </p:cNvPr>
          <p:cNvSpPr>
            <a:spLocks noGrp="1"/>
          </p:cNvSpPr>
          <p:nvPr>
            <p:ph type="title"/>
          </p:nvPr>
        </p:nvSpPr>
        <p:spPr>
          <a:xfrm>
            <a:off x="699714" y="321728"/>
            <a:ext cx="10149261" cy="967956"/>
          </a:xfrm>
        </p:spPr>
        <p:txBody>
          <a:bodyPr vert="horz" lIns="91440" tIns="45720" rIns="91440" bIns="45720" rtlCol="0" anchor="ctr">
            <a:noAutofit/>
          </a:bodyPr>
          <a:lstStyle/>
          <a:p>
            <a:r>
              <a:rPr lang="fr-FR" sz="3600" b="1" noProof="0" dirty="0">
                <a:solidFill>
                  <a:schemeClr val="bg1"/>
                </a:solidFill>
              </a:rPr>
              <a:t>Contexte &amp; objectifs</a:t>
            </a:r>
            <a:endParaRPr lang="fr-FR" sz="3600" noProof="0" dirty="0">
              <a:solidFill>
                <a:schemeClr val="bg1"/>
              </a:solidFill>
            </a:endParaRPr>
          </a:p>
        </p:txBody>
      </p:sp>
      <p:grpSp>
        <p:nvGrpSpPr>
          <p:cNvPr id="8" name="Groupe 7">
            <a:extLst>
              <a:ext uri="{FF2B5EF4-FFF2-40B4-BE49-F238E27FC236}">
                <a16:creationId xmlns:a16="http://schemas.microsoft.com/office/drawing/2014/main" id="{D6AF202F-EA01-3313-E603-AEA79652D21E}"/>
              </a:ext>
            </a:extLst>
          </p:cNvPr>
          <p:cNvGrpSpPr/>
          <p:nvPr/>
        </p:nvGrpSpPr>
        <p:grpSpPr>
          <a:xfrm>
            <a:off x="537952" y="2204999"/>
            <a:ext cx="3219182" cy="3992890"/>
            <a:chOff x="537952" y="1939823"/>
            <a:chExt cx="3219182" cy="3992890"/>
          </a:xfrm>
        </p:grpSpPr>
        <p:sp>
          <p:nvSpPr>
            <p:cNvPr id="5" name="Rectangle : coins arrondis 4">
              <a:extLst>
                <a:ext uri="{FF2B5EF4-FFF2-40B4-BE49-F238E27FC236}">
                  <a16:creationId xmlns:a16="http://schemas.microsoft.com/office/drawing/2014/main" id="{A3D5DF6E-3672-30DF-3816-9415FBF0A8BC}"/>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7" name="Groupe 36">
              <a:extLst>
                <a:ext uri="{FF2B5EF4-FFF2-40B4-BE49-F238E27FC236}">
                  <a16:creationId xmlns:a16="http://schemas.microsoft.com/office/drawing/2014/main" id="{BC0DE6C6-5B53-6712-183C-F49013DC5CCF}"/>
                </a:ext>
              </a:extLst>
            </p:cNvPr>
            <p:cNvGrpSpPr/>
            <p:nvPr/>
          </p:nvGrpSpPr>
          <p:grpSpPr>
            <a:xfrm>
              <a:off x="537952" y="1939823"/>
              <a:ext cx="3219182" cy="3992890"/>
              <a:chOff x="1099185" y="2350770"/>
              <a:chExt cx="1965960" cy="1234440"/>
            </a:xfrm>
          </p:grpSpPr>
          <p:sp>
            <p:nvSpPr>
              <p:cNvPr id="25" name="Shape 2">
                <a:extLst>
                  <a:ext uri="{FF2B5EF4-FFF2-40B4-BE49-F238E27FC236}">
                    <a16:creationId xmlns:a16="http://schemas.microsoft.com/office/drawing/2014/main" id="{1A9E36B7-A341-292D-FF36-65FE1F75F207}"/>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26" name="Text 3">
                <a:extLst>
                  <a:ext uri="{FF2B5EF4-FFF2-40B4-BE49-F238E27FC236}">
                    <a16:creationId xmlns:a16="http://schemas.microsoft.com/office/drawing/2014/main" id="{CF0ED2FF-70CC-2CC1-8BE1-D54B458A65F3}"/>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 4">
                <a:extLst>
                  <a:ext uri="{FF2B5EF4-FFF2-40B4-BE49-F238E27FC236}">
                    <a16:creationId xmlns:a16="http://schemas.microsoft.com/office/drawing/2014/main" id="{DEB6A8E8-7551-F076-9C02-2CF073C2AE4E}"/>
                  </a:ext>
                </a:extLst>
              </p:cNvPr>
              <p:cNvSpPr/>
              <p:nvPr/>
            </p:nvSpPr>
            <p:spPr>
              <a:xfrm>
                <a:off x="1099185" y="2762368"/>
                <a:ext cx="1965960" cy="722258"/>
              </a:xfrm>
              <a:prstGeom prst="rect">
                <a:avLst/>
              </a:prstGeom>
              <a:noFill/>
              <a:ln/>
            </p:spPr>
            <p:txBody>
              <a:bodyPr wrap="square" lIns="0" tIns="0" rIns="0" bIns="0" rtlCol="0" anchor="ctr"/>
              <a:lstStyle/>
              <a:p>
                <a:pPr algn="ctr" defTabSz="1152144">
                  <a:spcAft>
                    <a:spcPts val="600"/>
                  </a:spcAft>
                </a:pPr>
                <a:r>
                  <a:rPr lang="fr-FR" sz="2400" noProof="0" dirty="0">
                    <a:solidFill>
                      <a:srgbClr val="FFC000"/>
                    </a:solidFill>
                    <a:latin typeface="Calibri" panose="020F0502020204030204" pitchFamily="34" charset="0"/>
                    <a:ea typeface="Calibri" panose="020F0502020204030204" pitchFamily="34" charset="0"/>
                    <a:cs typeface="Calibri" panose="020F0502020204030204" pitchFamily="34" charset="0"/>
                  </a:rPr>
                  <a:t>L’entreprise</a:t>
                </a:r>
              </a:p>
              <a:p>
                <a:pPr algn="ctr" defTabSz="1152144">
                  <a:spcAft>
                    <a:spcPts val="600"/>
                  </a:spcAft>
                </a:pPr>
                <a:endPar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endParaRPr>
              </a:p>
              <a:p>
                <a:pPr algn="ctr" defTabSz="1152144">
                  <a:spcAft>
                    <a:spcPts val="600"/>
                  </a:spcAft>
                </a:pPr>
                <a:endParaRPr lang="fr-FR" sz="1200" noProof="0" dirty="0">
                  <a:solidFill>
                    <a:srgbClr val="AECFDF"/>
                  </a:solidFill>
                  <a:latin typeface="Calibri" panose="020F0502020204030204" pitchFamily="34" charset="0"/>
                  <a:ea typeface="Calibri" panose="020F0502020204030204" pitchFamily="34" charset="0"/>
                  <a:cs typeface="Calibri" panose="020F0502020204030204" pitchFamily="34" charset="0"/>
                </a:endParaRPr>
              </a:p>
              <a:p>
                <a:pPr algn="ctr" defTabSz="1152144">
                  <a:spcAft>
                    <a:spcPts val="600"/>
                  </a:spcAft>
                </a:pPr>
                <a:r>
                  <a:rPr lang="fr-FR" sz="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La poule qui chante élève et vend des poulets sous le label Agriculture Biologique en France.</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9" name="Groupe 8">
            <a:extLst>
              <a:ext uri="{FF2B5EF4-FFF2-40B4-BE49-F238E27FC236}">
                <a16:creationId xmlns:a16="http://schemas.microsoft.com/office/drawing/2014/main" id="{C4E3933B-9DDF-5D98-F248-D91E8A3EB90B}"/>
              </a:ext>
            </a:extLst>
          </p:cNvPr>
          <p:cNvGrpSpPr/>
          <p:nvPr/>
        </p:nvGrpSpPr>
        <p:grpSpPr>
          <a:xfrm>
            <a:off x="4486409" y="2204999"/>
            <a:ext cx="3219182" cy="3992890"/>
            <a:chOff x="537952" y="1939823"/>
            <a:chExt cx="3219182" cy="3992890"/>
          </a:xfrm>
        </p:grpSpPr>
        <p:sp>
          <p:nvSpPr>
            <p:cNvPr id="11" name="Rectangle : coins arrondis 10">
              <a:extLst>
                <a:ext uri="{FF2B5EF4-FFF2-40B4-BE49-F238E27FC236}">
                  <a16:creationId xmlns:a16="http://schemas.microsoft.com/office/drawing/2014/main" id="{C2EA728F-C560-FF85-B6A6-3CE129F4C273}"/>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2" name="Groupe 11">
              <a:extLst>
                <a:ext uri="{FF2B5EF4-FFF2-40B4-BE49-F238E27FC236}">
                  <a16:creationId xmlns:a16="http://schemas.microsoft.com/office/drawing/2014/main" id="{292E7486-65CC-2DA3-D6F2-9F538D06CD74}"/>
                </a:ext>
              </a:extLst>
            </p:cNvPr>
            <p:cNvGrpSpPr/>
            <p:nvPr/>
          </p:nvGrpSpPr>
          <p:grpSpPr>
            <a:xfrm>
              <a:off x="537952" y="1939823"/>
              <a:ext cx="3219182" cy="3992890"/>
              <a:chOff x="1099185" y="2350770"/>
              <a:chExt cx="1965960" cy="1234440"/>
            </a:xfrm>
          </p:grpSpPr>
          <p:sp>
            <p:nvSpPr>
              <p:cNvPr id="14" name="Shape 2">
                <a:extLst>
                  <a:ext uri="{FF2B5EF4-FFF2-40B4-BE49-F238E27FC236}">
                    <a16:creationId xmlns:a16="http://schemas.microsoft.com/office/drawing/2014/main" id="{AE93EC88-A0A9-E4F9-1576-202EEBA7DAB0}"/>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3">
                <a:extLst>
                  <a:ext uri="{FF2B5EF4-FFF2-40B4-BE49-F238E27FC236}">
                    <a16:creationId xmlns:a16="http://schemas.microsoft.com/office/drawing/2014/main" id="{C46332BF-AE57-C2EA-B558-4F8429C27EA3}"/>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4">
                <a:extLst>
                  <a:ext uri="{FF2B5EF4-FFF2-40B4-BE49-F238E27FC236}">
                    <a16:creationId xmlns:a16="http://schemas.microsoft.com/office/drawing/2014/main" id="{ED812890-A2A6-40AA-EC76-302D746F3D4C}"/>
                  </a:ext>
                </a:extLst>
              </p:cNvPr>
              <p:cNvSpPr/>
              <p:nvPr/>
            </p:nvSpPr>
            <p:spPr>
              <a:xfrm>
                <a:off x="1099185" y="2762368"/>
                <a:ext cx="1965960" cy="722258"/>
              </a:xfrm>
              <a:prstGeom prst="rect">
                <a:avLst/>
              </a:prstGeom>
              <a:noFill/>
              <a:ln/>
            </p:spPr>
            <p:txBody>
              <a:bodyPr wrap="square" lIns="0" tIns="0" rIns="0" bIns="0" rtlCol="0" anchor="ctr"/>
              <a:lstStyle/>
              <a:p>
                <a:pPr algn="ctr" defTabSz="1152144">
                  <a:spcAft>
                    <a:spcPts val="600"/>
                  </a:spcAft>
                </a:pPr>
                <a:r>
                  <a:rPr lang="fr-FR" sz="2400" noProof="0" dirty="0">
                    <a:solidFill>
                      <a:srgbClr val="FFC000"/>
                    </a:solidFill>
                    <a:latin typeface="Calibri" panose="020F0502020204030204" pitchFamily="34" charset="0"/>
                    <a:ea typeface="Calibri" panose="020F0502020204030204" pitchFamily="34" charset="0"/>
                    <a:cs typeface="Calibri" panose="020F0502020204030204" pitchFamily="34" charset="0"/>
                  </a:rPr>
                  <a:t>L’ambition</a:t>
                </a:r>
              </a:p>
              <a:p>
                <a:pPr algn="ctr" defTabSz="1152144">
                  <a:spcAft>
                    <a:spcPts val="600"/>
                  </a:spcAft>
                </a:pPr>
                <a:endPar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endParaRPr>
              </a:p>
              <a:p>
                <a:pPr algn="ctr" defTabSz="1152144">
                  <a:spcAft>
                    <a:spcPts val="600"/>
                  </a:spcAft>
                </a:pPr>
                <a:endParaRPr lang="fr-FR" sz="1200" noProof="0" dirty="0">
                  <a:solidFill>
                    <a:srgbClr val="AECFDF"/>
                  </a:solidFill>
                  <a:latin typeface="Calibri" panose="020F0502020204030204" pitchFamily="34" charset="0"/>
                  <a:ea typeface="Calibri" panose="020F0502020204030204" pitchFamily="34" charset="0"/>
                  <a:cs typeface="Calibri" panose="020F0502020204030204" pitchFamily="34" charset="0"/>
                </a:endParaRPr>
              </a:p>
              <a:p>
                <a:pPr algn="ctr" defTabSz="1152144">
                  <a:spcAft>
                    <a:spcPts val="600"/>
                  </a:spcAft>
                </a:pPr>
                <a:r>
                  <a:rPr lang="fr-FR" sz="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Nous souhaitons nous développer à l’international. </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17" name="Groupe 16">
            <a:extLst>
              <a:ext uri="{FF2B5EF4-FFF2-40B4-BE49-F238E27FC236}">
                <a16:creationId xmlns:a16="http://schemas.microsoft.com/office/drawing/2014/main" id="{EEEFE1D6-234F-9EFB-BDD3-6CCE08D5C83D}"/>
              </a:ext>
            </a:extLst>
          </p:cNvPr>
          <p:cNvGrpSpPr/>
          <p:nvPr/>
        </p:nvGrpSpPr>
        <p:grpSpPr>
          <a:xfrm>
            <a:off x="8434866" y="2204999"/>
            <a:ext cx="3219182" cy="3992890"/>
            <a:chOff x="537952" y="1939823"/>
            <a:chExt cx="3219182" cy="3992890"/>
          </a:xfrm>
        </p:grpSpPr>
        <p:sp>
          <p:nvSpPr>
            <p:cNvPr id="18" name="Rectangle : coins arrondis 17">
              <a:extLst>
                <a:ext uri="{FF2B5EF4-FFF2-40B4-BE49-F238E27FC236}">
                  <a16:creationId xmlns:a16="http://schemas.microsoft.com/office/drawing/2014/main" id="{C9897388-F75A-C0C7-1153-E5A3551DA151}"/>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9" name="Groupe 18">
              <a:extLst>
                <a:ext uri="{FF2B5EF4-FFF2-40B4-BE49-F238E27FC236}">
                  <a16:creationId xmlns:a16="http://schemas.microsoft.com/office/drawing/2014/main" id="{6C6F3830-2626-2D11-BF45-176AC123184E}"/>
                </a:ext>
              </a:extLst>
            </p:cNvPr>
            <p:cNvGrpSpPr/>
            <p:nvPr/>
          </p:nvGrpSpPr>
          <p:grpSpPr>
            <a:xfrm>
              <a:off x="537952" y="1939823"/>
              <a:ext cx="3219182" cy="3992890"/>
              <a:chOff x="1099185" y="2350770"/>
              <a:chExt cx="1965960" cy="1234440"/>
            </a:xfrm>
          </p:grpSpPr>
          <p:sp>
            <p:nvSpPr>
              <p:cNvPr id="21" name="Shape 2">
                <a:extLst>
                  <a:ext uri="{FF2B5EF4-FFF2-40B4-BE49-F238E27FC236}">
                    <a16:creationId xmlns:a16="http://schemas.microsoft.com/office/drawing/2014/main" id="{B9407834-BF56-34C6-08B2-E23C4E9D96FE}"/>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 3">
                <a:extLst>
                  <a:ext uri="{FF2B5EF4-FFF2-40B4-BE49-F238E27FC236}">
                    <a16:creationId xmlns:a16="http://schemas.microsoft.com/office/drawing/2014/main" id="{91291283-2736-27CA-89FF-8872E5C7FF5F}"/>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 4">
                <a:extLst>
                  <a:ext uri="{FF2B5EF4-FFF2-40B4-BE49-F238E27FC236}">
                    <a16:creationId xmlns:a16="http://schemas.microsoft.com/office/drawing/2014/main" id="{7AE7960E-7075-5615-5E24-40FE8BF036E6}"/>
                  </a:ext>
                </a:extLst>
              </p:cNvPr>
              <p:cNvSpPr/>
              <p:nvPr/>
            </p:nvSpPr>
            <p:spPr>
              <a:xfrm>
                <a:off x="1099185" y="2762368"/>
                <a:ext cx="1965960" cy="722258"/>
              </a:xfrm>
              <a:prstGeom prst="rect">
                <a:avLst/>
              </a:prstGeom>
              <a:noFill/>
              <a:ln/>
            </p:spPr>
            <p:txBody>
              <a:bodyPr wrap="square" lIns="0" tIns="0" rIns="0" bIns="0" rtlCol="0" anchor="ctr"/>
              <a:lstStyle/>
              <a:p>
                <a:pPr algn="ctr" defTabSz="1152144">
                  <a:spcAft>
                    <a:spcPts val="600"/>
                  </a:spcAft>
                </a:pPr>
                <a:r>
                  <a:rPr lang="fr-FR" sz="2400" noProof="0" dirty="0">
                    <a:solidFill>
                      <a:srgbClr val="FFC000"/>
                    </a:solidFill>
                    <a:latin typeface="Calibri" panose="020F0502020204030204" pitchFamily="34" charset="0"/>
                    <a:ea typeface="Calibri" panose="020F0502020204030204" pitchFamily="34" charset="0"/>
                    <a:cs typeface="Calibri" panose="020F0502020204030204" pitchFamily="34" charset="0"/>
                  </a:rPr>
                  <a:t>Notre mission</a:t>
                </a:r>
              </a:p>
              <a:p>
                <a:pPr algn="ctr" defTabSz="1152144">
                  <a:spcAft>
                    <a:spcPts val="600"/>
                  </a:spcAft>
                </a:pPr>
                <a:endPar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endParaRPr>
              </a:p>
              <a:p>
                <a:pPr algn="ctr" defTabSz="1152144">
                  <a:spcAft>
                    <a:spcPts val="600"/>
                  </a:spcAft>
                </a:pPr>
                <a:endParaRPr lang="fr-FR" sz="1200" noProof="0" dirty="0">
                  <a:solidFill>
                    <a:srgbClr val="AECFDF"/>
                  </a:solidFill>
                  <a:latin typeface="Calibri" panose="020F0502020204030204" pitchFamily="34" charset="0"/>
                  <a:ea typeface="Calibri" panose="020F0502020204030204" pitchFamily="34" charset="0"/>
                  <a:cs typeface="Calibri" panose="020F0502020204030204" pitchFamily="34" charset="0"/>
                </a:endParaRPr>
              </a:p>
              <a:p>
                <a:pPr algn="ctr" defTabSz="1152144">
                  <a:spcAft>
                    <a:spcPts val="600"/>
                  </a:spcAft>
                </a:pPr>
                <a:r>
                  <a:rPr lang="fr-FR" sz="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Nous devons identifier les pays les plus attractifs afin d’exporter nos poulets bio</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4" name="Graphique 3" descr="Bâtiment avec un remplissage uni">
            <a:extLst>
              <a:ext uri="{FF2B5EF4-FFF2-40B4-BE49-F238E27FC236}">
                <a16:creationId xmlns:a16="http://schemas.microsoft.com/office/drawing/2014/main" id="{2ED361B2-2098-AB8B-307A-E3619BE74B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70758" y="2774987"/>
            <a:ext cx="914400" cy="914400"/>
          </a:xfrm>
          <a:prstGeom prst="rect">
            <a:avLst/>
          </a:prstGeom>
        </p:spPr>
      </p:pic>
      <p:pic>
        <p:nvPicPr>
          <p:cNvPr id="10" name="Graphique 9" descr="Globe terrestre : Europe et Afrique avec un remplissage uni">
            <a:extLst>
              <a:ext uri="{FF2B5EF4-FFF2-40B4-BE49-F238E27FC236}">
                <a16:creationId xmlns:a16="http://schemas.microsoft.com/office/drawing/2014/main" id="{15112BEC-288A-A5D1-19D4-D651A32E05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2770633"/>
            <a:ext cx="914400" cy="914400"/>
          </a:xfrm>
          <a:prstGeom prst="rect">
            <a:avLst/>
          </a:prstGeom>
        </p:spPr>
      </p:pic>
      <p:pic>
        <p:nvPicPr>
          <p:cNvPr id="28" name="Graphique 27" descr="Statistiques contour">
            <a:extLst>
              <a:ext uri="{FF2B5EF4-FFF2-40B4-BE49-F238E27FC236}">
                <a16:creationId xmlns:a16="http://schemas.microsoft.com/office/drawing/2014/main" id="{B10FCD49-AA63-269C-78B6-FB27A94140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6843" y="2770633"/>
            <a:ext cx="914400" cy="914400"/>
          </a:xfrm>
          <a:prstGeom prst="rect">
            <a:avLst/>
          </a:prstGeom>
        </p:spPr>
      </p:pic>
    </p:spTree>
    <p:extLst>
      <p:ext uri="{BB962C8B-B14F-4D97-AF65-F5344CB8AC3E}">
        <p14:creationId xmlns:p14="http://schemas.microsoft.com/office/powerpoint/2010/main" val="3277815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FE6441E5-2A53-FE85-EB3A-E670E806101E}"/>
              </a:ext>
            </a:extLst>
          </p:cNvPr>
          <p:cNvSpPr>
            <a:spLocks noGrp="1"/>
          </p:cNvSpPr>
          <p:nvPr>
            <p:ph type="title"/>
          </p:nvPr>
        </p:nvSpPr>
        <p:spPr>
          <a:xfrm>
            <a:off x="664028" y="278535"/>
            <a:ext cx="9895951" cy="1033669"/>
          </a:xfrm>
        </p:spPr>
        <p:txBody>
          <a:bodyPr>
            <a:normAutofit/>
          </a:bodyPr>
          <a:lstStyle/>
          <a:p>
            <a:r>
              <a:rPr lang="fr-FR" sz="3600" b="1" noProof="0" dirty="0">
                <a:solidFill>
                  <a:srgbClr val="FFFFFF"/>
                </a:solidFill>
              </a:rPr>
              <a:t>Les étapes</a:t>
            </a:r>
          </a:p>
        </p:txBody>
      </p:sp>
      <p:graphicFrame>
        <p:nvGraphicFramePr>
          <p:cNvPr id="4" name="Espace réservé du contenu 3">
            <a:extLst>
              <a:ext uri="{FF2B5EF4-FFF2-40B4-BE49-F238E27FC236}">
                <a16:creationId xmlns:a16="http://schemas.microsoft.com/office/drawing/2014/main" id="{C8EC51C4-F602-3C3E-EF44-C259005D69F9}"/>
              </a:ext>
            </a:extLst>
          </p:cNvPr>
          <p:cNvGraphicFramePr>
            <a:graphicFrameLocks noGrp="1"/>
          </p:cNvGraphicFramePr>
          <p:nvPr>
            <p:ph idx="1"/>
            <p:extLst>
              <p:ext uri="{D42A27DB-BD31-4B8C-83A1-F6EECF244321}">
                <p14:modId xmlns:p14="http://schemas.microsoft.com/office/powerpoint/2010/main" val="750357606"/>
              </p:ext>
            </p:extLst>
          </p:nvPr>
        </p:nvGraphicFramePr>
        <p:xfrm>
          <a:off x="320040" y="1875966"/>
          <a:ext cx="11551920" cy="46119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129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DC6C04-5EC4-B473-40D3-F599E7EE21FB}"/>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46F7DE02-3D01-CC0F-62DD-51100C11A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C504799A-DBF2-6C02-3389-498589EC1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BF8217E6-B9AD-C271-7BFC-AFB226BF8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22B3C213-4DD7-01CF-745E-B2185CA9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DB4E96B0-8022-B040-88AC-28C920DC5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26393D09-78E7-4E03-12B1-4A2E6A77E6C0}"/>
              </a:ext>
            </a:extLst>
          </p:cNvPr>
          <p:cNvSpPr>
            <a:spLocks noGrp="1"/>
          </p:cNvSpPr>
          <p:nvPr>
            <p:ph type="title"/>
          </p:nvPr>
        </p:nvSpPr>
        <p:spPr>
          <a:xfrm>
            <a:off x="699714" y="321728"/>
            <a:ext cx="10149261" cy="967956"/>
          </a:xfrm>
        </p:spPr>
        <p:txBody>
          <a:bodyPr vert="horz" lIns="91440" tIns="45720" rIns="91440" bIns="45720" rtlCol="0" anchor="ctr">
            <a:noAutofit/>
          </a:bodyPr>
          <a:lstStyle/>
          <a:p>
            <a:r>
              <a:rPr lang="fr-FR" sz="3600" b="1" noProof="0" dirty="0">
                <a:solidFill>
                  <a:schemeClr val="bg1"/>
                </a:solidFill>
              </a:rPr>
              <a:t>Nos sources</a:t>
            </a:r>
            <a:endParaRPr lang="fr-FR" sz="3600" noProof="0" dirty="0">
              <a:solidFill>
                <a:schemeClr val="bg1"/>
              </a:solidFill>
            </a:endParaRPr>
          </a:p>
        </p:txBody>
      </p:sp>
      <p:graphicFrame>
        <p:nvGraphicFramePr>
          <p:cNvPr id="9" name="Tableau 8">
            <a:extLst>
              <a:ext uri="{FF2B5EF4-FFF2-40B4-BE49-F238E27FC236}">
                <a16:creationId xmlns:a16="http://schemas.microsoft.com/office/drawing/2014/main" id="{7B72E9EF-9E1E-E644-199A-0BE19F7BEC97}"/>
              </a:ext>
            </a:extLst>
          </p:cNvPr>
          <p:cNvGraphicFramePr>
            <a:graphicFrameLocks noGrp="1"/>
          </p:cNvGraphicFramePr>
          <p:nvPr>
            <p:extLst>
              <p:ext uri="{D42A27DB-BD31-4B8C-83A1-F6EECF244321}">
                <p14:modId xmlns:p14="http://schemas.microsoft.com/office/powerpoint/2010/main" val="3780580067"/>
              </p:ext>
            </p:extLst>
          </p:nvPr>
        </p:nvGraphicFramePr>
        <p:xfrm>
          <a:off x="590169" y="3244035"/>
          <a:ext cx="11011662" cy="3349692"/>
        </p:xfrm>
        <a:graphic>
          <a:graphicData uri="http://schemas.openxmlformats.org/drawingml/2006/table">
            <a:tbl>
              <a:tblPr firstRow="1" bandRow="1">
                <a:tableStyleId>{5C22544A-7EE6-4342-B048-85BDC9FD1C3A}</a:tableStyleId>
              </a:tblPr>
              <a:tblGrid>
                <a:gridCol w="4642698">
                  <a:extLst>
                    <a:ext uri="{9D8B030D-6E8A-4147-A177-3AD203B41FA5}">
                      <a16:colId xmlns:a16="http://schemas.microsoft.com/office/drawing/2014/main" val="2043733424"/>
                    </a:ext>
                  </a:extLst>
                </a:gridCol>
                <a:gridCol w="6368964">
                  <a:extLst>
                    <a:ext uri="{9D8B030D-6E8A-4147-A177-3AD203B41FA5}">
                      <a16:colId xmlns:a16="http://schemas.microsoft.com/office/drawing/2014/main" val="3926004953"/>
                    </a:ext>
                  </a:extLst>
                </a:gridCol>
              </a:tblGrid>
              <a:tr h="405882">
                <a:tc>
                  <a:txBody>
                    <a:bodyPr/>
                    <a:lstStyle/>
                    <a:p>
                      <a:pPr algn="ctr"/>
                      <a:r>
                        <a:rPr lang="fr-FR" dirty="0"/>
                        <a:t>Fichiers</a:t>
                      </a:r>
                    </a:p>
                  </a:txBody>
                  <a:tcPr anchor="ctr">
                    <a:solidFill>
                      <a:srgbClr val="1A3A5C"/>
                    </a:solidFill>
                  </a:tcPr>
                </a:tc>
                <a:tc>
                  <a:txBody>
                    <a:bodyPr/>
                    <a:lstStyle/>
                    <a:p>
                      <a:pPr algn="ctr"/>
                      <a:r>
                        <a:rPr lang="fr-FR" dirty="0"/>
                        <a:t>Description</a:t>
                      </a:r>
                    </a:p>
                  </a:txBody>
                  <a:tcPr anchor="ctr">
                    <a:solidFill>
                      <a:srgbClr val="1A3A5C"/>
                    </a:solidFill>
                  </a:tcPr>
                </a:tc>
                <a:extLst>
                  <a:ext uri="{0D108BD9-81ED-4DB2-BD59-A6C34878D82A}">
                    <a16:rowId xmlns:a16="http://schemas.microsoft.com/office/drawing/2014/main" val="3954612623"/>
                  </a:ext>
                </a:extLst>
              </a:tr>
              <a:tr h="405882">
                <a:tc>
                  <a:txBody>
                    <a:bodyPr/>
                    <a:lstStyle/>
                    <a:p>
                      <a:r>
                        <a:rPr lang="fr-FR" sz="1200" dirty="0">
                          <a:solidFill>
                            <a:srgbClr val="1A3A5C"/>
                          </a:solidFill>
                        </a:rPr>
                        <a:t>DisponibilitéAlimentaire_2017.csv</a:t>
                      </a:r>
                    </a:p>
                  </a:txBody>
                  <a:tcPr anchor="ctr"/>
                </a:tc>
                <a:tc>
                  <a:txBody>
                    <a:bodyPr/>
                    <a:lstStyle/>
                    <a:p>
                      <a:r>
                        <a:rPr lang="fr-FR" sz="1200" dirty="0"/>
                        <a:t>Recense, entre autres choses, la production, les importations, les exportations et la disponibilité de nombreux produits alimentaire par pays et par années</a:t>
                      </a:r>
                    </a:p>
                  </a:txBody>
                  <a:tcPr anchor="ctr"/>
                </a:tc>
                <a:extLst>
                  <a:ext uri="{0D108BD9-81ED-4DB2-BD59-A6C34878D82A}">
                    <a16:rowId xmlns:a16="http://schemas.microsoft.com/office/drawing/2014/main" val="3583280184"/>
                  </a:ext>
                </a:extLst>
              </a:tr>
              <a:tr h="405882">
                <a:tc>
                  <a:txBody>
                    <a:bodyPr/>
                    <a:lstStyle/>
                    <a:p>
                      <a:r>
                        <a:rPr lang="fr-FR" sz="1200" dirty="0">
                          <a:solidFill>
                            <a:srgbClr val="1A3A5C"/>
                          </a:solidFill>
                        </a:rPr>
                        <a:t>Population.csv</a:t>
                      </a:r>
                    </a:p>
                  </a:txBody>
                  <a:tcPr anchor="ctr"/>
                </a:tc>
                <a:tc>
                  <a:txBody>
                    <a:bodyPr/>
                    <a:lstStyle/>
                    <a:p>
                      <a:r>
                        <a:rPr lang="fr-FR" sz="1200" dirty="0"/>
                        <a:t>Recense la population totale annuelle d’un pays (en milliers de personnes)</a:t>
                      </a:r>
                    </a:p>
                  </a:txBody>
                  <a:tcPr anchor="ctr"/>
                </a:tc>
                <a:extLst>
                  <a:ext uri="{0D108BD9-81ED-4DB2-BD59-A6C34878D82A}">
                    <a16:rowId xmlns:a16="http://schemas.microsoft.com/office/drawing/2014/main" val="2376294528"/>
                  </a:ext>
                </a:extLst>
              </a:tr>
              <a:tr h="405882">
                <a:tc>
                  <a:txBody>
                    <a:bodyPr/>
                    <a:lstStyle/>
                    <a:p>
                      <a:r>
                        <a:rPr lang="fr-FR" sz="1200" dirty="0">
                          <a:solidFill>
                            <a:srgbClr val="1A3A5C"/>
                          </a:solidFill>
                        </a:rPr>
                        <a:t>PoliticalStability.csv</a:t>
                      </a:r>
                    </a:p>
                  </a:txBody>
                  <a:tcPr anchor="ctr"/>
                </a:tc>
                <a:tc>
                  <a:txBody>
                    <a:bodyPr/>
                    <a:lstStyle/>
                    <a:p>
                      <a:r>
                        <a:rPr lang="fr-FR" sz="1200" dirty="0"/>
                        <a:t>Fait état de l’indice de stabilité politique des pays</a:t>
                      </a:r>
                    </a:p>
                  </a:txBody>
                  <a:tcPr anchor="ctr"/>
                </a:tc>
                <a:extLst>
                  <a:ext uri="{0D108BD9-81ED-4DB2-BD59-A6C34878D82A}">
                    <a16:rowId xmlns:a16="http://schemas.microsoft.com/office/drawing/2014/main" val="1660633782"/>
                  </a:ext>
                </a:extLst>
              </a:tr>
              <a:tr h="405882">
                <a:tc>
                  <a:txBody>
                    <a:bodyPr/>
                    <a:lstStyle/>
                    <a:p>
                      <a:r>
                        <a:rPr lang="fr-FR" sz="1200" dirty="0">
                          <a:solidFill>
                            <a:srgbClr val="1A3A5C"/>
                          </a:solidFill>
                        </a:rPr>
                        <a:t>geo_cepii.csv et dist_cepii.csv</a:t>
                      </a:r>
                    </a:p>
                  </a:txBody>
                  <a:tcPr anchor="ctr"/>
                </a:tc>
                <a:tc>
                  <a:txBody>
                    <a:bodyPr/>
                    <a:lstStyle/>
                    <a:p>
                      <a:r>
                        <a:rPr lang="fr-FR" sz="1200" dirty="0"/>
                        <a:t>Recensent les distances (en km) entre toutes les paires de pays de monde</a:t>
                      </a:r>
                    </a:p>
                  </a:txBody>
                  <a:tcPr anchor="ctr"/>
                </a:tc>
                <a:extLst>
                  <a:ext uri="{0D108BD9-81ED-4DB2-BD59-A6C34878D82A}">
                    <a16:rowId xmlns:a16="http://schemas.microsoft.com/office/drawing/2014/main" val="599002484"/>
                  </a:ext>
                </a:extLst>
              </a:tr>
              <a:tr h="405882">
                <a:tc>
                  <a:txBody>
                    <a:bodyPr/>
                    <a:lstStyle/>
                    <a:p>
                      <a:r>
                        <a:rPr lang="fr-FR" sz="1200" dirty="0">
                          <a:solidFill>
                            <a:srgbClr val="1A3A5C"/>
                          </a:solidFill>
                        </a:rPr>
                        <a:t>FAOSTAT_pib.csv</a:t>
                      </a:r>
                    </a:p>
                  </a:txBody>
                  <a:tcPr anchor="ctr"/>
                </a:tc>
                <a:tc>
                  <a:txBody>
                    <a:bodyPr/>
                    <a:lstStyle/>
                    <a:p>
                      <a:r>
                        <a:rPr lang="fr-FR" sz="1200" dirty="0"/>
                        <a:t>Contient le PIB par habitant</a:t>
                      </a:r>
                    </a:p>
                  </a:txBody>
                  <a:tcPr anchor="ctr"/>
                </a:tc>
                <a:extLst>
                  <a:ext uri="{0D108BD9-81ED-4DB2-BD59-A6C34878D82A}">
                    <a16:rowId xmlns:a16="http://schemas.microsoft.com/office/drawing/2014/main" val="2784156121"/>
                  </a:ext>
                </a:extLst>
              </a:tr>
              <a:tr h="405882">
                <a:tc>
                  <a:txBody>
                    <a:bodyPr/>
                    <a:lstStyle/>
                    <a:p>
                      <a:r>
                        <a:rPr lang="fr-FR" sz="1200" dirty="0">
                          <a:solidFill>
                            <a:srgbClr val="1A3A5C"/>
                          </a:solidFill>
                        </a:rPr>
                        <a:t>FAOSTAT_agriculture_biologique.csv</a:t>
                      </a:r>
                    </a:p>
                  </a:txBody>
                  <a:tcPr anchor="ctr"/>
                </a:tc>
                <a:tc>
                  <a:txBody>
                    <a:bodyPr/>
                    <a:lstStyle/>
                    <a:p>
                      <a:r>
                        <a:rPr lang="fr-FR" sz="1200" dirty="0"/>
                        <a:t>Fichier qui recense les surfaces agricoles sous différentes certifications biologiques (en milliers d’hectares)</a:t>
                      </a:r>
                    </a:p>
                  </a:txBody>
                  <a:tcPr anchor="ctr"/>
                </a:tc>
                <a:extLst>
                  <a:ext uri="{0D108BD9-81ED-4DB2-BD59-A6C34878D82A}">
                    <a16:rowId xmlns:a16="http://schemas.microsoft.com/office/drawing/2014/main" val="812759691"/>
                  </a:ext>
                </a:extLst>
              </a:tr>
              <a:tr h="405882">
                <a:tc>
                  <a:txBody>
                    <a:bodyPr/>
                    <a:lstStyle/>
                    <a:p>
                      <a:r>
                        <a:rPr lang="fr-FR" sz="1200" dirty="0">
                          <a:solidFill>
                            <a:srgbClr val="1A3A5C"/>
                          </a:solidFill>
                        </a:rPr>
                        <a:t>FAOSTAT_inflation.csv</a:t>
                      </a:r>
                    </a:p>
                  </a:txBody>
                  <a:tcPr anchor="ctr"/>
                </a:tc>
                <a:tc>
                  <a:txBody>
                    <a:bodyPr/>
                    <a:lstStyle/>
                    <a:p>
                      <a:r>
                        <a:rPr lang="fr-FR" sz="1200" dirty="0"/>
                        <a:t>Fait état l’inflation alimentaire mensuelle de pays</a:t>
                      </a:r>
                    </a:p>
                  </a:txBody>
                  <a:tcPr anchor="ctr"/>
                </a:tc>
                <a:extLst>
                  <a:ext uri="{0D108BD9-81ED-4DB2-BD59-A6C34878D82A}">
                    <a16:rowId xmlns:a16="http://schemas.microsoft.com/office/drawing/2014/main" val="246240619"/>
                  </a:ext>
                </a:extLst>
              </a:tr>
            </a:tbl>
          </a:graphicData>
        </a:graphic>
      </p:graphicFrame>
      <p:grpSp>
        <p:nvGrpSpPr>
          <p:cNvPr id="20" name="Groupe 19">
            <a:extLst>
              <a:ext uri="{FF2B5EF4-FFF2-40B4-BE49-F238E27FC236}">
                <a16:creationId xmlns:a16="http://schemas.microsoft.com/office/drawing/2014/main" id="{CE6EA4DD-6CF6-5D89-509A-E52397614326}"/>
              </a:ext>
            </a:extLst>
          </p:cNvPr>
          <p:cNvGrpSpPr/>
          <p:nvPr/>
        </p:nvGrpSpPr>
        <p:grpSpPr>
          <a:xfrm>
            <a:off x="177942" y="1897187"/>
            <a:ext cx="11836115" cy="905666"/>
            <a:chOff x="209818" y="1939824"/>
            <a:chExt cx="11836115" cy="905666"/>
          </a:xfrm>
        </p:grpSpPr>
        <p:grpSp>
          <p:nvGrpSpPr>
            <p:cNvPr id="3" name="Groupe 2">
              <a:extLst>
                <a:ext uri="{FF2B5EF4-FFF2-40B4-BE49-F238E27FC236}">
                  <a16:creationId xmlns:a16="http://schemas.microsoft.com/office/drawing/2014/main" id="{F6BEB2DD-C652-E4AF-08C0-0A61D77B1C6F}"/>
                </a:ext>
              </a:extLst>
            </p:cNvPr>
            <p:cNvGrpSpPr/>
            <p:nvPr/>
          </p:nvGrpSpPr>
          <p:grpSpPr>
            <a:xfrm>
              <a:off x="209818" y="1939824"/>
              <a:ext cx="2492902" cy="903017"/>
              <a:chOff x="1099185" y="2350770"/>
              <a:chExt cx="1965960" cy="1234440"/>
            </a:xfrm>
          </p:grpSpPr>
          <p:sp>
            <p:nvSpPr>
              <p:cNvPr id="4" name="Shape 2">
                <a:extLst>
                  <a:ext uri="{FF2B5EF4-FFF2-40B4-BE49-F238E27FC236}">
                    <a16:creationId xmlns:a16="http://schemas.microsoft.com/office/drawing/2014/main" id="{08F951D6-9A3D-0FF5-0523-8DC3B685CD96}"/>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a:extLst>
                  <a:ext uri="{FF2B5EF4-FFF2-40B4-BE49-F238E27FC236}">
                    <a16:creationId xmlns:a16="http://schemas.microsoft.com/office/drawing/2014/main" id="{6774FBA9-22CC-236C-4579-4806B02BA7EF}"/>
                  </a:ext>
                </a:extLst>
              </p:cNvPr>
              <p:cNvSpPr/>
              <p:nvPr/>
            </p:nvSpPr>
            <p:spPr>
              <a:xfrm>
                <a:off x="1099185" y="2414778"/>
                <a:ext cx="1965960" cy="685800"/>
              </a:xfrm>
              <a:prstGeom prst="rect">
                <a:avLst/>
              </a:prstGeom>
              <a:noFill/>
              <a:ln/>
            </p:spPr>
            <p:txBody>
              <a:bodyPr wrap="square" lIns="0" tIns="0" rIns="0" bIns="0" rtlCol="0" anchor="ctr"/>
              <a:lstStyle/>
              <a:p>
                <a:pPr algn="ctr" defTabSz="1152144">
                  <a:spcAft>
                    <a:spcPts val="600"/>
                  </a:spcAft>
                </a:pPr>
                <a:r>
                  <a:rPr lang="fr-FR" sz="2800" b="1" noProof="0" dirty="0">
                    <a:solidFill>
                      <a:srgbClr val="FFC000"/>
                    </a:solidFill>
                    <a:latin typeface="Calibri" panose="020F0502020204030204" pitchFamily="34" charset="0"/>
                    <a:ea typeface="Calibri" panose="020F0502020204030204" pitchFamily="34" charset="0"/>
                    <a:cs typeface="Calibri" panose="020F0502020204030204" pitchFamily="34" charset="0"/>
                  </a:rPr>
                  <a:t>108</a:t>
                </a:r>
                <a:endParaRPr lang="fr-FR" sz="2800" noProof="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 4">
                <a:extLst>
                  <a:ext uri="{FF2B5EF4-FFF2-40B4-BE49-F238E27FC236}">
                    <a16:creationId xmlns:a16="http://schemas.microsoft.com/office/drawing/2014/main" id="{8A23428A-E029-F612-BE93-B8581A147FFC}"/>
                  </a:ext>
                </a:extLst>
              </p:cNvPr>
              <p:cNvSpPr/>
              <p:nvPr/>
            </p:nvSpPr>
            <p:spPr>
              <a:xfrm>
                <a:off x="1099185" y="3100578"/>
                <a:ext cx="1965960" cy="384048"/>
              </a:xfrm>
              <a:prstGeom prst="rect">
                <a:avLst/>
              </a:prstGeom>
              <a:noFill/>
              <a:ln/>
            </p:spPr>
            <p:txBody>
              <a:bodyPr wrap="square" lIns="0" tIns="0" rIns="0" bIns="0" rtlCol="0" anchor="ctr"/>
              <a:lstStyle/>
              <a:p>
                <a:pPr algn="ctr" defTabSz="1152144">
                  <a:spcAft>
                    <a:spcPts val="600"/>
                  </a:spcAft>
                </a:pPr>
                <a:r>
                  <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rPr>
                  <a:t>p</a:t>
                </a:r>
                <a:r>
                  <a:rPr lang="fr-FR" sz="1200" noProof="0" dirty="0">
                    <a:solidFill>
                      <a:srgbClr val="AECFDF"/>
                    </a:solidFill>
                    <a:latin typeface="Calibri" panose="020F0502020204030204" pitchFamily="34" charset="0"/>
                    <a:ea typeface="Calibri" panose="020F0502020204030204" pitchFamily="34" charset="0"/>
                    <a:cs typeface="Calibri" panose="020F0502020204030204" pitchFamily="34" charset="0"/>
                  </a:rPr>
                  <a:t>ays retenus</a:t>
                </a:r>
                <a:endParaRPr lang="fr-FR" sz="1200" kern="1200" noProof="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7" name="Groupe 6">
              <a:extLst>
                <a:ext uri="{FF2B5EF4-FFF2-40B4-BE49-F238E27FC236}">
                  <a16:creationId xmlns:a16="http://schemas.microsoft.com/office/drawing/2014/main" id="{5912FA3D-0EDE-9F26-0FAA-B27AB9040846}"/>
                </a:ext>
              </a:extLst>
            </p:cNvPr>
            <p:cNvGrpSpPr/>
            <p:nvPr/>
          </p:nvGrpSpPr>
          <p:grpSpPr>
            <a:xfrm>
              <a:off x="3324221" y="1942473"/>
              <a:ext cx="2492904" cy="903017"/>
              <a:chOff x="3486150" y="2350770"/>
              <a:chExt cx="1965961" cy="1234440"/>
            </a:xfrm>
          </p:grpSpPr>
          <p:sp>
            <p:nvSpPr>
              <p:cNvPr id="8" name="Shape 5">
                <a:extLst>
                  <a:ext uri="{FF2B5EF4-FFF2-40B4-BE49-F238E27FC236}">
                    <a16:creationId xmlns:a16="http://schemas.microsoft.com/office/drawing/2014/main" id="{8EEF2F8D-4749-A733-CF23-A89FE1A5F9E4}"/>
                  </a:ext>
                </a:extLst>
              </p:cNvPr>
              <p:cNvSpPr/>
              <p:nvPr/>
            </p:nvSpPr>
            <p:spPr>
              <a:xfrm>
                <a:off x="3486151"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6">
                <a:extLst>
                  <a:ext uri="{FF2B5EF4-FFF2-40B4-BE49-F238E27FC236}">
                    <a16:creationId xmlns:a16="http://schemas.microsoft.com/office/drawing/2014/main" id="{7DE49C57-70C4-14A4-6B2B-63B5B25E6C44}"/>
                  </a:ext>
                </a:extLst>
              </p:cNvPr>
              <p:cNvSpPr/>
              <p:nvPr/>
            </p:nvSpPr>
            <p:spPr>
              <a:xfrm>
                <a:off x="3486150" y="2414778"/>
                <a:ext cx="1965960" cy="685800"/>
              </a:xfrm>
              <a:prstGeom prst="rect">
                <a:avLst/>
              </a:prstGeom>
              <a:noFill/>
              <a:ln/>
            </p:spPr>
            <p:txBody>
              <a:bodyPr wrap="square" lIns="0" tIns="0" rIns="0" bIns="0" rtlCol="0" anchor="ctr"/>
              <a:lstStyle/>
              <a:p>
                <a:pPr algn="ctr" defTabSz="1152144">
                  <a:spcAft>
                    <a:spcPts val="600"/>
                  </a:spcAft>
                </a:pPr>
                <a:r>
                  <a:rPr lang="fr-FR" sz="2800" b="1" noProof="0" dirty="0">
                    <a:solidFill>
                      <a:srgbClr val="FFC000"/>
                    </a:solidFill>
                    <a:latin typeface="Calibri" panose="020F0502020204030204" pitchFamily="34" charset="0"/>
                    <a:ea typeface="Calibri" panose="020F0502020204030204" pitchFamily="34" charset="0"/>
                    <a:cs typeface="Calibri" panose="020F0502020204030204" pitchFamily="34" charset="0"/>
                  </a:rPr>
                  <a:t>11</a:t>
                </a:r>
                <a:endParaRPr lang="fr-FR" sz="2800" noProof="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 7">
                <a:extLst>
                  <a:ext uri="{FF2B5EF4-FFF2-40B4-BE49-F238E27FC236}">
                    <a16:creationId xmlns:a16="http://schemas.microsoft.com/office/drawing/2014/main" id="{D576BF94-BB11-0525-2BFE-AE5BFC21E27D}"/>
                  </a:ext>
                </a:extLst>
              </p:cNvPr>
              <p:cNvSpPr/>
              <p:nvPr/>
            </p:nvSpPr>
            <p:spPr>
              <a:xfrm>
                <a:off x="3486150" y="3100578"/>
                <a:ext cx="1965960" cy="384048"/>
              </a:xfrm>
              <a:prstGeom prst="rect">
                <a:avLst/>
              </a:prstGeom>
              <a:noFill/>
              <a:ln/>
            </p:spPr>
            <p:txBody>
              <a:bodyPr wrap="square" lIns="0" tIns="0" rIns="0" bIns="0" rtlCol="0" anchor="ctr"/>
              <a:lstStyle/>
              <a:p>
                <a:pPr algn="ctr" defTabSz="1152144">
                  <a:spcAft>
                    <a:spcPts val="600"/>
                  </a:spcAft>
                </a:pPr>
                <a:r>
                  <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rPr>
                  <a:t>v</a:t>
                </a:r>
                <a:r>
                  <a:rPr lang="fr-FR" sz="1200" noProof="0" dirty="0">
                    <a:solidFill>
                      <a:srgbClr val="AECFDF"/>
                    </a:solidFill>
                    <a:latin typeface="Calibri" panose="020F0502020204030204" pitchFamily="34" charset="0"/>
                    <a:ea typeface="Calibri" panose="020F0502020204030204" pitchFamily="34" charset="0"/>
                    <a:cs typeface="Calibri" panose="020F0502020204030204" pitchFamily="34" charset="0"/>
                  </a:rPr>
                  <a:t>ariables étudiées</a:t>
                </a:r>
                <a:endParaRPr lang="fr-FR" sz="1200" kern="1200" noProof="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12" name="Groupe 11">
              <a:extLst>
                <a:ext uri="{FF2B5EF4-FFF2-40B4-BE49-F238E27FC236}">
                  <a16:creationId xmlns:a16="http://schemas.microsoft.com/office/drawing/2014/main" id="{5C75AD95-55BF-7642-5569-1AE87C0D1F04}"/>
                </a:ext>
              </a:extLst>
            </p:cNvPr>
            <p:cNvGrpSpPr/>
            <p:nvPr/>
          </p:nvGrpSpPr>
          <p:grpSpPr>
            <a:xfrm>
              <a:off x="9553030" y="1942472"/>
              <a:ext cx="2492903" cy="900369"/>
              <a:chOff x="6177915" y="2350770"/>
              <a:chExt cx="1965960" cy="1234440"/>
            </a:xfrm>
          </p:grpSpPr>
          <p:sp>
            <p:nvSpPr>
              <p:cNvPr id="13" name="Shape 8">
                <a:extLst>
                  <a:ext uri="{FF2B5EF4-FFF2-40B4-BE49-F238E27FC236}">
                    <a16:creationId xmlns:a16="http://schemas.microsoft.com/office/drawing/2014/main" id="{0CF6739F-86D7-E09C-3DFE-1580424F3EA0}"/>
                  </a:ext>
                </a:extLst>
              </p:cNvPr>
              <p:cNvSpPr/>
              <p:nvPr/>
            </p:nvSpPr>
            <p:spPr>
              <a:xfrm>
                <a:off x="617791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9">
                <a:extLst>
                  <a:ext uri="{FF2B5EF4-FFF2-40B4-BE49-F238E27FC236}">
                    <a16:creationId xmlns:a16="http://schemas.microsoft.com/office/drawing/2014/main" id="{311A7821-2487-DF88-8957-C01A3B63811D}"/>
                  </a:ext>
                </a:extLst>
              </p:cNvPr>
              <p:cNvSpPr/>
              <p:nvPr/>
            </p:nvSpPr>
            <p:spPr>
              <a:xfrm>
                <a:off x="6177915" y="2414778"/>
                <a:ext cx="1965960" cy="685800"/>
              </a:xfrm>
              <a:prstGeom prst="rect">
                <a:avLst/>
              </a:prstGeom>
              <a:noFill/>
              <a:ln/>
            </p:spPr>
            <p:txBody>
              <a:bodyPr wrap="square" lIns="0" tIns="0" rIns="0" bIns="0" rtlCol="0" anchor="ctr"/>
              <a:lstStyle/>
              <a:p>
                <a:pPr algn="ctr" defTabSz="1161288">
                  <a:spcAft>
                    <a:spcPts val="600"/>
                  </a:spcAft>
                </a:pPr>
                <a:r>
                  <a:rPr lang="fr-FR" sz="2800" b="1" dirty="0">
                    <a:solidFill>
                      <a:srgbClr val="FFC000"/>
                    </a:solidFill>
                    <a:latin typeface="Calibri" panose="020F0502020204030204" pitchFamily="34" charset="0"/>
                    <a:ea typeface="Calibri" panose="020F0502020204030204" pitchFamily="34" charset="0"/>
                    <a:cs typeface="Calibri" panose="020F0502020204030204" pitchFamily="34" charset="0"/>
                  </a:rPr>
                  <a:t>8</a:t>
                </a:r>
                <a:endParaRPr lang="fr-FR" sz="2800" noProof="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Text 10">
                <a:extLst>
                  <a:ext uri="{FF2B5EF4-FFF2-40B4-BE49-F238E27FC236}">
                    <a16:creationId xmlns:a16="http://schemas.microsoft.com/office/drawing/2014/main" id="{9EDDBC75-7AA3-CE6E-8CC1-BFB323A6DFDF}"/>
                  </a:ext>
                </a:extLst>
              </p:cNvPr>
              <p:cNvSpPr/>
              <p:nvPr/>
            </p:nvSpPr>
            <p:spPr>
              <a:xfrm>
                <a:off x="6177915" y="3100578"/>
                <a:ext cx="1965960" cy="384048"/>
              </a:xfrm>
              <a:prstGeom prst="rect">
                <a:avLst/>
              </a:prstGeom>
              <a:noFill/>
              <a:ln/>
            </p:spPr>
            <p:txBody>
              <a:bodyPr wrap="square" lIns="0" tIns="0" rIns="0" bIns="0" rtlCol="0" anchor="ctr"/>
              <a:lstStyle/>
              <a:p>
                <a:pPr algn="ctr" defTabSz="1161288">
                  <a:spcAft>
                    <a:spcPts val="600"/>
                  </a:spcAft>
                </a:pPr>
                <a:r>
                  <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rPr>
                  <a:t>f</a:t>
                </a:r>
                <a:r>
                  <a:rPr lang="fr-FR" sz="1200" noProof="0" dirty="0">
                    <a:solidFill>
                      <a:srgbClr val="AECFDF"/>
                    </a:solidFill>
                    <a:latin typeface="Calibri" panose="020F0502020204030204" pitchFamily="34" charset="0"/>
                    <a:ea typeface="Calibri" panose="020F0502020204030204" pitchFamily="34" charset="0"/>
                    <a:cs typeface="Calibri" panose="020F0502020204030204" pitchFamily="34" charset="0"/>
                  </a:rPr>
                  <a:t>ichiers de départ</a:t>
                </a:r>
                <a:endParaRPr lang="fr-FR" sz="1200" kern="1200" noProof="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16" name="Groupe 15">
              <a:extLst>
                <a:ext uri="{FF2B5EF4-FFF2-40B4-BE49-F238E27FC236}">
                  <a16:creationId xmlns:a16="http://schemas.microsoft.com/office/drawing/2014/main" id="{E7012860-B0E9-C9C9-FAFD-5F353CA17ADF}"/>
                </a:ext>
              </a:extLst>
            </p:cNvPr>
            <p:cNvGrpSpPr/>
            <p:nvPr/>
          </p:nvGrpSpPr>
          <p:grpSpPr>
            <a:xfrm>
              <a:off x="6438626" y="1942473"/>
              <a:ext cx="2492903" cy="900368"/>
              <a:chOff x="9184005" y="2350770"/>
              <a:chExt cx="1965960" cy="1234440"/>
            </a:xfrm>
          </p:grpSpPr>
          <p:sp>
            <p:nvSpPr>
              <p:cNvPr id="17" name="Shape 11">
                <a:extLst>
                  <a:ext uri="{FF2B5EF4-FFF2-40B4-BE49-F238E27FC236}">
                    <a16:creationId xmlns:a16="http://schemas.microsoft.com/office/drawing/2014/main" id="{100A9FEB-DE04-1774-3909-481A0D8F5A4D}"/>
                  </a:ext>
                </a:extLst>
              </p:cNvPr>
              <p:cNvSpPr/>
              <p:nvPr/>
            </p:nvSpPr>
            <p:spPr>
              <a:xfrm>
                <a:off x="918400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2">
                <a:extLst>
                  <a:ext uri="{FF2B5EF4-FFF2-40B4-BE49-F238E27FC236}">
                    <a16:creationId xmlns:a16="http://schemas.microsoft.com/office/drawing/2014/main" id="{5740DCCF-E9D7-8F86-A9F4-B53939BE08FE}"/>
                  </a:ext>
                </a:extLst>
              </p:cNvPr>
              <p:cNvSpPr/>
              <p:nvPr/>
            </p:nvSpPr>
            <p:spPr>
              <a:xfrm>
                <a:off x="9184005" y="2414778"/>
                <a:ext cx="1965960" cy="685800"/>
              </a:xfrm>
              <a:prstGeom prst="rect">
                <a:avLst/>
              </a:prstGeom>
              <a:noFill/>
              <a:ln/>
            </p:spPr>
            <p:txBody>
              <a:bodyPr wrap="square" lIns="0" tIns="0" rIns="0" bIns="0" rtlCol="0" anchor="ctr"/>
              <a:lstStyle/>
              <a:p>
                <a:pPr algn="ctr" defTabSz="1161288">
                  <a:spcAft>
                    <a:spcPts val="600"/>
                  </a:spcAft>
                </a:pPr>
                <a:r>
                  <a:rPr lang="fr-FR" sz="2800" b="1" dirty="0">
                    <a:solidFill>
                      <a:srgbClr val="FFC000"/>
                    </a:solidFill>
                    <a:latin typeface="Calibri" panose="020F0502020204030204" pitchFamily="34" charset="0"/>
                    <a:ea typeface="Calibri" panose="020F0502020204030204" pitchFamily="34" charset="0"/>
                    <a:cs typeface="Calibri" panose="020F0502020204030204" pitchFamily="34" charset="0"/>
                  </a:rPr>
                  <a:t>82.8 %</a:t>
                </a:r>
                <a:endParaRPr lang="fr-FR" sz="2800" noProof="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Text 13">
                <a:extLst>
                  <a:ext uri="{FF2B5EF4-FFF2-40B4-BE49-F238E27FC236}">
                    <a16:creationId xmlns:a16="http://schemas.microsoft.com/office/drawing/2014/main" id="{67BEE0D7-176D-736F-FE43-91F9307A3524}"/>
                  </a:ext>
                </a:extLst>
              </p:cNvPr>
              <p:cNvSpPr/>
              <p:nvPr/>
            </p:nvSpPr>
            <p:spPr>
              <a:xfrm>
                <a:off x="9184005" y="3100578"/>
                <a:ext cx="1965960" cy="384048"/>
              </a:xfrm>
              <a:prstGeom prst="rect">
                <a:avLst/>
              </a:prstGeom>
              <a:noFill/>
              <a:ln/>
            </p:spPr>
            <p:txBody>
              <a:bodyPr wrap="square" lIns="0" tIns="0" rIns="0" bIns="0" rtlCol="0" anchor="ctr"/>
              <a:lstStyle/>
              <a:p>
                <a:pPr algn="ctr" defTabSz="1161288">
                  <a:spcAft>
                    <a:spcPts val="600"/>
                  </a:spcAft>
                </a:pPr>
                <a:r>
                  <a:rPr lang="fr-FR" sz="1200" kern="1200" dirty="0">
                    <a:solidFill>
                      <a:srgbClr val="AECFDF"/>
                    </a:solidFill>
                    <a:latin typeface="Calibri" panose="020F0502020204030204" pitchFamily="34" charset="0"/>
                    <a:ea typeface="Calibri" panose="020F0502020204030204" pitchFamily="34" charset="0"/>
                    <a:cs typeface="Calibri" panose="020F0502020204030204" pitchFamily="34" charset="0"/>
                  </a:rPr>
                  <a:t>de la population m</a:t>
                </a:r>
                <a:r>
                  <a:rPr lang="fr-FR" sz="1200" dirty="0">
                    <a:solidFill>
                      <a:srgbClr val="AECFDF"/>
                    </a:solidFill>
                    <a:latin typeface="Calibri" panose="020F0502020204030204" pitchFamily="34" charset="0"/>
                    <a:ea typeface="Calibri" panose="020F0502020204030204" pitchFamily="34" charset="0"/>
                    <a:cs typeface="Calibri" panose="020F0502020204030204" pitchFamily="34" charset="0"/>
                  </a:rPr>
                  <a:t>ondiale couverte</a:t>
                </a:r>
                <a:endParaRPr lang="fr-FR" sz="1200" kern="1200" noProof="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51030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71FE54-050F-0DD5-6FCC-D8A512C10349}"/>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BA3B0F3-18B7-7A57-65F9-2735CF4E0D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239DB088-1FAE-295C-531A-1E6F41487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92107718-655E-6366-7C67-3C9F49F00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C3D44C78-1A7F-B3DF-8E31-74C98F83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E8CB0C5E-59E1-67B3-44EF-B7BDD3CBC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80301EC1-04DD-033B-1735-010F31454F36}"/>
              </a:ext>
            </a:extLst>
          </p:cNvPr>
          <p:cNvSpPr>
            <a:spLocks noGrp="1"/>
          </p:cNvSpPr>
          <p:nvPr>
            <p:ph type="title"/>
          </p:nvPr>
        </p:nvSpPr>
        <p:spPr>
          <a:xfrm>
            <a:off x="699714" y="321728"/>
            <a:ext cx="10149261" cy="967956"/>
          </a:xfrm>
        </p:spPr>
        <p:txBody>
          <a:bodyPr vert="horz" lIns="91440" tIns="45720" rIns="91440" bIns="45720" rtlCol="0" anchor="ctr">
            <a:noAutofit/>
          </a:bodyPr>
          <a:lstStyle/>
          <a:p>
            <a:r>
              <a:rPr lang="fr-FR" sz="3600" b="1" noProof="0" dirty="0">
                <a:solidFill>
                  <a:schemeClr val="bg1"/>
                </a:solidFill>
              </a:rPr>
              <a:t>Nos données</a:t>
            </a:r>
            <a:endParaRPr lang="fr-FR" sz="3600" noProof="0" dirty="0">
              <a:solidFill>
                <a:schemeClr val="bg1"/>
              </a:solidFill>
            </a:endParaRPr>
          </a:p>
        </p:txBody>
      </p:sp>
      <p:graphicFrame>
        <p:nvGraphicFramePr>
          <p:cNvPr id="9" name="Tableau 8">
            <a:extLst>
              <a:ext uri="{FF2B5EF4-FFF2-40B4-BE49-F238E27FC236}">
                <a16:creationId xmlns:a16="http://schemas.microsoft.com/office/drawing/2014/main" id="{4497F257-59D4-DADF-630C-77642D8EDBB7}"/>
              </a:ext>
            </a:extLst>
          </p:cNvPr>
          <p:cNvGraphicFramePr>
            <a:graphicFrameLocks noGrp="1"/>
          </p:cNvGraphicFramePr>
          <p:nvPr>
            <p:extLst>
              <p:ext uri="{D42A27DB-BD31-4B8C-83A1-F6EECF244321}">
                <p14:modId xmlns:p14="http://schemas.microsoft.com/office/powerpoint/2010/main" val="2901979548"/>
              </p:ext>
            </p:extLst>
          </p:nvPr>
        </p:nvGraphicFramePr>
        <p:xfrm>
          <a:off x="590169" y="1897186"/>
          <a:ext cx="11011662" cy="4639084"/>
        </p:xfrm>
        <a:graphic>
          <a:graphicData uri="http://schemas.openxmlformats.org/drawingml/2006/table">
            <a:tbl>
              <a:tblPr firstRow="1" bandRow="1">
                <a:tableStyleId>{5C22544A-7EE6-4342-B048-85BDC9FD1C3A}</a:tableStyleId>
              </a:tblPr>
              <a:tblGrid>
                <a:gridCol w="4642698">
                  <a:extLst>
                    <a:ext uri="{9D8B030D-6E8A-4147-A177-3AD203B41FA5}">
                      <a16:colId xmlns:a16="http://schemas.microsoft.com/office/drawing/2014/main" val="2043733424"/>
                    </a:ext>
                  </a:extLst>
                </a:gridCol>
                <a:gridCol w="6368964">
                  <a:extLst>
                    <a:ext uri="{9D8B030D-6E8A-4147-A177-3AD203B41FA5}">
                      <a16:colId xmlns:a16="http://schemas.microsoft.com/office/drawing/2014/main" val="3926004953"/>
                    </a:ext>
                  </a:extLst>
                </a:gridCol>
              </a:tblGrid>
              <a:tr h="403511">
                <a:tc>
                  <a:txBody>
                    <a:bodyPr/>
                    <a:lstStyle/>
                    <a:p>
                      <a:pPr algn="ctr"/>
                      <a:r>
                        <a:rPr lang="fr-FR" dirty="0"/>
                        <a:t>Variable</a:t>
                      </a:r>
                    </a:p>
                  </a:txBody>
                  <a:tcPr anchor="ctr">
                    <a:solidFill>
                      <a:srgbClr val="1A3A5C"/>
                    </a:solidFill>
                  </a:tcPr>
                </a:tc>
                <a:tc>
                  <a:txBody>
                    <a:bodyPr/>
                    <a:lstStyle/>
                    <a:p>
                      <a:pPr algn="ctr"/>
                      <a:r>
                        <a:rPr lang="fr-FR" dirty="0"/>
                        <a:t>Description</a:t>
                      </a:r>
                    </a:p>
                  </a:txBody>
                  <a:tcPr anchor="ctr">
                    <a:solidFill>
                      <a:srgbClr val="1A3A5C"/>
                    </a:solidFill>
                  </a:tcPr>
                </a:tc>
                <a:extLst>
                  <a:ext uri="{0D108BD9-81ED-4DB2-BD59-A6C34878D82A}">
                    <a16:rowId xmlns:a16="http://schemas.microsoft.com/office/drawing/2014/main" val="3954612623"/>
                  </a:ext>
                </a:extLst>
              </a:tr>
              <a:tr h="504388">
                <a:tc>
                  <a:txBody>
                    <a:bodyPr/>
                    <a:lstStyle/>
                    <a:p>
                      <a:r>
                        <a:rPr lang="fr-FR" sz="1200" b="0" i="0" kern="1200" dirty="0">
                          <a:solidFill>
                            <a:schemeClr val="dk1"/>
                          </a:solidFill>
                          <a:effectLst/>
                          <a:latin typeface="+mn-lt"/>
                          <a:ea typeface="+mn-ea"/>
                          <a:cs typeface="+mn-cs"/>
                        </a:rPr>
                        <a:t>volailles_dispo_alimentaire_kcal_pers_j</a:t>
                      </a:r>
                      <a:endParaRPr lang="fr-FR" sz="1200" b="0" dirty="0">
                        <a:solidFill>
                          <a:srgbClr val="1A3A5C"/>
                        </a:solidFill>
                      </a:endParaRPr>
                    </a:p>
                  </a:txBody>
                  <a:tcPr anchor="ctr"/>
                </a:tc>
                <a:tc>
                  <a:txBody>
                    <a:bodyPr/>
                    <a:lstStyle/>
                    <a:p>
                      <a:r>
                        <a:rPr lang="fr-FR" sz="1200" dirty="0"/>
                        <a:t>Disponibilité alimentaire de viande de volaille par personne et par jour</a:t>
                      </a:r>
                    </a:p>
                  </a:txBody>
                  <a:tcPr anchor="ctr"/>
                </a:tc>
                <a:extLst>
                  <a:ext uri="{0D108BD9-81ED-4DB2-BD59-A6C34878D82A}">
                    <a16:rowId xmlns:a16="http://schemas.microsoft.com/office/drawing/2014/main" val="3583280184"/>
                  </a:ext>
                </a:extLst>
              </a:tr>
              <a:tr h="358533">
                <a:tc>
                  <a:txBody>
                    <a:bodyPr/>
                    <a:lstStyle/>
                    <a:p>
                      <a:r>
                        <a:rPr lang="fr-FR" sz="1200" b="0" i="0" kern="1200" dirty="0">
                          <a:solidFill>
                            <a:srgbClr val="072540"/>
                          </a:solidFill>
                          <a:effectLst/>
                          <a:latin typeface="+mn-lt"/>
                          <a:ea typeface="+mn-ea"/>
                          <a:cs typeface="+mn-cs"/>
                        </a:rPr>
                        <a:t>volailles_dispo_interieure</a:t>
                      </a:r>
                      <a:endParaRPr lang="fr-FR" sz="1200" b="0" dirty="0">
                        <a:solidFill>
                          <a:srgbClr val="072540"/>
                        </a:solidFill>
                      </a:endParaRPr>
                    </a:p>
                  </a:txBody>
                  <a:tcPr anchor="ctr"/>
                </a:tc>
                <a:tc>
                  <a:txBody>
                    <a:bodyPr/>
                    <a:lstStyle/>
                    <a:p>
                      <a:r>
                        <a:rPr lang="fr-FR" sz="1200" dirty="0"/>
                        <a:t>Volume total de viande de volaille disponible </a:t>
                      </a:r>
                    </a:p>
                  </a:txBody>
                  <a:tcPr anchor="ctr"/>
                </a:tc>
                <a:extLst>
                  <a:ext uri="{0D108BD9-81ED-4DB2-BD59-A6C34878D82A}">
                    <a16:rowId xmlns:a16="http://schemas.microsoft.com/office/drawing/2014/main" val="2376294528"/>
                  </a:ext>
                </a:extLst>
              </a:tr>
              <a:tr h="358533">
                <a:tc>
                  <a:txBody>
                    <a:bodyPr/>
                    <a:lstStyle/>
                    <a:p>
                      <a:r>
                        <a:rPr lang="fr-FR" sz="1200" b="0" i="0" kern="1200" dirty="0">
                          <a:solidFill>
                            <a:schemeClr val="dk1"/>
                          </a:solidFill>
                          <a:effectLst/>
                          <a:latin typeface="+mn-lt"/>
                          <a:ea typeface="+mn-ea"/>
                          <a:cs typeface="+mn-cs"/>
                        </a:rPr>
                        <a:t>volailles_exportations</a:t>
                      </a:r>
                      <a:endParaRPr lang="fr-FR" sz="1200" b="0" dirty="0">
                        <a:solidFill>
                          <a:srgbClr val="1A3A5C"/>
                        </a:solidFill>
                      </a:endParaRPr>
                    </a:p>
                  </a:txBody>
                  <a:tcPr anchor="ctr"/>
                </a:tc>
                <a:tc>
                  <a:txBody>
                    <a:bodyPr/>
                    <a:lstStyle/>
                    <a:p>
                      <a:r>
                        <a:rPr lang="fr-FR" sz="1200" dirty="0"/>
                        <a:t>Volume total de viande de volaille exporté par un pays</a:t>
                      </a:r>
                    </a:p>
                  </a:txBody>
                  <a:tcPr anchor="ctr"/>
                </a:tc>
                <a:extLst>
                  <a:ext uri="{0D108BD9-81ED-4DB2-BD59-A6C34878D82A}">
                    <a16:rowId xmlns:a16="http://schemas.microsoft.com/office/drawing/2014/main" val="3177427597"/>
                  </a:ext>
                </a:extLst>
              </a:tr>
              <a:tr h="358533">
                <a:tc>
                  <a:txBody>
                    <a:bodyPr/>
                    <a:lstStyle/>
                    <a:p>
                      <a:r>
                        <a:rPr lang="fr-FR" sz="1200" b="0" i="0" kern="1200" dirty="0">
                          <a:solidFill>
                            <a:schemeClr val="dk1"/>
                          </a:solidFill>
                          <a:effectLst/>
                          <a:latin typeface="+mn-lt"/>
                          <a:ea typeface="+mn-ea"/>
                          <a:cs typeface="+mn-cs"/>
                        </a:rPr>
                        <a:t>volailles_importations</a:t>
                      </a:r>
                      <a:endParaRPr lang="fr-FR" sz="1200" b="0" dirty="0">
                        <a:solidFill>
                          <a:srgbClr val="072540"/>
                        </a:solidFill>
                      </a:endParaRPr>
                    </a:p>
                  </a:txBody>
                  <a:tcPr anchor="ctr"/>
                </a:tc>
                <a:tc>
                  <a:txBody>
                    <a:bodyPr/>
                    <a:lstStyle/>
                    <a:p>
                      <a:r>
                        <a:rPr lang="fr-FR" sz="1200" dirty="0"/>
                        <a:t>Volume total de viande de volaille importé par un pays</a:t>
                      </a:r>
                    </a:p>
                  </a:txBody>
                  <a:tcPr anchor="ctr"/>
                </a:tc>
                <a:extLst>
                  <a:ext uri="{0D108BD9-81ED-4DB2-BD59-A6C34878D82A}">
                    <a16:rowId xmlns:a16="http://schemas.microsoft.com/office/drawing/2014/main" val="1660633782"/>
                  </a:ext>
                </a:extLst>
              </a:tr>
              <a:tr h="358533">
                <a:tc>
                  <a:txBody>
                    <a:bodyPr/>
                    <a:lstStyle/>
                    <a:p>
                      <a:r>
                        <a:rPr lang="fr-FR" sz="1200" b="0" i="0" kern="1200" dirty="0">
                          <a:solidFill>
                            <a:schemeClr val="dk1"/>
                          </a:solidFill>
                          <a:effectLst/>
                          <a:latin typeface="+mn-lt"/>
                          <a:ea typeface="+mn-ea"/>
                          <a:cs typeface="+mn-cs"/>
                        </a:rPr>
                        <a:t>volailles_production</a:t>
                      </a:r>
                      <a:endParaRPr lang="fr-FR" sz="1200" b="0" dirty="0">
                        <a:solidFill>
                          <a:srgbClr val="1A3A5C"/>
                        </a:solidFill>
                      </a:endParaRPr>
                    </a:p>
                  </a:txBody>
                  <a:tcPr anchor="ctr"/>
                </a:tc>
                <a:tc>
                  <a:txBody>
                    <a:bodyPr/>
                    <a:lstStyle/>
                    <a:p>
                      <a:r>
                        <a:rPr lang="fr-FR" sz="1200" dirty="0"/>
                        <a:t>Volume de volaille produit par un pays</a:t>
                      </a:r>
                    </a:p>
                  </a:txBody>
                  <a:tcPr anchor="ctr"/>
                </a:tc>
                <a:extLst>
                  <a:ext uri="{0D108BD9-81ED-4DB2-BD59-A6C34878D82A}">
                    <a16:rowId xmlns:a16="http://schemas.microsoft.com/office/drawing/2014/main" val="3096905458"/>
                  </a:ext>
                </a:extLst>
              </a:tr>
              <a:tr h="358533">
                <a:tc>
                  <a:txBody>
                    <a:bodyPr/>
                    <a:lstStyle/>
                    <a:p>
                      <a:r>
                        <a:rPr lang="fr-FR" sz="1200" b="0" i="0" kern="1200" dirty="0">
                          <a:solidFill>
                            <a:schemeClr val="dk1"/>
                          </a:solidFill>
                          <a:effectLst/>
                          <a:latin typeface="+mn-lt"/>
                          <a:ea typeface="+mn-ea"/>
                          <a:cs typeface="+mn-cs"/>
                        </a:rPr>
                        <a:t>population</a:t>
                      </a:r>
                      <a:endParaRPr lang="fr-FR" sz="1200" b="0" dirty="0">
                        <a:solidFill>
                          <a:srgbClr val="1A3A5C"/>
                        </a:solidFill>
                      </a:endParaRPr>
                    </a:p>
                  </a:txBody>
                  <a:tcPr anchor="ctr"/>
                </a:tc>
                <a:tc>
                  <a:txBody>
                    <a:bodyPr/>
                    <a:lstStyle/>
                    <a:p>
                      <a:r>
                        <a:rPr lang="fr-FR" sz="1200" dirty="0"/>
                        <a:t>Population totale d’un pays</a:t>
                      </a:r>
                    </a:p>
                  </a:txBody>
                  <a:tcPr anchor="ctr"/>
                </a:tc>
                <a:extLst>
                  <a:ext uri="{0D108BD9-81ED-4DB2-BD59-A6C34878D82A}">
                    <a16:rowId xmlns:a16="http://schemas.microsoft.com/office/drawing/2014/main" val="599002484"/>
                  </a:ext>
                </a:extLst>
              </a:tr>
              <a:tr h="358533">
                <a:tc>
                  <a:txBody>
                    <a:bodyPr/>
                    <a:lstStyle/>
                    <a:p>
                      <a:r>
                        <a:rPr lang="fr-FR" sz="1200" b="0" i="0" kern="1200" dirty="0">
                          <a:solidFill>
                            <a:schemeClr val="dk1"/>
                          </a:solidFill>
                          <a:effectLst/>
                          <a:latin typeface="+mn-lt"/>
                          <a:ea typeface="+mn-ea"/>
                          <a:cs typeface="+mn-cs"/>
                        </a:rPr>
                        <a:t>stabilite_politique</a:t>
                      </a:r>
                      <a:endParaRPr lang="fr-FR" sz="1200" b="0" dirty="0">
                        <a:solidFill>
                          <a:srgbClr val="1A3A5C"/>
                        </a:solidFill>
                      </a:endParaRPr>
                    </a:p>
                  </a:txBody>
                  <a:tcPr anchor="ctr"/>
                </a:tc>
                <a:tc>
                  <a:txBody>
                    <a:bodyPr/>
                    <a:lstStyle/>
                    <a:p>
                      <a:r>
                        <a:rPr lang="fr-FR" sz="1200" dirty="0"/>
                        <a:t>Stabilité politique d’un pays</a:t>
                      </a:r>
                    </a:p>
                  </a:txBody>
                  <a:tcPr anchor="ctr"/>
                </a:tc>
                <a:extLst>
                  <a:ext uri="{0D108BD9-81ED-4DB2-BD59-A6C34878D82A}">
                    <a16:rowId xmlns:a16="http://schemas.microsoft.com/office/drawing/2014/main" val="371422412"/>
                  </a:ext>
                </a:extLst>
              </a:tr>
              <a:tr h="358533">
                <a:tc>
                  <a:txBody>
                    <a:bodyPr/>
                    <a:lstStyle/>
                    <a:p>
                      <a:r>
                        <a:rPr lang="fr-FR" sz="1200" b="0" i="0" kern="1200" dirty="0">
                          <a:solidFill>
                            <a:schemeClr val="dk1"/>
                          </a:solidFill>
                          <a:effectLst/>
                          <a:latin typeface="+mn-lt"/>
                          <a:ea typeface="+mn-ea"/>
                          <a:cs typeface="+mn-cs"/>
                        </a:rPr>
                        <a:t>distance</a:t>
                      </a:r>
                      <a:endParaRPr lang="fr-FR" sz="1200" b="0" dirty="0">
                        <a:solidFill>
                          <a:srgbClr val="1A3A5C"/>
                        </a:solidFill>
                      </a:endParaRPr>
                    </a:p>
                  </a:txBody>
                  <a:tcPr anchor="ctr"/>
                </a:tc>
                <a:tc>
                  <a:txBody>
                    <a:bodyPr/>
                    <a:lstStyle/>
                    <a:p>
                      <a:r>
                        <a:rPr lang="fr-FR" sz="1200" dirty="0"/>
                        <a:t>Distance depuis la France en kms</a:t>
                      </a:r>
                    </a:p>
                  </a:txBody>
                  <a:tcPr anchor="ctr"/>
                </a:tc>
                <a:extLst>
                  <a:ext uri="{0D108BD9-81ED-4DB2-BD59-A6C34878D82A}">
                    <a16:rowId xmlns:a16="http://schemas.microsoft.com/office/drawing/2014/main" val="2410008676"/>
                  </a:ext>
                </a:extLst>
              </a:tr>
              <a:tr h="358533">
                <a:tc>
                  <a:txBody>
                    <a:bodyPr/>
                    <a:lstStyle/>
                    <a:p>
                      <a:r>
                        <a:rPr lang="fr-FR" sz="1200" b="0" i="0" kern="1200" dirty="0">
                          <a:solidFill>
                            <a:schemeClr val="dk1"/>
                          </a:solidFill>
                          <a:effectLst/>
                          <a:latin typeface="+mn-lt"/>
                          <a:ea typeface="+mn-ea"/>
                          <a:cs typeface="+mn-cs"/>
                        </a:rPr>
                        <a:t>pib_habitant</a:t>
                      </a:r>
                      <a:endParaRPr lang="fr-FR" sz="1200" b="0" dirty="0">
                        <a:solidFill>
                          <a:srgbClr val="1A3A5C"/>
                        </a:solidFill>
                      </a:endParaRPr>
                    </a:p>
                  </a:txBody>
                  <a:tcPr anchor="ctr"/>
                </a:tc>
                <a:tc>
                  <a:txBody>
                    <a:bodyPr/>
                    <a:lstStyle/>
                    <a:p>
                      <a:r>
                        <a:rPr lang="fr-FR" sz="1200" dirty="0"/>
                        <a:t>PIB par habitant. Traduit le pouvoir d’achat des consommateurs</a:t>
                      </a:r>
                    </a:p>
                  </a:txBody>
                  <a:tcPr anchor="ctr"/>
                </a:tc>
                <a:extLst>
                  <a:ext uri="{0D108BD9-81ED-4DB2-BD59-A6C34878D82A}">
                    <a16:rowId xmlns:a16="http://schemas.microsoft.com/office/drawing/2014/main" val="2784156121"/>
                  </a:ext>
                </a:extLst>
              </a:tr>
              <a:tr h="504388">
                <a:tc>
                  <a:txBody>
                    <a:bodyPr/>
                    <a:lstStyle/>
                    <a:p>
                      <a:r>
                        <a:rPr lang="fr-FR" sz="1200" b="0" i="0" kern="1200" dirty="0">
                          <a:solidFill>
                            <a:schemeClr val="dk1"/>
                          </a:solidFill>
                          <a:effectLst/>
                          <a:latin typeface="+mn-lt"/>
                          <a:ea typeface="+mn-ea"/>
                          <a:cs typeface="+mn-cs"/>
                        </a:rPr>
                        <a:t>surface_bio_1000_ha</a:t>
                      </a:r>
                      <a:endParaRPr lang="fr-FR" sz="1200" b="0" dirty="0">
                        <a:solidFill>
                          <a:srgbClr val="1A3A5C"/>
                        </a:solidFill>
                      </a:endParaRPr>
                    </a:p>
                  </a:txBody>
                  <a:tcPr anchor="ctr"/>
                </a:tc>
                <a:tc>
                  <a:txBody>
                    <a:bodyPr/>
                    <a:lstStyle/>
                    <a:p>
                      <a:r>
                        <a:rPr lang="fr-FR" sz="1200" dirty="0"/>
                        <a:t>Surface dédiée à l’agriculture biologique. Peut aider à inférer la maturité du marché bio dans un pays</a:t>
                      </a:r>
                    </a:p>
                  </a:txBody>
                  <a:tcPr anchor="ctr"/>
                </a:tc>
                <a:extLst>
                  <a:ext uri="{0D108BD9-81ED-4DB2-BD59-A6C34878D82A}">
                    <a16:rowId xmlns:a16="http://schemas.microsoft.com/office/drawing/2014/main" val="812759691"/>
                  </a:ext>
                </a:extLst>
              </a:tr>
              <a:tr h="358533">
                <a:tc>
                  <a:txBody>
                    <a:bodyPr/>
                    <a:lstStyle/>
                    <a:p>
                      <a:r>
                        <a:rPr lang="fr-FR" sz="1200" b="0" i="0" kern="1200" dirty="0">
                          <a:solidFill>
                            <a:schemeClr val="dk1"/>
                          </a:solidFill>
                          <a:effectLst/>
                          <a:latin typeface="+mn-lt"/>
                          <a:ea typeface="+mn-ea"/>
                          <a:cs typeface="+mn-cs"/>
                        </a:rPr>
                        <a:t>inflation_alimentaire</a:t>
                      </a:r>
                      <a:endParaRPr lang="fr-FR" sz="1200" b="0" dirty="0">
                        <a:solidFill>
                          <a:srgbClr val="1A3A5C"/>
                        </a:solidFill>
                      </a:endParaRPr>
                    </a:p>
                  </a:txBody>
                  <a:tcPr anchor="ctr"/>
                </a:tc>
                <a:tc>
                  <a:txBody>
                    <a:bodyPr/>
                    <a:lstStyle/>
                    <a:p>
                      <a:r>
                        <a:rPr lang="fr-FR" sz="1200" dirty="0"/>
                        <a:t>Moyenne de l’inflation alimentaire par mois sur l’année 2017 par pays</a:t>
                      </a:r>
                    </a:p>
                  </a:txBody>
                  <a:tcPr anchor="ctr"/>
                </a:tc>
                <a:extLst>
                  <a:ext uri="{0D108BD9-81ED-4DB2-BD59-A6C34878D82A}">
                    <a16:rowId xmlns:a16="http://schemas.microsoft.com/office/drawing/2014/main" val="246240619"/>
                  </a:ext>
                </a:extLst>
              </a:tr>
            </a:tbl>
          </a:graphicData>
        </a:graphic>
      </p:graphicFrame>
    </p:spTree>
    <p:extLst>
      <p:ext uri="{BB962C8B-B14F-4D97-AF65-F5344CB8AC3E}">
        <p14:creationId xmlns:p14="http://schemas.microsoft.com/office/powerpoint/2010/main" val="3226180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76C2A1-53BB-BAAD-39A2-F9DBE6CA3FFF}"/>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ED2232C8-8DE3-8658-D149-A41460CAB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6465E5A3-F032-E7E5-BC23-4B987660A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8882CD7B-1CA3-FC48-925B-B6C13F439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B189CF22-7DF5-8E32-4346-6ACFB695B5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19044593-1265-5684-A192-6D9FC6572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9A2F3695-CB32-2154-6B8F-53AF9323D066}"/>
              </a:ext>
            </a:extLst>
          </p:cNvPr>
          <p:cNvSpPr>
            <a:spLocks noGrp="1"/>
          </p:cNvSpPr>
          <p:nvPr>
            <p:ph type="title"/>
          </p:nvPr>
        </p:nvSpPr>
        <p:spPr>
          <a:xfrm>
            <a:off x="699714" y="321728"/>
            <a:ext cx="10149261" cy="967956"/>
          </a:xfrm>
        </p:spPr>
        <p:txBody>
          <a:bodyPr vert="horz" lIns="91440" tIns="45720" rIns="91440" bIns="45720" rtlCol="0" anchor="ctr">
            <a:noAutofit/>
          </a:bodyPr>
          <a:lstStyle/>
          <a:p>
            <a:r>
              <a:rPr lang="fr-FR" sz="3600" b="1" noProof="0" dirty="0">
                <a:solidFill>
                  <a:schemeClr val="bg1"/>
                </a:solidFill>
              </a:rPr>
              <a:t>4 grands critères de différenciation (composantes)</a:t>
            </a:r>
            <a:endParaRPr lang="fr-FR" sz="3600" noProof="0" dirty="0">
              <a:solidFill>
                <a:schemeClr val="bg1"/>
              </a:solidFill>
            </a:endParaRPr>
          </a:p>
        </p:txBody>
      </p:sp>
      <p:grpSp>
        <p:nvGrpSpPr>
          <p:cNvPr id="21" name="Groupe 20">
            <a:extLst>
              <a:ext uri="{FF2B5EF4-FFF2-40B4-BE49-F238E27FC236}">
                <a16:creationId xmlns:a16="http://schemas.microsoft.com/office/drawing/2014/main" id="{673BC5BA-1871-5530-3C29-BC195C4CCE3D}"/>
              </a:ext>
            </a:extLst>
          </p:cNvPr>
          <p:cNvGrpSpPr/>
          <p:nvPr/>
        </p:nvGrpSpPr>
        <p:grpSpPr>
          <a:xfrm>
            <a:off x="980440" y="2217928"/>
            <a:ext cx="4206240" cy="1719072"/>
            <a:chOff x="320040" y="1024128"/>
            <a:chExt cx="4206240" cy="1719072"/>
          </a:xfrm>
        </p:grpSpPr>
        <p:sp>
          <p:nvSpPr>
            <p:cNvPr id="22" name="Shape 2">
              <a:extLst>
                <a:ext uri="{FF2B5EF4-FFF2-40B4-BE49-F238E27FC236}">
                  <a16:creationId xmlns:a16="http://schemas.microsoft.com/office/drawing/2014/main" id="{69A79526-77E2-5F4D-6DB7-BCB8300A5425}"/>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23" name="Shape 3">
              <a:extLst>
                <a:ext uri="{FF2B5EF4-FFF2-40B4-BE49-F238E27FC236}">
                  <a16:creationId xmlns:a16="http://schemas.microsoft.com/office/drawing/2014/main" id="{CB4D45B0-4AD1-6894-82BB-6E105FAF414B}"/>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24" name="Text 5">
              <a:extLst>
                <a:ext uri="{FF2B5EF4-FFF2-40B4-BE49-F238E27FC236}">
                  <a16:creationId xmlns:a16="http://schemas.microsoft.com/office/drawing/2014/main" id="{8943C0C0-C752-9C49-CB28-3FDD1904CC91}"/>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25" name="Text 6">
              <a:extLst>
                <a:ext uri="{FF2B5EF4-FFF2-40B4-BE49-F238E27FC236}">
                  <a16:creationId xmlns:a16="http://schemas.microsoft.com/office/drawing/2014/main" id="{A96C461E-18C2-4132-7D40-C87259D8E4D8}"/>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noProof="0" dirty="0">
                  <a:solidFill>
                    <a:srgbClr val="1E2761"/>
                  </a:solidFill>
                  <a:latin typeface="Georgia" pitchFamily="34" charset="0"/>
                  <a:ea typeface="Georgia" pitchFamily="34" charset="-122"/>
                  <a:cs typeface="Georgia" pitchFamily="34" charset="-120"/>
                </a:rPr>
                <a:t>1. Activité de la filière volaille</a:t>
              </a:r>
              <a:endParaRPr lang="fr-FR" sz="1300" noProof="0" dirty="0"/>
            </a:p>
          </p:txBody>
        </p:sp>
        <p:sp>
          <p:nvSpPr>
            <p:cNvPr id="26" name="Text 7">
              <a:extLst>
                <a:ext uri="{FF2B5EF4-FFF2-40B4-BE49-F238E27FC236}">
                  <a16:creationId xmlns:a16="http://schemas.microsoft.com/office/drawing/2014/main" id="{6FDBDC63-C2DC-F501-6523-49B42D4B40B1}"/>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Taille de la production, des échanges et de la consommation de la viande de volaille dans un pays.</a:t>
              </a:r>
              <a:endParaRPr lang="fr-FR" sz="1100" noProof="0" dirty="0"/>
            </a:p>
          </p:txBody>
        </p:sp>
      </p:grpSp>
      <p:grpSp>
        <p:nvGrpSpPr>
          <p:cNvPr id="27" name="Groupe 26">
            <a:extLst>
              <a:ext uri="{FF2B5EF4-FFF2-40B4-BE49-F238E27FC236}">
                <a16:creationId xmlns:a16="http://schemas.microsoft.com/office/drawing/2014/main" id="{2FD20843-3B75-417E-584F-534BC8358E08}"/>
              </a:ext>
            </a:extLst>
          </p:cNvPr>
          <p:cNvGrpSpPr/>
          <p:nvPr/>
        </p:nvGrpSpPr>
        <p:grpSpPr>
          <a:xfrm>
            <a:off x="6840728" y="2221484"/>
            <a:ext cx="4206240" cy="1719072"/>
            <a:chOff x="320040" y="1024128"/>
            <a:chExt cx="4206240" cy="1719072"/>
          </a:xfrm>
        </p:grpSpPr>
        <p:sp>
          <p:nvSpPr>
            <p:cNvPr id="28" name="Shape 2">
              <a:extLst>
                <a:ext uri="{FF2B5EF4-FFF2-40B4-BE49-F238E27FC236}">
                  <a16:creationId xmlns:a16="http://schemas.microsoft.com/office/drawing/2014/main" id="{EDEC3502-3CDF-2824-2A0B-9A958B698A00}"/>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29" name="Shape 3">
              <a:extLst>
                <a:ext uri="{FF2B5EF4-FFF2-40B4-BE49-F238E27FC236}">
                  <a16:creationId xmlns:a16="http://schemas.microsoft.com/office/drawing/2014/main" id="{BD99E93F-20A9-0C73-E636-44A2148A252E}"/>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30" name="Text 5">
              <a:extLst>
                <a:ext uri="{FF2B5EF4-FFF2-40B4-BE49-F238E27FC236}">
                  <a16:creationId xmlns:a16="http://schemas.microsoft.com/office/drawing/2014/main" id="{02705ABE-DF1C-ABC8-EBBF-38948F07B6D3}"/>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31" name="Text 6">
              <a:extLst>
                <a:ext uri="{FF2B5EF4-FFF2-40B4-BE49-F238E27FC236}">
                  <a16:creationId xmlns:a16="http://schemas.microsoft.com/office/drawing/2014/main" id="{20ABA09E-CC9D-16A7-3712-883CF5251849}"/>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2</a:t>
              </a:r>
              <a:r>
                <a:rPr lang="fr-FR" sz="1300" b="1" noProof="0" dirty="0">
                  <a:solidFill>
                    <a:srgbClr val="1E2761"/>
                  </a:solidFill>
                  <a:latin typeface="Georgia" pitchFamily="34" charset="0"/>
                  <a:ea typeface="Georgia" pitchFamily="34" charset="-122"/>
                  <a:cs typeface="Georgia" pitchFamily="34" charset="-120"/>
                </a:rPr>
                <a:t>. Niveau de développement économique</a:t>
              </a:r>
              <a:endParaRPr lang="fr-FR" sz="1300" noProof="0" dirty="0"/>
            </a:p>
          </p:txBody>
        </p:sp>
        <p:sp>
          <p:nvSpPr>
            <p:cNvPr id="32" name="Text 7">
              <a:extLst>
                <a:ext uri="{FF2B5EF4-FFF2-40B4-BE49-F238E27FC236}">
                  <a16:creationId xmlns:a16="http://schemas.microsoft.com/office/drawing/2014/main" id="{914FC822-19A1-5ED0-88B3-25F3D4099644}"/>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dirty="0">
                  <a:solidFill>
                    <a:srgbClr val="1E293B"/>
                  </a:solidFill>
                  <a:latin typeface="Calibri" pitchFamily="34" charset="0"/>
                  <a:ea typeface="Calibri" pitchFamily="34" charset="-122"/>
                  <a:cs typeface="Calibri" pitchFamily="34" charset="-120"/>
                </a:rPr>
                <a:t>PIB par habitant, stabilité politique fort et inflation alimentaire faible.</a:t>
              </a:r>
              <a:endParaRPr lang="fr-FR" sz="1100" noProof="0" dirty="0"/>
            </a:p>
          </p:txBody>
        </p:sp>
      </p:grpSp>
      <p:grpSp>
        <p:nvGrpSpPr>
          <p:cNvPr id="33" name="Groupe 32">
            <a:extLst>
              <a:ext uri="{FF2B5EF4-FFF2-40B4-BE49-F238E27FC236}">
                <a16:creationId xmlns:a16="http://schemas.microsoft.com/office/drawing/2014/main" id="{28B685DA-6301-102D-6C94-E8C864C86D24}"/>
              </a:ext>
            </a:extLst>
          </p:cNvPr>
          <p:cNvGrpSpPr/>
          <p:nvPr/>
        </p:nvGrpSpPr>
        <p:grpSpPr>
          <a:xfrm>
            <a:off x="980440" y="4537964"/>
            <a:ext cx="4206240" cy="1719072"/>
            <a:chOff x="320040" y="1024128"/>
            <a:chExt cx="4206240" cy="1719072"/>
          </a:xfrm>
        </p:grpSpPr>
        <p:sp>
          <p:nvSpPr>
            <p:cNvPr id="34" name="Shape 2">
              <a:extLst>
                <a:ext uri="{FF2B5EF4-FFF2-40B4-BE49-F238E27FC236}">
                  <a16:creationId xmlns:a16="http://schemas.microsoft.com/office/drawing/2014/main" id="{617C219F-6B25-CD29-F218-41B664CB3A35}"/>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35" name="Shape 3">
              <a:extLst>
                <a:ext uri="{FF2B5EF4-FFF2-40B4-BE49-F238E27FC236}">
                  <a16:creationId xmlns:a16="http://schemas.microsoft.com/office/drawing/2014/main" id="{2E3F62CC-7ECB-0D7C-C0D0-1FB924A74697}"/>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36" name="Text 5">
              <a:extLst>
                <a:ext uri="{FF2B5EF4-FFF2-40B4-BE49-F238E27FC236}">
                  <a16:creationId xmlns:a16="http://schemas.microsoft.com/office/drawing/2014/main" id="{5FA371D4-1FF9-2823-07CD-795D8F4CCB50}"/>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37" name="Text 6">
              <a:extLst>
                <a:ext uri="{FF2B5EF4-FFF2-40B4-BE49-F238E27FC236}">
                  <a16:creationId xmlns:a16="http://schemas.microsoft.com/office/drawing/2014/main" id="{B4E964E6-017A-9221-46EA-305E213EDBC2}"/>
                </a:ext>
              </a:extLst>
            </p:cNvPr>
            <p:cNvSpPr/>
            <p:nvPr/>
          </p:nvSpPr>
          <p:spPr>
            <a:xfrm>
              <a:off x="484632" y="1435608"/>
              <a:ext cx="3913632" cy="384048"/>
            </a:xfrm>
            <a:prstGeom prst="rect">
              <a:avLst/>
            </a:prstGeom>
            <a:noFill/>
            <a:ln/>
          </p:spPr>
          <p:txBody>
            <a:bodyPr wrap="square" lIns="0" tIns="0" rIns="0" bIns="0" rtlCol="0" anchor="ctr"/>
            <a:lstStyle/>
            <a:p>
              <a:r>
                <a:rPr lang="fr-FR" sz="1300" b="1" dirty="0">
                  <a:solidFill>
                    <a:srgbClr val="1E2761"/>
                  </a:solidFill>
                  <a:latin typeface="Georgia" pitchFamily="34" charset="0"/>
                  <a:ea typeface="Georgia" pitchFamily="34" charset="-122"/>
                  <a:cs typeface="Georgia" pitchFamily="34" charset="-120"/>
                </a:rPr>
                <a:t>3</a:t>
              </a:r>
              <a:r>
                <a:rPr lang="fr-FR" sz="1300" b="1" noProof="0" dirty="0">
                  <a:solidFill>
                    <a:srgbClr val="1E2761"/>
                  </a:solidFill>
                  <a:latin typeface="Georgia" pitchFamily="34" charset="0"/>
                  <a:ea typeface="Georgia" pitchFamily="34" charset="-122"/>
                  <a:cs typeface="Georgia" pitchFamily="34" charset="-120"/>
                </a:rPr>
                <a:t>. </a:t>
              </a:r>
              <a:r>
                <a:rPr lang="fr-FR" sz="1300" b="1" dirty="0">
                  <a:solidFill>
                    <a:srgbClr val="072540"/>
                  </a:solidFill>
                  <a:latin typeface="Georgia" panose="02040502050405020303" pitchFamily="18" charset="0"/>
                </a:rPr>
                <a:t>Éloignement et intérêt pour le bio</a:t>
              </a:r>
              <a:endParaRPr lang="fr-FR" sz="1300" b="1" noProof="0" dirty="0">
                <a:solidFill>
                  <a:srgbClr val="072540"/>
                </a:solidFill>
                <a:latin typeface="Georgia" panose="02040502050405020303" pitchFamily="18" charset="0"/>
              </a:endParaRPr>
            </a:p>
          </p:txBody>
        </p:sp>
        <p:sp>
          <p:nvSpPr>
            <p:cNvPr id="38" name="Text 7">
              <a:extLst>
                <a:ext uri="{FF2B5EF4-FFF2-40B4-BE49-F238E27FC236}">
                  <a16:creationId xmlns:a16="http://schemas.microsoft.com/office/drawing/2014/main" id="{0A1CE2B1-91D7-77C9-9883-6BE18D95F1DE}"/>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Distance depuis la France et surfacez dédiée à l’exploitatio</a:t>
              </a:r>
              <a:r>
                <a:rPr lang="fr-FR" sz="1100" dirty="0">
                  <a:solidFill>
                    <a:srgbClr val="1E293B"/>
                  </a:solidFill>
                  <a:latin typeface="Calibri" pitchFamily="34" charset="0"/>
                  <a:ea typeface="Calibri" pitchFamily="34" charset="-122"/>
                  <a:cs typeface="Calibri" pitchFamily="34" charset="-120"/>
                </a:rPr>
                <a:t>n de l’agriculture biologique. </a:t>
              </a:r>
              <a:endParaRPr lang="fr-FR" sz="1100" noProof="0" dirty="0"/>
            </a:p>
          </p:txBody>
        </p:sp>
      </p:grpSp>
      <p:grpSp>
        <p:nvGrpSpPr>
          <p:cNvPr id="39" name="Groupe 38">
            <a:extLst>
              <a:ext uri="{FF2B5EF4-FFF2-40B4-BE49-F238E27FC236}">
                <a16:creationId xmlns:a16="http://schemas.microsoft.com/office/drawing/2014/main" id="{A6EB4EFA-3E10-3A9D-6795-6A286619FF22}"/>
              </a:ext>
            </a:extLst>
          </p:cNvPr>
          <p:cNvGrpSpPr/>
          <p:nvPr/>
        </p:nvGrpSpPr>
        <p:grpSpPr>
          <a:xfrm>
            <a:off x="6840728" y="4536824"/>
            <a:ext cx="4206240" cy="1719072"/>
            <a:chOff x="320040" y="1024128"/>
            <a:chExt cx="4206240" cy="1719072"/>
          </a:xfrm>
        </p:grpSpPr>
        <p:sp>
          <p:nvSpPr>
            <p:cNvPr id="40" name="Shape 2">
              <a:extLst>
                <a:ext uri="{FF2B5EF4-FFF2-40B4-BE49-F238E27FC236}">
                  <a16:creationId xmlns:a16="http://schemas.microsoft.com/office/drawing/2014/main" id="{963D700F-7998-57DB-DECA-278244C7140C}"/>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41" name="Shape 3">
              <a:extLst>
                <a:ext uri="{FF2B5EF4-FFF2-40B4-BE49-F238E27FC236}">
                  <a16:creationId xmlns:a16="http://schemas.microsoft.com/office/drawing/2014/main" id="{F844B2B8-BB88-E384-BF51-AF4FF6912734}"/>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42" name="Text 5">
              <a:extLst>
                <a:ext uri="{FF2B5EF4-FFF2-40B4-BE49-F238E27FC236}">
                  <a16:creationId xmlns:a16="http://schemas.microsoft.com/office/drawing/2014/main" id="{01FA7893-6805-2782-0691-775C570A61C4}"/>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43" name="Text 6">
              <a:extLst>
                <a:ext uri="{FF2B5EF4-FFF2-40B4-BE49-F238E27FC236}">
                  <a16:creationId xmlns:a16="http://schemas.microsoft.com/office/drawing/2014/main" id="{6BD6E943-4CAF-C7C1-80AA-6B60B70E5112}"/>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4</a:t>
              </a:r>
              <a:r>
                <a:rPr lang="fr-FR" sz="1300" b="1" noProof="0" dirty="0">
                  <a:solidFill>
                    <a:srgbClr val="1E2761"/>
                  </a:solidFill>
                  <a:latin typeface="Georgia" pitchFamily="34" charset="0"/>
                  <a:ea typeface="Georgia" pitchFamily="34" charset="-122"/>
                  <a:cs typeface="Georgia" pitchFamily="34" charset="-120"/>
                </a:rPr>
                <a:t>. Profil importateur vs exportateur</a:t>
              </a:r>
              <a:endParaRPr lang="fr-FR" sz="1300" noProof="0" dirty="0"/>
            </a:p>
          </p:txBody>
        </p:sp>
        <p:sp>
          <p:nvSpPr>
            <p:cNvPr id="44" name="Text 7">
              <a:extLst>
                <a:ext uri="{FF2B5EF4-FFF2-40B4-BE49-F238E27FC236}">
                  <a16:creationId xmlns:a16="http://schemas.microsoft.com/office/drawing/2014/main" id="{65E80C78-456F-A83E-3D20-381E6282C7E0}"/>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Rapport </a:t>
              </a:r>
              <a:r>
                <a:rPr lang="fr-FR" sz="1100" dirty="0">
                  <a:solidFill>
                    <a:srgbClr val="1E293B"/>
                  </a:solidFill>
                  <a:latin typeface="Calibri" pitchFamily="34" charset="0"/>
                  <a:ea typeface="Calibri" pitchFamily="34" charset="-122"/>
                  <a:cs typeface="Calibri" pitchFamily="34" charset="-120"/>
                </a:rPr>
                <a:t>de l’exportation et de l’importation de viande de volaille d’un pays.</a:t>
              </a:r>
              <a:endParaRPr lang="fr-FR" sz="1100" noProof="0" dirty="0"/>
            </a:p>
          </p:txBody>
        </p:sp>
      </p:grpSp>
    </p:spTree>
    <p:extLst>
      <p:ext uri="{BB962C8B-B14F-4D97-AF65-F5344CB8AC3E}">
        <p14:creationId xmlns:p14="http://schemas.microsoft.com/office/powerpoint/2010/main" val="1073523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4910C1-A960-7505-D53D-1BF528D2F744}"/>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Freeform: Shape 6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82799080-700E-FF2C-68D2-7C6EBC3A283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noProof="0" dirty="0">
                <a:solidFill>
                  <a:srgbClr val="FFFFFF"/>
                </a:solidFill>
                <a:latin typeface="+mj-lt"/>
                <a:ea typeface="+mj-ea"/>
                <a:cs typeface="+mj-cs"/>
              </a:rPr>
              <a:t>Les deux premiers critères</a:t>
            </a:r>
            <a:endParaRPr lang="en-US" sz="4000" kern="1200" noProof="0" dirty="0">
              <a:solidFill>
                <a:srgbClr val="FFFFFF"/>
              </a:solidFill>
              <a:latin typeface="+mj-lt"/>
              <a:ea typeface="+mj-ea"/>
              <a:cs typeface="+mj-cs"/>
            </a:endParaRPr>
          </a:p>
        </p:txBody>
      </p:sp>
      <p:pic>
        <p:nvPicPr>
          <p:cNvPr id="4" name="Image 3">
            <a:extLst>
              <a:ext uri="{FF2B5EF4-FFF2-40B4-BE49-F238E27FC236}">
                <a16:creationId xmlns:a16="http://schemas.microsoft.com/office/drawing/2014/main" id="{3371C388-6101-CCC8-C04C-C2D0D5BF02BD}"/>
              </a:ext>
            </a:extLst>
          </p:cNvPr>
          <p:cNvPicPr>
            <a:picLocks noChangeAspect="1"/>
          </p:cNvPicPr>
          <p:nvPr/>
        </p:nvPicPr>
        <p:blipFill>
          <a:blip r:embed="rId2"/>
          <a:stretch>
            <a:fillRect/>
          </a:stretch>
        </p:blipFill>
        <p:spPr>
          <a:xfrm>
            <a:off x="4578833" y="467208"/>
            <a:ext cx="7072937" cy="5923584"/>
          </a:xfrm>
          <a:prstGeom prst="rect">
            <a:avLst/>
          </a:prstGeom>
        </p:spPr>
      </p:pic>
    </p:spTree>
    <p:extLst>
      <p:ext uri="{BB962C8B-B14F-4D97-AF65-F5344CB8AC3E}">
        <p14:creationId xmlns:p14="http://schemas.microsoft.com/office/powerpoint/2010/main" val="2204212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753F78-9ED3-775E-A93F-9699AB128B65}"/>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Freeform: Shape 7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8C50DF9D-00DC-4938-8AF1-9796B385D64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dirty="0">
                <a:solidFill>
                  <a:srgbClr val="FFFFFF"/>
                </a:solidFill>
                <a:latin typeface="+mj-lt"/>
                <a:ea typeface="+mj-ea"/>
                <a:cs typeface="+mj-cs"/>
              </a:rPr>
              <a:t>Et l</a:t>
            </a:r>
            <a:r>
              <a:rPr lang="en-US" sz="4000" b="1" kern="1200" noProof="0" dirty="0">
                <a:solidFill>
                  <a:srgbClr val="FFFFFF"/>
                </a:solidFill>
                <a:latin typeface="+mj-lt"/>
                <a:ea typeface="+mj-ea"/>
                <a:cs typeface="+mj-cs"/>
              </a:rPr>
              <a:t>es deux autres</a:t>
            </a:r>
            <a:endParaRPr lang="en-US" sz="4000" kern="1200" noProof="0" dirty="0">
              <a:solidFill>
                <a:srgbClr val="FFFFFF"/>
              </a:solidFill>
              <a:latin typeface="+mj-lt"/>
              <a:ea typeface="+mj-ea"/>
              <a:cs typeface="+mj-cs"/>
            </a:endParaRPr>
          </a:p>
        </p:txBody>
      </p:sp>
      <p:pic>
        <p:nvPicPr>
          <p:cNvPr id="7" name="Image 6">
            <a:extLst>
              <a:ext uri="{FF2B5EF4-FFF2-40B4-BE49-F238E27FC236}">
                <a16:creationId xmlns:a16="http://schemas.microsoft.com/office/drawing/2014/main" id="{A715684E-883B-0D91-998E-BF62F7A38F6C}"/>
              </a:ext>
            </a:extLst>
          </p:cNvPr>
          <p:cNvPicPr>
            <a:picLocks noChangeAspect="1"/>
          </p:cNvPicPr>
          <p:nvPr/>
        </p:nvPicPr>
        <p:blipFill>
          <a:blip r:embed="rId2"/>
          <a:stretch>
            <a:fillRect/>
          </a:stretch>
        </p:blipFill>
        <p:spPr>
          <a:xfrm>
            <a:off x="4620562" y="467208"/>
            <a:ext cx="6989479" cy="5923584"/>
          </a:xfrm>
          <a:prstGeom prst="rect">
            <a:avLst/>
          </a:prstGeom>
        </p:spPr>
      </p:pic>
    </p:spTree>
    <p:extLst>
      <p:ext uri="{BB962C8B-B14F-4D97-AF65-F5344CB8AC3E}">
        <p14:creationId xmlns:p14="http://schemas.microsoft.com/office/powerpoint/2010/main" val="1833864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4C0C1C-D4FC-1998-718B-243688F751D0}"/>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Freeform: Shape 6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EA887C7B-77C0-6BC6-B49B-9F0EC18D7590}"/>
              </a:ext>
            </a:extLst>
          </p:cNvPr>
          <p:cNvSpPr>
            <a:spLocks noGrp="1"/>
          </p:cNvSpPr>
          <p:nvPr>
            <p:ph type="title"/>
          </p:nvPr>
        </p:nvSpPr>
        <p:spPr>
          <a:xfrm>
            <a:off x="660041" y="2767106"/>
            <a:ext cx="2880828" cy="3071906"/>
          </a:xfrm>
        </p:spPr>
        <p:txBody>
          <a:bodyPr vert="horz" lIns="91440" tIns="45720" rIns="91440" bIns="45720" rtlCol="0" anchor="t">
            <a:normAutofit fontScale="90000"/>
          </a:bodyPr>
          <a:lstStyle/>
          <a:p>
            <a:r>
              <a:rPr lang="en-US" sz="4000" b="1" kern="1200" noProof="0" dirty="0">
                <a:solidFill>
                  <a:srgbClr val="FFFFFF"/>
                </a:solidFill>
                <a:latin typeface="+mj-lt"/>
                <a:ea typeface="+mj-ea"/>
                <a:cs typeface="+mj-cs"/>
              </a:rPr>
              <a:t>Groupes de pays (via la classification ascendante hiérarchique)</a:t>
            </a:r>
            <a:endParaRPr lang="en-US" sz="4000" kern="1200" noProof="0" dirty="0">
              <a:solidFill>
                <a:srgbClr val="FFFFFF"/>
              </a:solidFill>
              <a:latin typeface="+mj-lt"/>
              <a:ea typeface="+mj-ea"/>
              <a:cs typeface="+mj-cs"/>
            </a:endParaRPr>
          </a:p>
        </p:txBody>
      </p:sp>
      <p:pic>
        <p:nvPicPr>
          <p:cNvPr id="4" name="Image 3">
            <a:extLst>
              <a:ext uri="{FF2B5EF4-FFF2-40B4-BE49-F238E27FC236}">
                <a16:creationId xmlns:a16="http://schemas.microsoft.com/office/drawing/2014/main" id="{8121DF00-E49D-E115-6D18-2DD23094413A}"/>
              </a:ext>
            </a:extLst>
          </p:cNvPr>
          <p:cNvPicPr>
            <a:picLocks noChangeAspect="1"/>
          </p:cNvPicPr>
          <p:nvPr/>
        </p:nvPicPr>
        <p:blipFill>
          <a:blip r:embed="rId2"/>
          <a:stretch>
            <a:fillRect/>
          </a:stretch>
        </p:blipFill>
        <p:spPr>
          <a:xfrm>
            <a:off x="6937990" y="467208"/>
            <a:ext cx="2354623" cy="5923584"/>
          </a:xfrm>
          <a:prstGeom prst="rect">
            <a:avLst/>
          </a:prstGeom>
        </p:spPr>
      </p:pic>
    </p:spTree>
    <p:extLst>
      <p:ext uri="{BB962C8B-B14F-4D97-AF65-F5344CB8AC3E}">
        <p14:creationId xmlns:p14="http://schemas.microsoft.com/office/powerpoint/2010/main" val="161520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D0ED31-DF20-6B63-3D2D-0FF9B7B9DAD8}"/>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Freeform: Shape 7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57AAEEE1-EA38-8A69-E569-C7CB1A79900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b="1" kern="1200" noProof="0" dirty="0">
                <a:solidFill>
                  <a:srgbClr val="FFFFFF"/>
                </a:solidFill>
                <a:latin typeface="+mj-lt"/>
                <a:ea typeface="+mj-ea"/>
                <a:cs typeface="+mj-cs"/>
              </a:rPr>
              <a:t>Groupes de pays (via la</a:t>
            </a:r>
            <a:r>
              <a:rPr lang="en-US" sz="3700" b="1" dirty="0">
                <a:solidFill>
                  <a:srgbClr val="FFFFFF"/>
                </a:solidFill>
              </a:rPr>
              <a:t> méthode des K-means</a:t>
            </a:r>
            <a:r>
              <a:rPr lang="en-US" sz="3700" b="1" kern="1200" noProof="0" dirty="0">
                <a:solidFill>
                  <a:srgbClr val="FFFFFF"/>
                </a:solidFill>
                <a:latin typeface="+mj-lt"/>
                <a:ea typeface="+mj-ea"/>
                <a:cs typeface="+mj-cs"/>
              </a:rPr>
              <a:t>)</a:t>
            </a:r>
            <a:endParaRPr lang="en-US" sz="3700" kern="1200" noProof="0" dirty="0">
              <a:solidFill>
                <a:srgbClr val="FFFFFF"/>
              </a:solidFill>
              <a:latin typeface="+mj-lt"/>
              <a:ea typeface="+mj-ea"/>
              <a:cs typeface="+mj-cs"/>
            </a:endParaRPr>
          </a:p>
        </p:txBody>
      </p:sp>
      <p:pic>
        <p:nvPicPr>
          <p:cNvPr id="5" name="Image 4">
            <a:extLst>
              <a:ext uri="{FF2B5EF4-FFF2-40B4-BE49-F238E27FC236}">
                <a16:creationId xmlns:a16="http://schemas.microsoft.com/office/drawing/2014/main" id="{B7E0D161-C3A1-FD35-8CFD-B2915C619DCA}"/>
              </a:ext>
            </a:extLst>
          </p:cNvPr>
          <p:cNvPicPr>
            <a:picLocks noChangeAspect="1"/>
          </p:cNvPicPr>
          <p:nvPr/>
        </p:nvPicPr>
        <p:blipFill>
          <a:blip r:embed="rId2"/>
          <a:stretch>
            <a:fillRect/>
          </a:stretch>
        </p:blipFill>
        <p:spPr>
          <a:xfrm>
            <a:off x="4502428" y="746441"/>
            <a:ext cx="7225748" cy="5365117"/>
          </a:xfrm>
          <a:prstGeom prst="rect">
            <a:avLst/>
          </a:prstGeom>
        </p:spPr>
      </p:pic>
    </p:spTree>
    <p:extLst>
      <p:ext uri="{BB962C8B-B14F-4D97-AF65-F5344CB8AC3E}">
        <p14:creationId xmlns:p14="http://schemas.microsoft.com/office/powerpoint/2010/main" val="703296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B2A094-F091-83DE-5CC3-576B998B11B8}"/>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0466B83B-676D-104A-F5C3-3484BCA26F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EC11D45A-8F22-9E7F-AC4D-7F6F7C797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16374438-13A4-7B8D-FD40-BFC009E82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E0AF3DF1-9A11-D156-85FD-D47A59219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A0234CED-AFAA-80C2-2C5F-6459B1BEA1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A40266DF-D845-6984-375B-3E1977E26325}"/>
              </a:ext>
            </a:extLst>
          </p:cNvPr>
          <p:cNvSpPr>
            <a:spLocks noGrp="1"/>
          </p:cNvSpPr>
          <p:nvPr>
            <p:ph type="title"/>
          </p:nvPr>
        </p:nvSpPr>
        <p:spPr>
          <a:xfrm>
            <a:off x="699714" y="321728"/>
            <a:ext cx="10149261" cy="967956"/>
          </a:xfrm>
        </p:spPr>
        <p:txBody>
          <a:bodyPr vert="horz" lIns="91440" tIns="45720" rIns="91440" bIns="45720" rtlCol="0" anchor="ctr">
            <a:noAutofit/>
          </a:bodyPr>
          <a:lstStyle/>
          <a:p>
            <a:r>
              <a:rPr lang="fr-FR" sz="3600" b="1" noProof="0" dirty="0">
                <a:solidFill>
                  <a:schemeClr val="bg1"/>
                </a:solidFill>
              </a:rPr>
              <a:t>5 groupes des pays identifiés (K-means)</a:t>
            </a:r>
            <a:endParaRPr lang="fr-FR" sz="3600" noProof="0" dirty="0">
              <a:solidFill>
                <a:schemeClr val="bg1"/>
              </a:solidFill>
            </a:endParaRPr>
          </a:p>
        </p:txBody>
      </p:sp>
      <p:grpSp>
        <p:nvGrpSpPr>
          <p:cNvPr id="3" name="Groupe 2">
            <a:extLst>
              <a:ext uri="{FF2B5EF4-FFF2-40B4-BE49-F238E27FC236}">
                <a16:creationId xmlns:a16="http://schemas.microsoft.com/office/drawing/2014/main" id="{9540E817-1AA7-E3F1-8A21-28576E907FC5}"/>
              </a:ext>
            </a:extLst>
          </p:cNvPr>
          <p:cNvGrpSpPr/>
          <p:nvPr/>
        </p:nvGrpSpPr>
        <p:grpSpPr>
          <a:xfrm>
            <a:off x="980440" y="2217928"/>
            <a:ext cx="4206240" cy="1211072"/>
            <a:chOff x="320040" y="1024128"/>
            <a:chExt cx="4206240" cy="1719072"/>
          </a:xfrm>
        </p:grpSpPr>
        <p:sp>
          <p:nvSpPr>
            <p:cNvPr id="4" name="Shape 2">
              <a:extLst>
                <a:ext uri="{FF2B5EF4-FFF2-40B4-BE49-F238E27FC236}">
                  <a16:creationId xmlns:a16="http://schemas.microsoft.com/office/drawing/2014/main" id="{270D67B7-B0E3-CD5C-CAA4-8462501E799A}"/>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11" name="Shape 3">
              <a:extLst>
                <a:ext uri="{FF2B5EF4-FFF2-40B4-BE49-F238E27FC236}">
                  <a16:creationId xmlns:a16="http://schemas.microsoft.com/office/drawing/2014/main" id="{A0ED9D9F-4BC5-64B0-1C9B-214C2290ABB5}"/>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13" name="Text 5">
              <a:extLst>
                <a:ext uri="{FF2B5EF4-FFF2-40B4-BE49-F238E27FC236}">
                  <a16:creationId xmlns:a16="http://schemas.microsoft.com/office/drawing/2014/main" id="{C8C9BEFF-6D1D-B859-10B8-3361C3255F78}"/>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14" name="Text 6">
              <a:extLst>
                <a:ext uri="{FF2B5EF4-FFF2-40B4-BE49-F238E27FC236}">
                  <a16:creationId xmlns:a16="http://schemas.microsoft.com/office/drawing/2014/main" id="{2F925540-9296-68C5-934C-4066D8F941FD}"/>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A</a:t>
              </a:r>
              <a:r>
                <a:rPr lang="fr-FR" sz="1300" b="1" noProof="0" dirty="0">
                  <a:solidFill>
                    <a:srgbClr val="1E2761"/>
                  </a:solidFill>
                  <a:latin typeface="Georgia" pitchFamily="34" charset="0"/>
                  <a:ea typeface="Georgia" pitchFamily="34" charset="-122"/>
                  <a:cs typeface="Georgia" pitchFamily="34" charset="-120"/>
                </a:rPr>
                <a:t>. Marchés plutôt développés mais éloignés</a:t>
              </a:r>
              <a:endParaRPr lang="fr-FR" sz="1300" noProof="0" dirty="0"/>
            </a:p>
          </p:txBody>
        </p:sp>
        <p:sp>
          <p:nvSpPr>
            <p:cNvPr id="15" name="Text 7">
              <a:extLst>
                <a:ext uri="{FF2B5EF4-FFF2-40B4-BE49-F238E27FC236}">
                  <a16:creationId xmlns:a16="http://schemas.microsoft.com/office/drawing/2014/main" id="{EF2ADD2F-7071-B6A0-45DE-3D0476DFC4A9}"/>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Pays ayant des profils intéressants en termes de richesse et de stabilité, mais plutôt éloignés </a:t>
              </a:r>
              <a:endParaRPr lang="fr-FR" sz="1100" noProof="0" dirty="0"/>
            </a:p>
          </p:txBody>
        </p:sp>
      </p:grpSp>
      <p:grpSp>
        <p:nvGrpSpPr>
          <p:cNvPr id="16" name="Groupe 15">
            <a:extLst>
              <a:ext uri="{FF2B5EF4-FFF2-40B4-BE49-F238E27FC236}">
                <a16:creationId xmlns:a16="http://schemas.microsoft.com/office/drawing/2014/main" id="{E999A8EB-3EB0-BBBF-CEC9-D7232503FC76}"/>
              </a:ext>
            </a:extLst>
          </p:cNvPr>
          <p:cNvGrpSpPr/>
          <p:nvPr/>
        </p:nvGrpSpPr>
        <p:grpSpPr>
          <a:xfrm>
            <a:off x="6840728" y="2221484"/>
            <a:ext cx="4206240" cy="1207516"/>
            <a:chOff x="320040" y="1024128"/>
            <a:chExt cx="4206240" cy="1719072"/>
          </a:xfrm>
        </p:grpSpPr>
        <p:sp>
          <p:nvSpPr>
            <p:cNvPr id="17" name="Shape 2">
              <a:extLst>
                <a:ext uri="{FF2B5EF4-FFF2-40B4-BE49-F238E27FC236}">
                  <a16:creationId xmlns:a16="http://schemas.microsoft.com/office/drawing/2014/main" id="{33272180-4B3B-DD18-8CF5-FECC3CB76E45}"/>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18" name="Shape 3">
              <a:extLst>
                <a:ext uri="{FF2B5EF4-FFF2-40B4-BE49-F238E27FC236}">
                  <a16:creationId xmlns:a16="http://schemas.microsoft.com/office/drawing/2014/main" id="{53993AFB-79ED-7AE7-D2E3-F78494150C22}"/>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19" name="Text 5">
              <a:extLst>
                <a:ext uri="{FF2B5EF4-FFF2-40B4-BE49-F238E27FC236}">
                  <a16:creationId xmlns:a16="http://schemas.microsoft.com/office/drawing/2014/main" id="{F37DCAC5-6E86-70F7-D2C7-DD1C6ED335EF}"/>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20" name="Text 6">
              <a:extLst>
                <a:ext uri="{FF2B5EF4-FFF2-40B4-BE49-F238E27FC236}">
                  <a16:creationId xmlns:a16="http://schemas.microsoft.com/office/drawing/2014/main" id="{825E0917-6DEC-3BA2-01B1-84105B6BAAD4}"/>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noProof="0" dirty="0">
                  <a:solidFill>
                    <a:srgbClr val="1E2761"/>
                  </a:solidFill>
                  <a:latin typeface="Georgia" pitchFamily="34" charset="0"/>
                  <a:ea typeface="Georgia" pitchFamily="34" charset="-122"/>
                  <a:cs typeface="Georgia" pitchFamily="34" charset="-120"/>
                </a:rPr>
                <a:t>B. Les géants de la filière</a:t>
              </a:r>
              <a:endParaRPr lang="fr-FR" sz="1300" noProof="0" dirty="0"/>
            </a:p>
          </p:txBody>
        </p:sp>
        <p:sp>
          <p:nvSpPr>
            <p:cNvPr id="21" name="Text 7">
              <a:extLst>
                <a:ext uri="{FF2B5EF4-FFF2-40B4-BE49-F238E27FC236}">
                  <a16:creationId xmlns:a16="http://schemas.microsoft.com/office/drawing/2014/main" id="{F7ED0E62-0E11-B989-F524-880457362A9C}"/>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Production et importation massive de volailles. Nos plus grands concurrents.  Ils sont aussi très éloignés de nous (Brésil, Etats-Unis et Chine)</a:t>
              </a:r>
              <a:endParaRPr lang="fr-FR" sz="1100" noProof="0" dirty="0"/>
            </a:p>
          </p:txBody>
        </p:sp>
      </p:grpSp>
      <p:grpSp>
        <p:nvGrpSpPr>
          <p:cNvPr id="22" name="Groupe 21">
            <a:extLst>
              <a:ext uri="{FF2B5EF4-FFF2-40B4-BE49-F238E27FC236}">
                <a16:creationId xmlns:a16="http://schemas.microsoft.com/office/drawing/2014/main" id="{395429E1-7695-C22F-74C7-9714E8346A9A}"/>
              </a:ext>
            </a:extLst>
          </p:cNvPr>
          <p:cNvGrpSpPr/>
          <p:nvPr/>
        </p:nvGrpSpPr>
        <p:grpSpPr>
          <a:xfrm>
            <a:off x="980440" y="3719173"/>
            <a:ext cx="4206240" cy="1211072"/>
            <a:chOff x="320040" y="1024128"/>
            <a:chExt cx="4206240" cy="1719072"/>
          </a:xfrm>
        </p:grpSpPr>
        <p:sp>
          <p:nvSpPr>
            <p:cNvPr id="23" name="Shape 2">
              <a:extLst>
                <a:ext uri="{FF2B5EF4-FFF2-40B4-BE49-F238E27FC236}">
                  <a16:creationId xmlns:a16="http://schemas.microsoft.com/office/drawing/2014/main" id="{D1155A99-D537-25DF-8FF3-96B5258E541C}"/>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24" name="Shape 3">
              <a:extLst>
                <a:ext uri="{FF2B5EF4-FFF2-40B4-BE49-F238E27FC236}">
                  <a16:creationId xmlns:a16="http://schemas.microsoft.com/office/drawing/2014/main" id="{4AFB7BCA-7146-181E-6190-AF2FBED4C704}"/>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25" name="Text 5">
              <a:extLst>
                <a:ext uri="{FF2B5EF4-FFF2-40B4-BE49-F238E27FC236}">
                  <a16:creationId xmlns:a16="http://schemas.microsoft.com/office/drawing/2014/main" id="{E92DF63C-F54A-EAAC-D8E2-366684558549}"/>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26" name="Text 6">
              <a:extLst>
                <a:ext uri="{FF2B5EF4-FFF2-40B4-BE49-F238E27FC236}">
                  <a16:creationId xmlns:a16="http://schemas.microsoft.com/office/drawing/2014/main" id="{C95B6165-8F54-5140-A07E-D77995ABEBA8}"/>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noProof="0" dirty="0">
                  <a:solidFill>
                    <a:srgbClr val="1E2761"/>
                  </a:solidFill>
                  <a:latin typeface="Georgia" pitchFamily="34" charset="0"/>
                  <a:ea typeface="Georgia" pitchFamily="34" charset="-122"/>
                  <a:cs typeface="Georgia" pitchFamily="34" charset="-120"/>
                </a:rPr>
                <a:t>C. Marchés proches et développés </a:t>
              </a:r>
              <a:endParaRPr lang="fr-FR" sz="1300" noProof="0" dirty="0"/>
            </a:p>
          </p:txBody>
        </p:sp>
        <p:sp>
          <p:nvSpPr>
            <p:cNvPr id="27" name="Text 7">
              <a:extLst>
                <a:ext uri="{FF2B5EF4-FFF2-40B4-BE49-F238E27FC236}">
                  <a16:creationId xmlns:a16="http://schemas.microsoft.com/office/drawing/2014/main" id="{C321E5DF-6D56-04A9-712D-D9B9C503BDD8}"/>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dirty="0">
                  <a:solidFill>
                    <a:srgbClr val="1E293B"/>
                  </a:solidFill>
                  <a:latin typeface="Calibri" pitchFamily="34" charset="0"/>
                  <a:ea typeface="Calibri" pitchFamily="34" charset="-122"/>
                  <a:cs typeface="Calibri" pitchFamily="34" charset="-120"/>
                </a:rPr>
                <a:t>Pays riches, stables, grands importateurs de volailles et proche de la France</a:t>
              </a:r>
              <a:endParaRPr lang="fr-FR" sz="1100" noProof="0" dirty="0"/>
            </a:p>
          </p:txBody>
        </p:sp>
      </p:grpSp>
      <p:grpSp>
        <p:nvGrpSpPr>
          <p:cNvPr id="28" name="Groupe 27">
            <a:extLst>
              <a:ext uri="{FF2B5EF4-FFF2-40B4-BE49-F238E27FC236}">
                <a16:creationId xmlns:a16="http://schemas.microsoft.com/office/drawing/2014/main" id="{E2FBF62F-BD77-31C0-5CE8-7FFA7F0288AC}"/>
              </a:ext>
            </a:extLst>
          </p:cNvPr>
          <p:cNvGrpSpPr/>
          <p:nvPr/>
        </p:nvGrpSpPr>
        <p:grpSpPr>
          <a:xfrm>
            <a:off x="6840728" y="3718033"/>
            <a:ext cx="4206240" cy="1207516"/>
            <a:chOff x="320040" y="1024128"/>
            <a:chExt cx="4206240" cy="1719072"/>
          </a:xfrm>
        </p:grpSpPr>
        <p:sp>
          <p:nvSpPr>
            <p:cNvPr id="29" name="Shape 2">
              <a:extLst>
                <a:ext uri="{FF2B5EF4-FFF2-40B4-BE49-F238E27FC236}">
                  <a16:creationId xmlns:a16="http://schemas.microsoft.com/office/drawing/2014/main" id="{581DAEE9-A892-FA8A-7DC3-BF0EB96BFB62}"/>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30" name="Shape 3">
              <a:extLst>
                <a:ext uri="{FF2B5EF4-FFF2-40B4-BE49-F238E27FC236}">
                  <a16:creationId xmlns:a16="http://schemas.microsoft.com/office/drawing/2014/main" id="{B7C93DD7-3262-B5C4-9A01-E313C5A9A355}"/>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31" name="Text 5">
              <a:extLst>
                <a:ext uri="{FF2B5EF4-FFF2-40B4-BE49-F238E27FC236}">
                  <a16:creationId xmlns:a16="http://schemas.microsoft.com/office/drawing/2014/main" id="{1458CDFD-56E6-BCD4-5CB8-B0471FA29B5F}"/>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32" name="Text 6">
              <a:extLst>
                <a:ext uri="{FF2B5EF4-FFF2-40B4-BE49-F238E27FC236}">
                  <a16:creationId xmlns:a16="http://schemas.microsoft.com/office/drawing/2014/main" id="{E43CA4A9-86F3-1EBD-CF2E-16AF177C6B08}"/>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noProof="0" dirty="0">
                  <a:solidFill>
                    <a:srgbClr val="1E2761"/>
                  </a:solidFill>
                  <a:latin typeface="Georgia" pitchFamily="34" charset="0"/>
                  <a:ea typeface="Georgia" pitchFamily="34" charset="-122"/>
                  <a:cs typeface="Georgia" pitchFamily="34" charset="-120"/>
                </a:rPr>
                <a:t>D. Marchés en développement</a:t>
              </a:r>
              <a:endParaRPr lang="fr-FR" sz="1300" noProof="0" dirty="0"/>
            </a:p>
          </p:txBody>
        </p:sp>
        <p:sp>
          <p:nvSpPr>
            <p:cNvPr id="33" name="Text 7">
              <a:extLst>
                <a:ext uri="{FF2B5EF4-FFF2-40B4-BE49-F238E27FC236}">
                  <a16:creationId xmlns:a16="http://schemas.microsoft.com/office/drawing/2014/main" id="{6AA94C81-DBBB-3818-4575-72226D98D763}"/>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dirty="0">
                  <a:solidFill>
                    <a:srgbClr val="1E293B"/>
                  </a:solidFill>
                  <a:latin typeface="Calibri" pitchFamily="34" charset="0"/>
                  <a:ea typeface="Calibri" pitchFamily="34" charset="-122"/>
                  <a:cs typeface="Calibri" pitchFamily="34" charset="-120"/>
                </a:rPr>
                <a:t>Pays présentant un faible pouvoir d’achat et une inflation élevée</a:t>
              </a:r>
              <a:endParaRPr lang="fr-FR" sz="1100" noProof="0" dirty="0"/>
            </a:p>
          </p:txBody>
        </p:sp>
      </p:grpSp>
      <p:grpSp>
        <p:nvGrpSpPr>
          <p:cNvPr id="5" name="Groupe 4">
            <a:extLst>
              <a:ext uri="{FF2B5EF4-FFF2-40B4-BE49-F238E27FC236}">
                <a16:creationId xmlns:a16="http://schemas.microsoft.com/office/drawing/2014/main" id="{09D6C9B7-585C-926F-1571-400521135692}"/>
              </a:ext>
            </a:extLst>
          </p:cNvPr>
          <p:cNvGrpSpPr/>
          <p:nvPr/>
        </p:nvGrpSpPr>
        <p:grpSpPr>
          <a:xfrm>
            <a:off x="980440" y="5215722"/>
            <a:ext cx="4206240" cy="1320550"/>
            <a:chOff x="320040" y="1024128"/>
            <a:chExt cx="4206240" cy="1719072"/>
          </a:xfrm>
        </p:grpSpPr>
        <p:sp>
          <p:nvSpPr>
            <p:cNvPr id="6" name="Shape 2">
              <a:extLst>
                <a:ext uri="{FF2B5EF4-FFF2-40B4-BE49-F238E27FC236}">
                  <a16:creationId xmlns:a16="http://schemas.microsoft.com/office/drawing/2014/main" id="{4F2EB5BE-1FD7-0FAC-E950-4FAB58198B71}"/>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7" name="Shape 3">
              <a:extLst>
                <a:ext uri="{FF2B5EF4-FFF2-40B4-BE49-F238E27FC236}">
                  <a16:creationId xmlns:a16="http://schemas.microsoft.com/office/drawing/2014/main" id="{E00337A6-79D2-CFBF-8FE6-5A0EE44076B2}"/>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8" name="Text 5">
              <a:extLst>
                <a:ext uri="{FF2B5EF4-FFF2-40B4-BE49-F238E27FC236}">
                  <a16:creationId xmlns:a16="http://schemas.microsoft.com/office/drawing/2014/main" id="{3D238E6F-C022-B6D8-25B4-017FA2376CDD}"/>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9" name="Text 6">
              <a:extLst>
                <a:ext uri="{FF2B5EF4-FFF2-40B4-BE49-F238E27FC236}">
                  <a16:creationId xmlns:a16="http://schemas.microsoft.com/office/drawing/2014/main" id="{55C3F3D1-51E4-DF7E-98DD-4F08E0E3D4AC}"/>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E</a:t>
              </a:r>
              <a:r>
                <a:rPr lang="fr-FR" sz="1300" b="1" noProof="0" dirty="0">
                  <a:solidFill>
                    <a:srgbClr val="1E2761"/>
                  </a:solidFill>
                  <a:latin typeface="Georgia" pitchFamily="34" charset="0"/>
                  <a:ea typeface="Georgia" pitchFamily="34" charset="-122"/>
                  <a:cs typeface="Georgia" pitchFamily="34" charset="-120"/>
                </a:rPr>
                <a:t>. </a:t>
              </a:r>
              <a:r>
                <a:rPr lang="fr-FR" sz="1300" b="1" dirty="0">
                  <a:solidFill>
                    <a:srgbClr val="1E2761"/>
                  </a:solidFill>
                  <a:latin typeface="Georgia" pitchFamily="34" charset="0"/>
                  <a:ea typeface="Georgia" pitchFamily="34" charset="-122"/>
                  <a:cs typeface="Georgia" pitchFamily="34" charset="-120"/>
                </a:rPr>
                <a:t>L’o</a:t>
              </a:r>
              <a:r>
                <a:rPr lang="fr-FR" sz="1300" b="1" noProof="0" dirty="0">
                  <a:solidFill>
                    <a:srgbClr val="1E2761"/>
                  </a:solidFill>
                  <a:latin typeface="Georgia" pitchFamily="34" charset="0"/>
                  <a:ea typeface="Georgia" pitchFamily="34" charset="-122"/>
                  <a:cs typeface="Georgia" pitchFamily="34" charset="-120"/>
                </a:rPr>
                <a:t>utlier</a:t>
              </a:r>
              <a:endParaRPr lang="fr-FR" sz="1300" noProof="0" dirty="0"/>
            </a:p>
          </p:txBody>
        </p:sp>
        <p:sp>
          <p:nvSpPr>
            <p:cNvPr id="10" name="Text 7">
              <a:extLst>
                <a:ext uri="{FF2B5EF4-FFF2-40B4-BE49-F238E27FC236}">
                  <a16:creationId xmlns:a16="http://schemas.microsoft.com/office/drawing/2014/main" id="{47BFE16F-CF63-AE1E-7493-5443128A14B4}"/>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Il n’y a qu’un pays dans ce cluster: l’Australie. Ce pays présente un profil très intéressant pour nous, mais est situé très loin.</a:t>
              </a:r>
              <a:endParaRPr lang="fr-FR" sz="1100" noProof="0" dirty="0"/>
            </a:p>
          </p:txBody>
        </p:sp>
      </p:grpSp>
    </p:spTree>
    <p:extLst>
      <p:ext uri="{BB962C8B-B14F-4D97-AF65-F5344CB8AC3E}">
        <p14:creationId xmlns:p14="http://schemas.microsoft.com/office/powerpoint/2010/main" val="3094524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4EE12F-7A7D-99EE-B873-653EF69823D0}"/>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33B9C452-2C6E-4D52-8FC7-669291EE9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34E1CC44-1B7F-472B-B668-B4F2F4723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B5BAD077-4A41-458D-9909-1A108699E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F1FC21CE-01FD-49CC-BAFC-06F38B34B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F84A43D-3410-1DDA-92A9-B5D466EB930C}"/>
              </a:ext>
            </a:extLst>
          </p:cNvPr>
          <p:cNvSpPr>
            <a:spLocks noGrp="1"/>
          </p:cNvSpPr>
          <p:nvPr>
            <p:ph type="title"/>
          </p:nvPr>
        </p:nvSpPr>
        <p:spPr>
          <a:xfrm>
            <a:off x="699714" y="321728"/>
            <a:ext cx="6999883" cy="967956"/>
          </a:xfrm>
        </p:spPr>
        <p:txBody>
          <a:bodyPr vert="horz" lIns="91440" tIns="45720" rIns="91440" bIns="45720" rtlCol="0" anchor="ctr">
            <a:normAutofit/>
          </a:bodyPr>
          <a:lstStyle/>
          <a:p>
            <a:r>
              <a:rPr lang="fr-FR" sz="4000" b="1" dirty="0">
                <a:solidFill>
                  <a:schemeClr val="bg1"/>
                </a:solidFill>
              </a:rPr>
              <a:t>Groupe D – Notre marché cible</a:t>
            </a:r>
            <a:endParaRPr lang="en-US" sz="4000" noProof="0" dirty="0">
              <a:solidFill>
                <a:srgbClr val="FFFFFF"/>
              </a:solidFill>
            </a:endParaRPr>
          </a:p>
        </p:txBody>
      </p:sp>
      <p:grpSp>
        <p:nvGrpSpPr>
          <p:cNvPr id="67" name="Groupe 66">
            <a:extLst>
              <a:ext uri="{FF2B5EF4-FFF2-40B4-BE49-F238E27FC236}">
                <a16:creationId xmlns:a16="http://schemas.microsoft.com/office/drawing/2014/main" id="{1A4A9EC3-FF21-F7CB-C0E0-E00FCDEAF01F}"/>
              </a:ext>
            </a:extLst>
          </p:cNvPr>
          <p:cNvGrpSpPr/>
          <p:nvPr/>
        </p:nvGrpSpPr>
        <p:grpSpPr>
          <a:xfrm>
            <a:off x="680689" y="1917253"/>
            <a:ext cx="10837568" cy="3121091"/>
            <a:chOff x="680689" y="2365309"/>
            <a:chExt cx="10837568" cy="3675555"/>
          </a:xfrm>
        </p:grpSpPr>
        <p:grpSp>
          <p:nvGrpSpPr>
            <p:cNvPr id="8" name="Groupe 7">
              <a:extLst>
                <a:ext uri="{FF2B5EF4-FFF2-40B4-BE49-F238E27FC236}">
                  <a16:creationId xmlns:a16="http://schemas.microsoft.com/office/drawing/2014/main" id="{A6E8C60D-EAEB-93B2-9E46-D0340E8CA292}"/>
                </a:ext>
              </a:extLst>
            </p:cNvPr>
            <p:cNvGrpSpPr/>
            <p:nvPr/>
          </p:nvGrpSpPr>
          <p:grpSpPr>
            <a:xfrm>
              <a:off x="680689" y="2374206"/>
              <a:ext cx="2490796" cy="3657763"/>
              <a:chOff x="537952" y="1939823"/>
              <a:chExt cx="3219182" cy="3992890"/>
            </a:xfrm>
          </p:grpSpPr>
          <p:sp>
            <p:nvSpPr>
              <p:cNvPr id="5" name="Rectangle : coins arrondis 4">
                <a:extLst>
                  <a:ext uri="{FF2B5EF4-FFF2-40B4-BE49-F238E27FC236}">
                    <a16:creationId xmlns:a16="http://schemas.microsoft.com/office/drawing/2014/main" id="{B66306E6-531B-682E-E559-041A0DCCA086}"/>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7" name="Groupe 36">
                <a:extLst>
                  <a:ext uri="{FF2B5EF4-FFF2-40B4-BE49-F238E27FC236}">
                    <a16:creationId xmlns:a16="http://schemas.microsoft.com/office/drawing/2014/main" id="{A66D9D0D-A26C-8AF1-2EEE-F4500494ECFA}"/>
                  </a:ext>
                </a:extLst>
              </p:cNvPr>
              <p:cNvGrpSpPr/>
              <p:nvPr/>
            </p:nvGrpSpPr>
            <p:grpSpPr>
              <a:xfrm>
                <a:off x="537952" y="1939823"/>
                <a:ext cx="3219182" cy="3992890"/>
                <a:chOff x="1099185" y="2350770"/>
                <a:chExt cx="1965960" cy="1234440"/>
              </a:xfrm>
            </p:grpSpPr>
            <p:sp>
              <p:nvSpPr>
                <p:cNvPr id="25" name="Shape 2">
                  <a:extLst>
                    <a:ext uri="{FF2B5EF4-FFF2-40B4-BE49-F238E27FC236}">
                      <a16:creationId xmlns:a16="http://schemas.microsoft.com/office/drawing/2014/main" id="{4833A1CB-0C63-8BDB-18FC-FD54E51314B6}"/>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26" name="Text 3">
                  <a:extLst>
                    <a:ext uri="{FF2B5EF4-FFF2-40B4-BE49-F238E27FC236}">
                      <a16:creationId xmlns:a16="http://schemas.microsoft.com/office/drawing/2014/main" id="{86467AED-1FB2-C6E4-8A57-F4945B7C5CCE}"/>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 4">
                  <a:extLst>
                    <a:ext uri="{FF2B5EF4-FFF2-40B4-BE49-F238E27FC236}">
                      <a16:creationId xmlns:a16="http://schemas.microsoft.com/office/drawing/2014/main" id="{10C8FBAB-F975-C688-5AD2-5B699A7F50B3}"/>
                    </a:ext>
                  </a:extLst>
                </p:cNvPr>
                <p:cNvSpPr/>
                <p:nvPr/>
              </p:nvSpPr>
              <p:spPr>
                <a:xfrm>
                  <a:off x="1099185" y="2762368"/>
                  <a:ext cx="1965960" cy="722258"/>
                </a:xfrm>
                <a:prstGeom prst="rect">
                  <a:avLst/>
                </a:prstGeom>
                <a:noFill/>
                <a:ln/>
              </p:spPr>
              <p:txBody>
                <a:bodyPr wrap="square" lIns="0" tIns="0" rIns="0" bIns="0" rtlCol="0" anchor="ctr"/>
                <a:lstStyle/>
                <a:p>
                  <a:pPr algn="ctr" defTabSz="1186708">
                    <a:spcAft>
                      <a:spcPts val="618"/>
                    </a:spcAft>
                  </a:pPr>
                  <a:r>
                    <a:rPr lang="fr-FR" sz="2472" kern="1200" dirty="0">
                      <a:solidFill>
                        <a:srgbClr val="FFC000"/>
                      </a:solidFill>
                      <a:latin typeface="Calibri" panose="020F0502020204030204" pitchFamily="34" charset="0"/>
                      <a:ea typeface="+mn-ea"/>
                      <a:cs typeface="Calibri" panose="020F0502020204030204" pitchFamily="34" charset="0"/>
                    </a:rPr>
                    <a:t>Pouvoir d’achat</a:t>
                  </a:r>
                </a:p>
                <a:p>
                  <a:pPr algn="ctr" defTabSz="1186708">
                    <a:spcAft>
                      <a:spcPts val="618"/>
                    </a:spcAft>
                  </a:pPr>
                  <a:endParaRPr lang="fr-FR" sz="1236" kern="1200" dirty="0">
                    <a:solidFill>
                      <a:srgbClr val="AECFDF"/>
                    </a:solidFill>
                    <a:latin typeface="Calibri" panose="020F0502020204030204" pitchFamily="34" charset="0"/>
                    <a:ea typeface="+mn-ea"/>
                    <a:cs typeface="Calibri" panose="020F0502020204030204" pitchFamily="34" charset="0"/>
                  </a:endParaRPr>
                </a:p>
                <a:p>
                  <a:pPr algn="ctr" defTabSz="1186708">
                    <a:spcAft>
                      <a:spcPts val="618"/>
                    </a:spcAft>
                  </a:pPr>
                  <a:endParaRPr lang="fr-FR" sz="1236" kern="1200" dirty="0">
                    <a:solidFill>
                      <a:srgbClr val="AECFDF"/>
                    </a:solidFill>
                    <a:latin typeface="Calibri" panose="020F0502020204030204" pitchFamily="34" charset="0"/>
                    <a:ea typeface="+mn-ea"/>
                    <a:cs typeface="Calibri" panose="020F0502020204030204" pitchFamily="34" charset="0"/>
                  </a:endParaRPr>
                </a:p>
                <a:p>
                  <a:pPr algn="ctr" defTabSz="1186708">
                    <a:spcAft>
                      <a:spcPts val="618"/>
                    </a:spcAft>
                  </a:pPr>
                  <a:r>
                    <a:rPr lang="fr-FR" sz="1236" kern="1200" dirty="0">
                      <a:solidFill>
                        <a:schemeClr val="bg1">
                          <a:lumMod val="75000"/>
                        </a:schemeClr>
                      </a:solidFill>
                      <a:latin typeface="Calibri" panose="020F0502020204030204" pitchFamily="34" charset="0"/>
                      <a:ea typeface="+mn-ea"/>
                      <a:cs typeface="Calibri" panose="020F0502020204030204" pitchFamily="34" charset="0"/>
                    </a:rPr>
                    <a:t>PIB par habitants élevé. Démontre une capacité à s’acheter du bio</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7" name="Groupe 6">
              <a:extLst>
                <a:ext uri="{FF2B5EF4-FFF2-40B4-BE49-F238E27FC236}">
                  <a16:creationId xmlns:a16="http://schemas.microsoft.com/office/drawing/2014/main" id="{46667805-57AD-7F37-C6F1-984CC5EE3F4E}"/>
                </a:ext>
              </a:extLst>
            </p:cNvPr>
            <p:cNvGrpSpPr/>
            <p:nvPr/>
          </p:nvGrpSpPr>
          <p:grpSpPr>
            <a:xfrm>
              <a:off x="3459929" y="2371454"/>
              <a:ext cx="2494543" cy="3663267"/>
              <a:chOff x="537952" y="1939823"/>
              <a:chExt cx="3219182" cy="3992890"/>
            </a:xfrm>
          </p:grpSpPr>
          <p:sp>
            <p:nvSpPr>
              <p:cNvPr id="20" name="Rectangle : coins arrondis 19">
                <a:extLst>
                  <a:ext uri="{FF2B5EF4-FFF2-40B4-BE49-F238E27FC236}">
                    <a16:creationId xmlns:a16="http://schemas.microsoft.com/office/drawing/2014/main" id="{89D9AB92-1400-1BD1-9B0E-20D8524F8C70}"/>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4" name="Groupe 23">
                <a:extLst>
                  <a:ext uri="{FF2B5EF4-FFF2-40B4-BE49-F238E27FC236}">
                    <a16:creationId xmlns:a16="http://schemas.microsoft.com/office/drawing/2014/main" id="{DC94DF66-55DC-3553-08D3-A81F9CE6CA9B}"/>
                  </a:ext>
                </a:extLst>
              </p:cNvPr>
              <p:cNvGrpSpPr/>
              <p:nvPr/>
            </p:nvGrpSpPr>
            <p:grpSpPr>
              <a:xfrm>
                <a:off x="537952" y="1939823"/>
                <a:ext cx="3219182" cy="3992890"/>
                <a:chOff x="1099185" y="2350770"/>
                <a:chExt cx="1965960" cy="1234440"/>
              </a:xfrm>
            </p:grpSpPr>
            <p:sp>
              <p:nvSpPr>
                <p:cNvPr id="29" name="Shape 2">
                  <a:extLst>
                    <a:ext uri="{FF2B5EF4-FFF2-40B4-BE49-F238E27FC236}">
                      <a16:creationId xmlns:a16="http://schemas.microsoft.com/office/drawing/2014/main" id="{7F713B80-6608-0B73-5A20-B3C2581E8DC8}"/>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 3">
                  <a:extLst>
                    <a:ext uri="{FF2B5EF4-FFF2-40B4-BE49-F238E27FC236}">
                      <a16:creationId xmlns:a16="http://schemas.microsoft.com/office/drawing/2014/main" id="{CAA1FAC6-3FDE-E1F3-DE4D-E80E08EA18B8}"/>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31" name="Text 4">
                  <a:extLst>
                    <a:ext uri="{FF2B5EF4-FFF2-40B4-BE49-F238E27FC236}">
                      <a16:creationId xmlns:a16="http://schemas.microsoft.com/office/drawing/2014/main" id="{B7A534E5-42E9-5CF9-3FFC-40D4200C5004}"/>
                    </a:ext>
                  </a:extLst>
                </p:cNvPr>
                <p:cNvSpPr/>
                <p:nvPr/>
              </p:nvSpPr>
              <p:spPr>
                <a:xfrm>
                  <a:off x="1099185" y="2762368"/>
                  <a:ext cx="1965960" cy="722258"/>
                </a:xfrm>
                <a:prstGeom prst="rect">
                  <a:avLst/>
                </a:prstGeom>
                <a:noFill/>
                <a:ln/>
              </p:spPr>
              <p:txBody>
                <a:bodyPr wrap="square" lIns="0" tIns="0" rIns="0" bIns="0" rtlCol="0" anchor="ctr"/>
                <a:lstStyle/>
                <a:p>
                  <a:pPr algn="ctr" defTabSz="1186708">
                    <a:spcAft>
                      <a:spcPts val="618"/>
                    </a:spcAft>
                  </a:pPr>
                  <a:r>
                    <a:rPr lang="fr-FR" sz="2472" kern="1200" dirty="0">
                      <a:solidFill>
                        <a:srgbClr val="FFC000"/>
                      </a:solidFill>
                      <a:latin typeface="Calibri" panose="020F0502020204030204" pitchFamily="34" charset="0"/>
                      <a:ea typeface="+mn-ea"/>
                      <a:cs typeface="Calibri" panose="020F0502020204030204" pitchFamily="34" charset="0"/>
                    </a:rPr>
                    <a:t>Proximité</a:t>
                  </a:r>
                </a:p>
                <a:p>
                  <a:pPr algn="ctr" defTabSz="1186708">
                    <a:spcAft>
                      <a:spcPts val="618"/>
                    </a:spcAft>
                  </a:pPr>
                  <a:endParaRPr lang="fr-FR" sz="1236" kern="1200" dirty="0">
                    <a:solidFill>
                      <a:srgbClr val="AECFDF"/>
                    </a:solidFill>
                    <a:latin typeface="Calibri" panose="020F0502020204030204" pitchFamily="34" charset="0"/>
                    <a:ea typeface="+mn-ea"/>
                    <a:cs typeface="Calibri" panose="020F0502020204030204" pitchFamily="34" charset="0"/>
                  </a:endParaRPr>
                </a:p>
                <a:p>
                  <a:pPr algn="ctr" defTabSz="1186708">
                    <a:spcAft>
                      <a:spcPts val="618"/>
                    </a:spcAft>
                  </a:pPr>
                  <a:endParaRPr lang="fr-FR" sz="1236" kern="1200" dirty="0">
                    <a:solidFill>
                      <a:srgbClr val="AECFDF"/>
                    </a:solidFill>
                    <a:latin typeface="Calibri" panose="020F0502020204030204" pitchFamily="34" charset="0"/>
                    <a:ea typeface="+mn-ea"/>
                    <a:cs typeface="Calibri" panose="020F0502020204030204" pitchFamily="34" charset="0"/>
                  </a:endParaRPr>
                </a:p>
                <a:p>
                  <a:pPr algn="ctr" defTabSz="1186708">
                    <a:spcAft>
                      <a:spcPts val="618"/>
                    </a:spcAft>
                  </a:pPr>
                  <a:r>
                    <a:rPr lang="fr-FR" sz="1236" kern="1200" dirty="0">
                      <a:solidFill>
                        <a:schemeClr val="bg1">
                          <a:lumMod val="75000"/>
                        </a:schemeClr>
                      </a:solidFill>
                      <a:latin typeface="Calibri" panose="020F0502020204030204" pitchFamily="34" charset="0"/>
                      <a:ea typeface="+mn-ea"/>
                      <a:cs typeface="Calibri" panose="020F0502020204030204" pitchFamily="34" charset="0"/>
                    </a:rPr>
                    <a:t>Coûts logistiques et écologiques maîtrisés</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3" name="Groupe 32">
              <a:extLst>
                <a:ext uri="{FF2B5EF4-FFF2-40B4-BE49-F238E27FC236}">
                  <a16:creationId xmlns:a16="http://schemas.microsoft.com/office/drawing/2014/main" id="{189B29ED-C44C-E317-6D80-A048647CBCB7}"/>
                </a:ext>
              </a:extLst>
            </p:cNvPr>
            <p:cNvGrpSpPr/>
            <p:nvPr/>
          </p:nvGrpSpPr>
          <p:grpSpPr>
            <a:xfrm>
              <a:off x="9015349" y="2365309"/>
              <a:ext cx="2502908" cy="3675551"/>
              <a:chOff x="537952" y="1939823"/>
              <a:chExt cx="3219182" cy="3992890"/>
            </a:xfrm>
          </p:grpSpPr>
          <p:sp>
            <p:nvSpPr>
              <p:cNvPr id="35" name="Rectangle : coins arrondis 34">
                <a:extLst>
                  <a:ext uri="{FF2B5EF4-FFF2-40B4-BE49-F238E27FC236}">
                    <a16:creationId xmlns:a16="http://schemas.microsoft.com/office/drawing/2014/main" id="{888465BF-5A1E-E53A-CE1C-5D643A75A763}"/>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6" name="Groupe 35">
                <a:extLst>
                  <a:ext uri="{FF2B5EF4-FFF2-40B4-BE49-F238E27FC236}">
                    <a16:creationId xmlns:a16="http://schemas.microsoft.com/office/drawing/2014/main" id="{01D6EA43-F2D1-377B-2619-4E71094EDC86}"/>
                  </a:ext>
                </a:extLst>
              </p:cNvPr>
              <p:cNvGrpSpPr/>
              <p:nvPr/>
            </p:nvGrpSpPr>
            <p:grpSpPr>
              <a:xfrm>
                <a:off x="537952" y="1939823"/>
                <a:ext cx="3219182" cy="3992890"/>
                <a:chOff x="1099185" y="2350770"/>
                <a:chExt cx="1965960" cy="1234440"/>
              </a:xfrm>
            </p:grpSpPr>
            <p:sp>
              <p:nvSpPr>
                <p:cNvPr id="38" name="Shape 2">
                  <a:extLst>
                    <a:ext uri="{FF2B5EF4-FFF2-40B4-BE49-F238E27FC236}">
                      <a16:creationId xmlns:a16="http://schemas.microsoft.com/office/drawing/2014/main" id="{2D017F98-BD68-44A3-3285-CB5E78D35797}"/>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39" name="Text 3">
                  <a:extLst>
                    <a:ext uri="{FF2B5EF4-FFF2-40B4-BE49-F238E27FC236}">
                      <a16:creationId xmlns:a16="http://schemas.microsoft.com/office/drawing/2014/main" id="{137C7225-1F54-C613-1EA5-AA6CB4EC22AF}"/>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40" name="Text 4">
                  <a:extLst>
                    <a:ext uri="{FF2B5EF4-FFF2-40B4-BE49-F238E27FC236}">
                      <a16:creationId xmlns:a16="http://schemas.microsoft.com/office/drawing/2014/main" id="{DA0C54E0-BEA7-DF93-D8EB-AB7E8FEA91EE}"/>
                    </a:ext>
                  </a:extLst>
                </p:cNvPr>
                <p:cNvSpPr/>
                <p:nvPr/>
              </p:nvSpPr>
              <p:spPr>
                <a:xfrm>
                  <a:off x="1099185" y="2762368"/>
                  <a:ext cx="1965960" cy="722258"/>
                </a:xfrm>
                <a:prstGeom prst="rect">
                  <a:avLst/>
                </a:prstGeom>
                <a:noFill/>
                <a:ln/>
              </p:spPr>
              <p:txBody>
                <a:bodyPr wrap="square" lIns="0" tIns="0" rIns="0" bIns="0" rtlCol="0" anchor="ctr"/>
                <a:lstStyle/>
                <a:p>
                  <a:pPr algn="ctr" defTabSz="1198230">
                    <a:spcAft>
                      <a:spcPts val="624"/>
                    </a:spcAft>
                  </a:pPr>
                  <a:r>
                    <a:rPr lang="fr-FR" sz="2496" kern="1200" dirty="0">
                      <a:solidFill>
                        <a:srgbClr val="FFC000"/>
                      </a:solidFill>
                      <a:latin typeface="Calibri" panose="020F0502020204030204" pitchFamily="34" charset="0"/>
                      <a:ea typeface="+mn-ea"/>
                      <a:cs typeface="Calibri" panose="020F0502020204030204" pitchFamily="34" charset="0"/>
                    </a:rPr>
                    <a:t>Importateurs</a:t>
                  </a:r>
                </a:p>
                <a:p>
                  <a:pPr algn="ctr" defTabSz="1198230">
                    <a:spcAft>
                      <a:spcPts val="624"/>
                    </a:spcAft>
                  </a:pPr>
                  <a:endParaRPr lang="fr-FR" sz="1248" kern="1200" dirty="0">
                    <a:solidFill>
                      <a:srgbClr val="AECFDF"/>
                    </a:solidFill>
                    <a:latin typeface="Calibri" panose="020F0502020204030204" pitchFamily="34" charset="0"/>
                    <a:ea typeface="+mn-ea"/>
                    <a:cs typeface="Calibri" panose="020F0502020204030204" pitchFamily="34" charset="0"/>
                  </a:endParaRPr>
                </a:p>
                <a:p>
                  <a:pPr algn="ctr" defTabSz="1198230">
                    <a:spcAft>
                      <a:spcPts val="624"/>
                    </a:spcAft>
                  </a:pPr>
                  <a:endParaRPr lang="fr-FR" sz="1248" kern="1200" dirty="0">
                    <a:solidFill>
                      <a:srgbClr val="AECFDF"/>
                    </a:solidFill>
                    <a:latin typeface="Calibri" panose="020F0502020204030204" pitchFamily="34" charset="0"/>
                    <a:ea typeface="+mn-ea"/>
                    <a:cs typeface="Calibri" panose="020F0502020204030204" pitchFamily="34" charset="0"/>
                  </a:endParaRPr>
                </a:p>
                <a:p>
                  <a:pPr algn="ctr" defTabSz="1198230">
                    <a:spcAft>
                      <a:spcPts val="624"/>
                    </a:spcAft>
                  </a:pPr>
                  <a:r>
                    <a:rPr lang="fr-FR" sz="1248" noProof="0" dirty="0">
                      <a:solidFill>
                        <a:schemeClr val="bg1">
                          <a:lumMod val="75000"/>
                        </a:schemeClr>
                      </a:solidFill>
                      <a:latin typeface="Calibri" panose="020F0502020204030204" pitchFamily="34" charset="0"/>
                      <a:cs typeface="Calibri" panose="020F0502020204030204" pitchFamily="34" charset="0"/>
                    </a:rPr>
                    <a:t>Fort intérêt pour nos produits dans la population</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42" name="Groupe 41">
              <a:extLst>
                <a:ext uri="{FF2B5EF4-FFF2-40B4-BE49-F238E27FC236}">
                  <a16:creationId xmlns:a16="http://schemas.microsoft.com/office/drawing/2014/main" id="{F7A38131-9289-50E0-422C-C2524685441C}"/>
                </a:ext>
              </a:extLst>
            </p:cNvPr>
            <p:cNvGrpSpPr/>
            <p:nvPr/>
          </p:nvGrpSpPr>
          <p:grpSpPr>
            <a:xfrm>
              <a:off x="6239169" y="2365310"/>
              <a:ext cx="2502912" cy="3675554"/>
              <a:chOff x="537952" y="1939823"/>
              <a:chExt cx="3219182" cy="3992890"/>
            </a:xfrm>
          </p:grpSpPr>
          <p:sp>
            <p:nvSpPr>
              <p:cNvPr id="44" name="Rectangle : coins arrondis 43">
                <a:extLst>
                  <a:ext uri="{FF2B5EF4-FFF2-40B4-BE49-F238E27FC236}">
                    <a16:creationId xmlns:a16="http://schemas.microsoft.com/office/drawing/2014/main" id="{F6AEFED7-628F-DEFA-E73B-03B280606418}"/>
                  </a:ext>
                </a:extLst>
              </p:cNvPr>
              <p:cNvSpPr/>
              <p:nvPr/>
            </p:nvSpPr>
            <p:spPr>
              <a:xfrm>
                <a:off x="1691640" y="2267712"/>
                <a:ext cx="932688" cy="640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6" name="Groupe 45">
                <a:extLst>
                  <a:ext uri="{FF2B5EF4-FFF2-40B4-BE49-F238E27FC236}">
                    <a16:creationId xmlns:a16="http://schemas.microsoft.com/office/drawing/2014/main" id="{EC33E9F2-5580-8E59-10EE-1BAEA394423A}"/>
                  </a:ext>
                </a:extLst>
              </p:cNvPr>
              <p:cNvGrpSpPr/>
              <p:nvPr/>
            </p:nvGrpSpPr>
            <p:grpSpPr>
              <a:xfrm>
                <a:off x="537952" y="1939823"/>
                <a:ext cx="3219182" cy="3992890"/>
                <a:chOff x="1099185" y="2350770"/>
                <a:chExt cx="1965960" cy="1234440"/>
              </a:xfrm>
            </p:grpSpPr>
            <p:sp>
              <p:nvSpPr>
                <p:cNvPr id="48" name="Shape 2">
                  <a:extLst>
                    <a:ext uri="{FF2B5EF4-FFF2-40B4-BE49-F238E27FC236}">
                      <a16:creationId xmlns:a16="http://schemas.microsoft.com/office/drawing/2014/main" id="{A47E588F-B92D-3E83-30BE-14E4DA7FB729}"/>
                    </a:ext>
                  </a:extLst>
                </p:cNvPr>
                <p:cNvSpPr/>
                <p:nvPr/>
              </p:nvSpPr>
              <p:spPr>
                <a:xfrm>
                  <a:off x="1099185" y="2350770"/>
                  <a:ext cx="1965960" cy="1234440"/>
                </a:xfrm>
                <a:prstGeom prst="rect">
                  <a:avLst/>
                </a:prstGeom>
                <a:solidFill>
                  <a:srgbClr val="1A3A5C"/>
                </a:solidFill>
                <a:ln/>
                <a:effectLst>
                  <a:outerShdw blurRad="101600" dist="38100" dir="8100000" algn="bl" rotWithShape="0">
                    <a:srgbClr val="000000">
                      <a:alpha val="13000"/>
                    </a:srgbClr>
                  </a:outerShdw>
                </a:effectLst>
              </p:spPr>
              <p:txBody>
                <a:bodyPr/>
                <a:lstStyle/>
                <a:p>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50" name="Text 3">
                  <a:extLst>
                    <a:ext uri="{FF2B5EF4-FFF2-40B4-BE49-F238E27FC236}">
                      <a16:creationId xmlns:a16="http://schemas.microsoft.com/office/drawing/2014/main" id="{E17854A4-CA8A-0CF7-38B6-90EB066FE3B7}"/>
                    </a:ext>
                  </a:extLst>
                </p:cNvPr>
                <p:cNvSpPr/>
                <p:nvPr/>
              </p:nvSpPr>
              <p:spPr>
                <a:xfrm>
                  <a:off x="1099185" y="2414778"/>
                  <a:ext cx="1965960" cy="271865"/>
                </a:xfrm>
                <a:prstGeom prst="rect">
                  <a:avLst/>
                </a:prstGeom>
                <a:noFill/>
                <a:ln/>
              </p:spPr>
              <p:txBody>
                <a:bodyPr wrap="square" lIns="0" tIns="0" rIns="0" bIns="0" rtlCol="0" anchor="ctr"/>
                <a:lstStyle/>
                <a:p>
                  <a:pPr algn="ctr" defTabSz="1152144">
                    <a:spcAft>
                      <a:spcPts val="600"/>
                    </a:spcAft>
                  </a:pPr>
                  <a:endParaRPr lang="fr-FR" sz="2800" noProof="0" dirty="0">
                    <a:latin typeface="Calibri" panose="020F0502020204030204" pitchFamily="34" charset="0"/>
                    <a:ea typeface="Calibri" panose="020F0502020204030204" pitchFamily="34" charset="0"/>
                    <a:cs typeface="Calibri" panose="020F0502020204030204" pitchFamily="34" charset="0"/>
                  </a:endParaRPr>
                </a:p>
              </p:txBody>
            </p:sp>
            <p:sp>
              <p:nvSpPr>
                <p:cNvPr id="52" name="Text 4">
                  <a:extLst>
                    <a:ext uri="{FF2B5EF4-FFF2-40B4-BE49-F238E27FC236}">
                      <a16:creationId xmlns:a16="http://schemas.microsoft.com/office/drawing/2014/main" id="{E9DBABC0-F859-8B60-0D0D-7BB4582F9A79}"/>
                    </a:ext>
                  </a:extLst>
                </p:cNvPr>
                <p:cNvSpPr/>
                <p:nvPr/>
              </p:nvSpPr>
              <p:spPr>
                <a:xfrm>
                  <a:off x="1099185" y="2762368"/>
                  <a:ext cx="1965960" cy="722258"/>
                </a:xfrm>
                <a:prstGeom prst="rect">
                  <a:avLst/>
                </a:prstGeom>
                <a:noFill/>
                <a:ln/>
              </p:spPr>
              <p:txBody>
                <a:bodyPr wrap="square" lIns="0" tIns="0" rIns="0" bIns="0" rtlCol="0" anchor="ctr"/>
                <a:lstStyle/>
                <a:p>
                  <a:pPr algn="ctr" defTabSz="1198230">
                    <a:spcAft>
                      <a:spcPts val="624"/>
                    </a:spcAft>
                  </a:pPr>
                  <a:r>
                    <a:rPr lang="fr-FR" sz="2496" kern="1200" dirty="0">
                      <a:solidFill>
                        <a:srgbClr val="FFC000"/>
                      </a:solidFill>
                      <a:latin typeface="Calibri" panose="020F0502020204030204" pitchFamily="34" charset="0"/>
                      <a:ea typeface="+mn-ea"/>
                      <a:cs typeface="Calibri" panose="020F0502020204030204" pitchFamily="34" charset="0"/>
                    </a:rPr>
                    <a:t>Stabilité</a:t>
                  </a:r>
                </a:p>
                <a:p>
                  <a:pPr algn="ctr" defTabSz="1198230">
                    <a:spcAft>
                      <a:spcPts val="624"/>
                    </a:spcAft>
                  </a:pPr>
                  <a:endParaRPr lang="fr-FR" sz="1248" kern="1200" dirty="0">
                    <a:solidFill>
                      <a:srgbClr val="AECFDF"/>
                    </a:solidFill>
                    <a:latin typeface="Calibri" panose="020F0502020204030204" pitchFamily="34" charset="0"/>
                    <a:ea typeface="+mn-ea"/>
                    <a:cs typeface="Calibri" panose="020F0502020204030204" pitchFamily="34" charset="0"/>
                  </a:endParaRPr>
                </a:p>
                <a:p>
                  <a:pPr algn="ctr" defTabSz="1198230">
                    <a:spcAft>
                      <a:spcPts val="624"/>
                    </a:spcAft>
                  </a:pPr>
                  <a:endParaRPr lang="fr-FR" sz="1248" kern="1200" dirty="0">
                    <a:solidFill>
                      <a:srgbClr val="AECFDF"/>
                    </a:solidFill>
                    <a:latin typeface="Calibri" panose="020F0502020204030204" pitchFamily="34" charset="0"/>
                    <a:ea typeface="+mn-ea"/>
                    <a:cs typeface="Calibri" panose="020F0502020204030204" pitchFamily="34" charset="0"/>
                  </a:endParaRPr>
                </a:p>
                <a:p>
                  <a:pPr algn="ctr" defTabSz="1198230">
                    <a:spcAft>
                      <a:spcPts val="624"/>
                    </a:spcAft>
                  </a:pPr>
                  <a:r>
                    <a:rPr lang="fr-FR" sz="1248" kern="1200" dirty="0">
                      <a:solidFill>
                        <a:schemeClr val="bg1">
                          <a:lumMod val="75000"/>
                        </a:schemeClr>
                      </a:solidFill>
                      <a:latin typeface="Calibri" panose="020F0502020204030204" pitchFamily="34" charset="0"/>
                      <a:ea typeface="+mn-ea"/>
                      <a:cs typeface="Calibri" panose="020F0502020204030204" pitchFamily="34" charset="0"/>
                    </a:rPr>
                    <a:t>Diminue la prise de risque lors de l’investissement</a:t>
                  </a:r>
                  <a:endParaRPr lang="fr-FR" sz="1200" kern="1200" noProof="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55" name="Graphique 54" descr="Euro avec un remplissage uni">
              <a:extLst>
                <a:ext uri="{FF2B5EF4-FFF2-40B4-BE49-F238E27FC236}">
                  <a16:creationId xmlns:a16="http://schemas.microsoft.com/office/drawing/2014/main" id="{7A123FD1-883E-E8C0-BD44-70FA32001E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8887" y="2780351"/>
              <a:ext cx="914400" cy="914400"/>
            </a:xfrm>
            <a:prstGeom prst="rect">
              <a:avLst/>
            </a:prstGeom>
          </p:spPr>
        </p:pic>
        <p:pic>
          <p:nvPicPr>
            <p:cNvPr id="57" name="Graphique 56" descr="Camion contour">
              <a:extLst>
                <a:ext uri="{FF2B5EF4-FFF2-40B4-BE49-F238E27FC236}">
                  <a16:creationId xmlns:a16="http://schemas.microsoft.com/office/drawing/2014/main" id="{B7E04ED5-0BE4-11C2-A348-AA57CCFE88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5346" y="2807907"/>
              <a:ext cx="914400" cy="914400"/>
            </a:xfrm>
            <a:prstGeom prst="rect">
              <a:avLst/>
            </a:prstGeom>
          </p:spPr>
        </p:pic>
        <p:pic>
          <p:nvPicPr>
            <p:cNvPr id="61" name="Graphique 60" descr="Balance de la justice avec un remplissage uni">
              <a:extLst>
                <a:ext uri="{FF2B5EF4-FFF2-40B4-BE49-F238E27FC236}">
                  <a16:creationId xmlns:a16="http://schemas.microsoft.com/office/drawing/2014/main" id="{3041BADA-987F-BA8F-7258-E61642AE2B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27711" y="2798382"/>
              <a:ext cx="914400" cy="914400"/>
            </a:xfrm>
            <a:prstGeom prst="rect">
              <a:avLst/>
            </a:prstGeom>
          </p:spPr>
        </p:pic>
        <p:pic>
          <p:nvPicPr>
            <p:cNvPr id="65" name="Graphique 64" descr="Inventaire contour">
              <a:extLst>
                <a:ext uri="{FF2B5EF4-FFF2-40B4-BE49-F238E27FC236}">
                  <a16:creationId xmlns:a16="http://schemas.microsoft.com/office/drawing/2014/main" id="{F72277A6-8649-E977-CD9D-FE818F66CD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7720" y="2798382"/>
              <a:ext cx="914400" cy="914400"/>
            </a:xfrm>
            <a:prstGeom prst="rect">
              <a:avLst/>
            </a:prstGeom>
          </p:spPr>
        </p:pic>
      </p:grpSp>
      <p:grpSp>
        <p:nvGrpSpPr>
          <p:cNvPr id="68" name="Groupe 67">
            <a:extLst>
              <a:ext uri="{FF2B5EF4-FFF2-40B4-BE49-F238E27FC236}">
                <a16:creationId xmlns:a16="http://schemas.microsoft.com/office/drawing/2014/main" id="{CF6A5557-64B2-3F5D-BB8A-A35F718919FF}"/>
              </a:ext>
            </a:extLst>
          </p:cNvPr>
          <p:cNvGrpSpPr/>
          <p:nvPr/>
        </p:nvGrpSpPr>
        <p:grpSpPr>
          <a:xfrm>
            <a:off x="680689" y="5325200"/>
            <a:ext cx="10769108" cy="1211072"/>
            <a:chOff x="320040" y="1024128"/>
            <a:chExt cx="4206240" cy="1719072"/>
          </a:xfrm>
        </p:grpSpPr>
        <p:sp>
          <p:nvSpPr>
            <p:cNvPr id="69" name="Shape 2">
              <a:extLst>
                <a:ext uri="{FF2B5EF4-FFF2-40B4-BE49-F238E27FC236}">
                  <a16:creationId xmlns:a16="http://schemas.microsoft.com/office/drawing/2014/main" id="{D8A55CB0-BAD7-B13E-2945-F442D7CE300D}"/>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70" name="Shape 3">
              <a:extLst>
                <a:ext uri="{FF2B5EF4-FFF2-40B4-BE49-F238E27FC236}">
                  <a16:creationId xmlns:a16="http://schemas.microsoft.com/office/drawing/2014/main" id="{87359E3E-BB44-652C-0FB3-8D1AB71FEB27}"/>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71" name="Text 5">
              <a:extLst>
                <a:ext uri="{FF2B5EF4-FFF2-40B4-BE49-F238E27FC236}">
                  <a16:creationId xmlns:a16="http://schemas.microsoft.com/office/drawing/2014/main" id="{ACEBFEF0-257A-AEE2-3616-3ABA446984BE}"/>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72" name="Text 6">
              <a:extLst>
                <a:ext uri="{FF2B5EF4-FFF2-40B4-BE49-F238E27FC236}">
                  <a16:creationId xmlns:a16="http://schemas.microsoft.com/office/drawing/2014/main" id="{2AA9EAD9-3754-965D-8F0C-4BF5D8EA78E7}"/>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38 pays dans ce groupe</a:t>
              </a:r>
              <a:endParaRPr lang="fr-FR" sz="1300" noProof="0" dirty="0"/>
            </a:p>
          </p:txBody>
        </p:sp>
        <p:sp>
          <p:nvSpPr>
            <p:cNvPr id="73" name="Text 7">
              <a:extLst>
                <a:ext uri="{FF2B5EF4-FFF2-40B4-BE49-F238E27FC236}">
                  <a16:creationId xmlns:a16="http://schemas.microsoft.com/office/drawing/2014/main" id="{FAAD2461-A54C-2A23-DA96-14ED7AC24CF6}"/>
                </a:ext>
              </a:extLst>
            </p:cNvPr>
            <p:cNvSpPr/>
            <p:nvPr/>
          </p:nvSpPr>
          <p:spPr>
            <a:xfrm>
              <a:off x="484632" y="1865376"/>
              <a:ext cx="3913632" cy="804672"/>
            </a:xfrm>
            <a:prstGeom prst="rect">
              <a:avLst/>
            </a:prstGeom>
            <a:noFill/>
            <a:ln/>
          </p:spPr>
          <p:txBody>
            <a:bodyPr wrap="square" lIns="0" tIns="0" rIns="0" bIns="0" rtlCol="0" anchor="ctr"/>
            <a:lstStyle/>
            <a:p>
              <a:r>
                <a:rPr lang="fr-FR" sz="1100" dirty="0"/>
                <a:t>Allemagne, Arabie saoudite, Autriche, Belgique, Bulgarie, Canada, Chypre, Croatie, Danemark, Espagne, Estonie, Émirats arabes unis, Fédération de Russie, Finlande, Grèce, Hongrie, Irlande, Islande, Israël, Italie, Japon, Koweït, Lettonie, Lituanie, Luxembourg, Malte, Norvège, Oman, Pays-Bas, Pologne, Portugal, Roumanie, Royaume-Uni de Grande-Bretagne et d'Irlande du Nord, Slovaquie, Slovénie, Suède, Suisse, Tchéquie</a:t>
              </a:r>
            </a:p>
          </p:txBody>
        </p:sp>
      </p:grpSp>
    </p:spTree>
    <p:extLst>
      <p:ext uri="{BB962C8B-B14F-4D97-AF65-F5344CB8AC3E}">
        <p14:creationId xmlns:p14="http://schemas.microsoft.com/office/powerpoint/2010/main" val="1315963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39B19F-F6FB-634E-EC54-478A34039CE9}"/>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A117BC91-30A0-E506-EF24-BE34EE46F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EFB49607-E9BF-C222-6D0E-1EBB219F8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31163AC6-3DCA-995F-863C-F8437B34A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EF1BBF17-3AB5-2DAF-F021-7AF3BC352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6"/>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2DF8AC54-846A-433F-0242-4637F2AF6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 name="Titre 1">
            <a:extLst>
              <a:ext uri="{FF2B5EF4-FFF2-40B4-BE49-F238E27FC236}">
                <a16:creationId xmlns:a16="http://schemas.microsoft.com/office/drawing/2014/main" id="{40F11AE2-3266-2942-4441-EAC45CC56E6E}"/>
              </a:ext>
            </a:extLst>
          </p:cNvPr>
          <p:cNvSpPr>
            <a:spLocks noGrp="1"/>
          </p:cNvSpPr>
          <p:nvPr>
            <p:ph type="title"/>
          </p:nvPr>
        </p:nvSpPr>
        <p:spPr>
          <a:xfrm>
            <a:off x="699714" y="321728"/>
            <a:ext cx="10149261" cy="967956"/>
          </a:xfrm>
        </p:spPr>
        <p:txBody>
          <a:bodyPr vert="horz" lIns="91440" tIns="45720" rIns="91440" bIns="45720" rtlCol="0" anchor="ctr">
            <a:noAutofit/>
          </a:bodyPr>
          <a:lstStyle/>
          <a:p>
            <a:r>
              <a:rPr lang="fr-FR" sz="3600" b="1" noProof="0" dirty="0">
                <a:solidFill>
                  <a:schemeClr val="bg1"/>
                </a:solidFill>
              </a:rPr>
              <a:t>Prochaines étapes recommandées</a:t>
            </a:r>
            <a:endParaRPr lang="fr-FR" sz="3600" noProof="0" dirty="0">
              <a:solidFill>
                <a:schemeClr val="bg1"/>
              </a:solidFill>
            </a:endParaRPr>
          </a:p>
        </p:txBody>
      </p:sp>
      <p:grpSp>
        <p:nvGrpSpPr>
          <p:cNvPr id="3" name="Groupe 2">
            <a:extLst>
              <a:ext uri="{FF2B5EF4-FFF2-40B4-BE49-F238E27FC236}">
                <a16:creationId xmlns:a16="http://schemas.microsoft.com/office/drawing/2014/main" id="{7D3881CC-E1FA-01AF-0236-DD49B19DE90D}"/>
              </a:ext>
            </a:extLst>
          </p:cNvPr>
          <p:cNvGrpSpPr/>
          <p:nvPr/>
        </p:nvGrpSpPr>
        <p:grpSpPr>
          <a:xfrm>
            <a:off x="980440" y="2217928"/>
            <a:ext cx="4206240" cy="1211072"/>
            <a:chOff x="320040" y="1024128"/>
            <a:chExt cx="4206240" cy="1719072"/>
          </a:xfrm>
        </p:grpSpPr>
        <p:sp>
          <p:nvSpPr>
            <p:cNvPr id="4" name="Shape 2">
              <a:extLst>
                <a:ext uri="{FF2B5EF4-FFF2-40B4-BE49-F238E27FC236}">
                  <a16:creationId xmlns:a16="http://schemas.microsoft.com/office/drawing/2014/main" id="{EDE6664B-EFC9-29A0-1F3A-CF10184C3E74}"/>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11" name="Shape 3">
              <a:extLst>
                <a:ext uri="{FF2B5EF4-FFF2-40B4-BE49-F238E27FC236}">
                  <a16:creationId xmlns:a16="http://schemas.microsoft.com/office/drawing/2014/main" id="{EB95F859-6EF4-AC7C-7DEB-D664FE18F5D6}"/>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13" name="Text 5">
              <a:extLst>
                <a:ext uri="{FF2B5EF4-FFF2-40B4-BE49-F238E27FC236}">
                  <a16:creationId xmlns:a16="http://schemas.microsoft.com/office/drawing/2014/main" id="{8D94B4E3-F84F-DFE2-897F-A29DD4F791DF}"/>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14" name="Text 6">
              <a:extLst>
                <a:ext uri="{FF2B5EF4-FFF2-40B4-BE49-F238E27FC236}">
                  <a16:creationId xmlns:a16="http://schemas.microsoft.com/office/drawing/2014/main" id="{DE5C304C-85C6-FBE5-32D3-119A63B8166E}"/>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noProof="0" dirty="0">
                  <a:solidFill>
                    <a:srgbClr val="1E2761"/>
                  </a:solidFill>
                  <a:latin typeface="Georgia" pitchFamily="34" charset="0"/>
                  <a:ea typeface="Georgia" pitchFamily="34" charset="-122"/>
                  <a:cs typeface="Georgia" pitchFamily="34" charset="-120"/>
                </a:rPr>
                <a:t>1. Court terme (3 - 6 mois)</a:t>
              </a:r>
              <a:endParaRPr lang="fr-FR" sz="1300" noProof="0" dirty="0"/>
            </a:p>
          </p:txBody>
        </p:sp>
        <p:sp>
          <p:nvSpPr>
            <p:cNvPr id="15" name="Text 7">
              <a:extLst>
                <a:ext uri="{FF2B5EF4-FFF2-40B4-BE49-F238E27FC236}">
                  <a16:creationId xmlns:a16="http://schemas.microsoft.com/office/drawing/2014/main" id="{9903650E-9D07-F1EA-8CC6-A0E72AA161B8}"/>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Etude de marché approfondie sur 2 ou 3 pays du groupe D</a:t>
              </a:r>
              <a:endParaRPr lang="fr-FR" sz="1100" noProof="0" dirty="0"/>
            </a:p>
          </p:txBody>
        </p:sp>
      </p:grpSp>
      <p:grpSp>
        <p:nvGrpSpPr>
          <p:cNvPr id="16" name="Groupe 15">
            <a:extLst>
              <a:ext uri="{FF2B5EF4-FFF2-40B4-BE49-F238E27FC236}">
                <a16:creationId xmlns:a16="http://schemas.microsoft.com/office/drawing/2014/main" id="{1DB1E893-9C97-32EE-AAFD-5937BD39EEF3}"/>
              </a:ext>
            </a:extLst>
          </p:cNvPr>
          <p:cNvGrpSpPr/>
          <p:nvPr/>
        </p:nvGrpSpPr>
        <p:grpSpPr>
          <a:xfrm>
            <a:off x="6840728" y="2221484"/>
            <a:ext cx="4206240" cy="1207516"/>
            <a:chOff x="320040" y="1024128"/>
            <a:chExt cx="4206240" cy="1719072"/>
          </a:xfrm>
        </p:grpSpPr>
        <p:sp>
          <p:nvSpPr>
            <p:cNvPr id="17" name="Shape 2">
              <a:extLst>
                <a:ext uri="{FF2B5EF4-FFF2-40B4-BE49-F238E27FC236}">
                  <a16:creationId xmlns:a16="http://schemas.microsoft.com/office/drawing/2014/main" id="{DDEF8A31-6C63-2953-3297-B13982089FFF}"/>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18" name="Shape 3">
              <a:extLst>
                <a:ext uri="{FF2B5EF4-FFF2-40B4-BE49-F238E27FC236}">
                  <a16:creationId xmlns:a16="http://schemas.microsoft.com/office/drawing/2014/main" id="{E9A513A2-E711-E8B5-6FA1-B461DC58BD82}"/>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19" name="Text 5">
              <a:extLst>
                <a:ext uri="{FF2B5EF4-FFF2-40B4-BE49-F238E27FC236}">
                  <a16:creationId xmlns:a16="http://schemas.microsoft.com/office/drawing/2014/main" id="{EAA085B2-EBA0-2854-6DF3-4B06E1B6B52C}"/>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20" name="Text 6">
              <a:extLst>
                <a:ext uri="{FF2B5EF4-FFF2-40B4-BE49-F238E27FC236}">
                  <a16:creationId xmlns:a16="http://schemas.microsoft.com/office/drawing/2014/main" id="{6F2559A8-468F-3642-1E01-060CBAF08DE8}"/>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2</a:t>
              </a:r>
              <a:r>
                <a:rPr lang="fr-FR" sz="1300" b="1" noProof="0" dirty="0">
                  <a:solidFill>
                    <a:srgbClr val="1E2761"/>
                  </a:solidFill>
                  <a:latin typeface="Georgia" pitchFamily="34" charset="0"/>
                  <a:ea typeface="Georgia" pitchFamily="34" charset="-122"/>
                  <a:cs typeface="Georgia" pitchFamily="34" charset="-120"/>
                </a:rPr>
                <a:t>. Moyen terme (6 – 12 mois)</a:t>
              </a:r>
              <a:endParaRPr lang="fr-FR" sz="1300" noProof="0" dirty="0"/>
            </a:p>
          </p:txBody>
        </p:sp>
        <p:sp>
          <p:nvSpPr>
            <p:cNvPr id="21" name="Text 7">
              <a:extLst>
                <a:ext uri="{FF2B5EF4-FFF2-40B4-BE49-F238E27FC236}">
                  <a16:creationId xmlns:a16="http://schemas.microsoft.com/office/drawing/2014/main" id="{FBFE0482-E962-D34A-AF5B-29C6B7805251}"/>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Lancement d’un test  sur un des ces pays. Evaluer la demande réelle et ajuster nos prix</a:t>
              </a:r>
              <a:endParaRPr lang="fr-FR" sz="1100" noProof="0" dirty="0"/>
            </a:p>
          </p:txBody>
        </p:sp>
      </p:grpSp>
      <p:grpSp>
        <p:nvGrpSpPr>
          <p:cNvPr id="22" name="Groupe 21">
            <a:extLst>
              <a:ext uri="{FF2B5EF4-FFF2-40B4-BE49-F238E27FC236}">
                <a16:creationId xmlns:a16="http://schemas.microsoft.com/office/drawing/2014/main" id="{8E15511C-CC43-CD4C-EDA9-6BF8EE823FBD}"/>
              </a:ext>
            </a:extLst>
          </p:cNvPr>
          <p:cNvGrpSpPr/>
          <p:nvPr/>
        </p:nvGrpSpPr>
        <p:grpSpPr>
          <a:xfrm>
            <a:off x="980440" y="3719173"/>
            <a:ext cx="4206240" cy="1211072"/>
            <a:chOff x="320040" y="1024128"/>
            <a:chExt cx="4206240" cy="1719072"/>
          </a:xfrm>
        </p:grpSpPr>
        <p:sp>
          <p:nvSpPr>
            <p:cNvPr id="23" name="Shape 2">
              <a:extLst>
                <a:ext uri="{FF2B5EF4-FFF2-40B4-BE49-F238E27FC236}">
                  <a16:creationId xmlns:a16="http://schemas.microsoft.com/office/drawing/2014/main" id="{B0CF0649-1872-94DF-E94B-C1B3FC9BCD24}"/>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24" name="Shape 3">
              <a:extLst>
                <a:ext uri="{FF2B5EF4-FFF2-40B4-BE49-F238E27FC236}">
                  <a16:creationId xmlns:a16="http://schemas.microsoft.com/office/drawing/2014/main" id="{5A63363C-9C7F-2E06-E923-6B25F7D05CE2}"/>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25" name="Text 5">
              <a:extLst>
                <a:ext uri="{FF2B5EF4-FFF2-40B4-BE49-F238E27FC236}">
                  <a16:creationId xmlns:a16="http://schemas.microsoft.com/office/drawing/2014/main" id="{A0A0AAB9-F4E5-5F25-02A6-819BD197C0BA}"/>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26" name="Text 6">
              <a:extLst>
                <a:ext uri="{FF2B5EF4-FFF2-40B4-BE49-F238E27FC236}">
                  <a16:creationId xmlns:a16="http://schemas.microsoft.com/office/drawing/2014/main" id="{54C06C9D-CBB6-3969-7FBC-9E72D4D0B8FC}"/>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3</a:t>
              </a:r>
              <a:r>
                <a:rPr lang="fr-FR" sz="1300" b="1" noProof="0" dirty="0">
                  <a:solidFill>
                    <a:srgbClr val="1E2761"/>
                  </a:solidFill>
                  <a:latin typeface="Georgia" pitchFamily="34" charset="0"/>
                  <a:ea typeface="Georgia" pitchFamily="34" charset="-122"/>
                  <a:cs typeface="Georgia" pitchFamily="34" charset="-120"/>
                </a:rPr>
                <a:t>. Moyen terme (12 -18 mois)</a:t>
              </a:r>
              <a:endParaRPr lang="fr-FR" sz="1300" noProof="0" dirty="0"/>
            </a:p>
          </p:txBody>
        </p:sp>
        <p:sp>
          <p:nvSpPr>
            <p:cNvPr id="27" name="Text 7">
              <a:extLst>
                <a:ext uri="{FF2B5EF4-FFF2-40B4-BE49-F238E27FC236}">
                  <a16:creationId xmlns:a16="http://schemas.microsoft.com/office/drawing/2014/main" id="{454578A3-1964-CB38-8A87-2913125BCE7B}"/>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noProof="0" dirty="0">
                  <a:solidFill>
                    <a:srgbClr val="1E293B"/>
                  </a:solidFill>
                  <a:latin typeface="Calibri" pitchFamily="34" charset="0"/>
                  <a:ea typeface="Calibri" pitchFamily="34" charset="-122"/>
                  <a:cs typeface="Calibri" pitchFamily="34" charset="-120"/>
                </a:rPr>
                <a:t>Porter notre attention sur des pays plus éloignés mais à fort potentiel (hors Europe)</a:t>
              </a:r>
              <a:endParaRPr lang="fr-FR" sz="1100" noProof="0" dirty="0"/>
            </a:p>
          </p:txBody>
        </p:sp>
      </p:grpSp>
      <p:grpSp>
        <p:nvGrpSpPr>
          <p:cNvPr id="28" name="Groupe 27">
            <a:extLst>
              <a:ext uri="{FF2B5EF4-FFF2-40B4-BE49-F238E27FC236}">
                <a16:creationId xmlns:a16="http://schemas.microsoft.com/office/drawing/2014/main" id="{23504B61-C176-BC2E-231D-15F3F3E73F18}"/>
              </a:ext>
            </a:extLst>
          </p:cNvPr>
          <p:cNvGrpSpPr/>
          <p:nvPr/>
        </p:nvGrpSpPr>
        <p:grpSpPr>
          <a:xfrm>
            <a:off x="6840728" y="3718033"/>
            <a:ext cx="4206240" cy="1207516"/>
            <a:chOff x="320040" y="1024128"/>
            <a:chExt cx="4206240" cy="1719072"/>
          </a:xfrm>
        </p:grpSpPr>
        <p:sp>
          <p:nvSpPr>
            <p:cNvPr id="29" name="Shape 2">
              <a:extLst>
                <a:ext uri="{FF2B5EF4-FFF2-40B4-BE49-F238E27FC236}">
                  <a16:creationId xmlns:a16="http://schemas.microsoft.com/office/drawing/2014/main" id="{279899F6-BEC0-FC3C-3D9E-E52208337B15}"/>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30" name="Shape 3">
              <a:extLst>
                <a:ext uri="{FF2B5EF4-FFF2-40B4-BE49-F238E27FC236}">
                  <a16:creationId xmlns:a16="http://schemas.microsoft.com/office/drawing/2014/main" id="{64750300-7F85-4BEC-F1E2-0E81ADB20E19}"/>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31" name="Text 5">
              <a:extLst>
                <a:ext uri="{FF2B5EF4-FFF2-40B4-BE49-F238E27FC236}">
                  <a16:creationId xmlns:a16="http://schemas.microsoft.com/office/drawing/2014/main" id="{70F02232-F158-0557-1506-F8D2691D54F0}"/>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32" name="Text 6">
              <a:extLst>
                <a:ext uri="{FF2B5EF4-FFF2-40B4-BE49-F238E27FC236}">
                  <a16:creationId xmlns:a16="http://schemas.microsoft.com/office/drawing/2014/main" id="{69FED0AB-C3E0-0DE9-CA5D-4ADBE138A3E9}"/>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dirty="0">
                  <a:solidFill>
                    <a:srgbClr val="1E2761"/>
                  </a:solidFill>
                  <a:latin typeface="Georgia" pitchFamily="34" charset="0"/>
                  <a:ea typeface="Georgia" pitchFamily="34" charset="-122"/>
                  <a:cs typeface="Georgia" pitchFamily="34" charset="-120"/>
                </a:rPr>
                <a:t>4</a:t>
              </a:r>
              <a:r>
                <a:rPr lang="fr-FR" sz="1300" b="1" noProof="0" dirty="0">
                  <a:solidFill>
                    <a:srgbClr val="1E2761"/>
                  </a:solidFill>
                  <a:latin typeface="Georgia" pitchFamily="34" charset="0"/>
                  <a:ea typeface="Georgia" pitchFamily="34" charset="-122"/>
                  <a:cs typeface="Georgia" pitchFamily="34" charset="-120"/>
                </a:rPr>
                <a:t>. Long terme (&gt; 18 mois)</a:t>
              </a:r>
              <a:endParaRPr lang="fr-FR" sz="1300" noProof="0" dirty="0"/>
            </a:p>
          </p:txBody>
        </p:sp>
        <p:sp>
          <p:nvSpPr>
            <p:cNvPr id="33" name="Text 7">
              <a:extLst>
                <a:ext uri="{FF2B5EF4-FFF2-40B4-BE49-F238E27FC236}">
                  <a16:creationId xmlns:a16="http://schemas.microsoft.com/office/drawing/2014/main" id="{01AF3BF6-7559-2296-122A-FADECD03E653}"/>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dirty="0">
                  <a:solidFill>
                    <a:srgbClr val="1E293B"/>
                  </a:solidFill>
                  <a:latin typeface="Calibri" pitchFamily="34" charset="0"/>
                  <a:ea typeface="Calibri" pitchFamily="34" charset="-122"/>
                  <a:cs typeface="Calibri" pitchFamily="34" charset="-120"/>
                </a:rPr>
                <a:t>Envisager le marché japonais, particulièrement prometteur. Réaliser une étude des risques et des coûts poussée</a:t>
              </a:r>
              <a:endParaRPr lang="fr-FR" sz="1100" noProof="0" dirty="0"/>
            </a:p>
          </p:txBody>
        </p:sp>
      </p:grpSp>
      <p:grpSp>
        <p:nvGrpSpPr>
          <p:cNvPr id="5" name="Groupe 4">
            <a:extLst>
              <a:ext uri="{FF2B5EF4-FFF2-40B4-BE49-F238E27FC236}">
                <a16:creationId xmlns:a16="http://schemas.microsoft.com/office/drawing/2014/main" id="{BBE40868-6CC6-6CC0-275F-DD37855E3183}"/>
              </a:ext>
            </a:extLst>
          </p:cNvPr>
          <p:cNvGrpSpPr/>
          <p:nvPr/>
        </p:nvGrpSpPr>
        <p:grpSpPr>
          <a:xfrm>
            <a:off x="980440" y="5215722"/>
            <a:ext cx="4206240" cy="1320550"/>
            <a:chOff x="320040" y="1024128"/>
            <a:chExt cx="4206240" cy="1719072"/>
          </a:xfrm>
        </p:grpSpPr>
        <p:sp>
          <p:nvSpPr>
            <p:cNvPr id="6" name="Shape 2">
              <a:extLst>
                <a:ext uri="{FF2B5EF4-FFF2-40B4-BE49-F238E27FC236}">
                  <a16:creationId xmlns:a16="http://schemas.microsoft.com/office/drawing/2014/main" id="{B569FFFA-E33E-902A-1387-EC054A072D1E}"/>
                </a:ext>
              </a:extLst>
            </p:cNvPr>
            <p:cNvSpPr/>
            <p:nvPr/>
          </p:nvSpPr>
          <p:spPr>
            <a:xfrm>
              <a:off x="320040" y="1024128"/>
              <a:ext cx="4206240" cy="17190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fr-FR" noProof="0" dirty="0"/>
            </a:p>
          </p:txBody>
        </p:sp>
        <p:sp>
          <p:nvSpPr>
            <p:cNvPr id="7" name="Shape 3">
              <a:extLst>
                <a:ext uri="{FF2B5EF4-FFF2-40B4-BE49-F238E27FC236}">
                  <a16:creationId xmlns:a16="http://schemas.microsoft.com/office/drawing/2014/main" id="{8DE8603F-8649-FBC8-7954-634E6D3B6EC8}"/>
                </a:ext>
              </a:extLst>
            </p:cNvPr>
            <p:cNvSpPr/>
            <p:nvPr/>
          </p:nvSpPr>
          <p:spPr>
            <a:xfrm>
              <a:off x="320040" y="1024128"/>
              <a:ext cx="64008" cy="1719072"/>
            </a:xfrm>
            <a:prstGeom prst="rect">
              <a:avLst/>
            </a:prstGeom>
            <a:solidFill>
              <a:srgbClr val="1E2761"/>
            </a:solidFill>
            <a:ln/>
          </p:spPr>
          <p:txBody>
            <a:bodyPr/>
            <a:lstStyle/>
            <a:p>
              <a:endParaRPr lang="fr-FR" noProof="0" dirty="0"/>
            </a:p>
          </p:txBody>
        </p:sp>
        <p:sp>
          <p:nvSpPr>
            <p:cNvPr id="8" name="Text 5">
              <a:extLst>
                <a:ext uri="{FF2B5EF4-FFF2-40B4-BE49-F238E27FC236}">
                  <a16:creationId xmlns:a16="http://schemas.microsoft.com/office/drawing/2014/main" id="{31CDDD25-91F0-129E-4358-9B003E9D95C3}"/>
                </a:ext>
              </a:extLst>
            </p:cNvPr>
            <p:cNvSpPr/>
            <p:nvPr/>
          </p:nvSpPr>
          <p:spPr>
            <a:xfrm>
              <a:off x="484632" y="1115568"/>
              <a:ext cx="1097280" cy="256032"/>
            </a:xfrm>
            <a:prstGeom prst="rect">
              <a:avLst/>
            </a:prstGeom>
            <a:noFill/>
            <a:ln/>
          </p:spPr>
          <p:txBody>
            <a:bodyPr wrap="square" lIns="0" tIns="0" rIns="0" bIns="0" rtlCol="0" anchor="ctr"/>
            <a:lstStyle/>
            <a:p>
              <a:pPr marL="0" indent="0" algn="ctr">
                <a:buNone/>
              </a:pPr>
              <a:r>
                <a:rPr lang="fr-FR" sz="800" b="1" noProof="0" dirty="0">
                  <a:solidFill>
                    <a:srgbClr val="FFFFFF"/>
                  </a:solidFill>
                  <a:latin typeface="Calibri" pitchFamily="34" charset="0"/>
                  <a:ea typeface="Calibri" pitchFamily="34" charset="-122"/>
                  <a:cs typeface="Calibri" pitchFamily="34" charset="-120"/>
                </a:rPr>
                <a:t>PRIORITAIRE</a:t>
              </a:r>
              <a:endParaRPr lang="fr-FR" sz="800" noProof="0" dirty="0"/>
            </a:p>
          </p:txBody>
        </p:sp>
        <p:sp>
          <p:nvSpPr>
            <p:cNvPr id="9" name="Text 6">
              <a:extLst>
                <a:ext uri="{FF2B5EF4-FFF2-40B4-BE49-F238E27FC236}">
                  <a16:creationId xmlns:a16="http://schemas.microsoft.com/office/drawing/2014/main" id="{84474471-02B6-4E18-D565-F453F5408C0F}"/>
                </a:ext>
              </a:extLst>
            </p:cNvPr>
            <p:cNvSpPr/>
            <p:nvPr/>
          </p:nvSpPr>
          <p:spPr>
            <a:xfrm>
              <a:off x="484632" y="1435608"/>
              <a:ext cx="3913632" cy="384048"/>
            </a:xfrm>
            <a:prstGeom prst="rect">
              <a:avLst/>
            </a:prstGeom>
            <a:noFill/>
            <a:ln/>
          </p:spPr>
          <p:txBody>
            <a:bodyPr wrap="square" lIns="0" tIns="0" rIns="0" bIns="0" rtlCol="0" anchor="ctr"/>
            <a:lstStyle/>
            <a:p>
              <a:pPr marL="0" indent="0">
                <a:buNone/>
              </a:pPr>
              <a:r>
                <a:rPr lang="fr-FR" sz="1300" b="1" noProof="0" dirty="0">
                  <a:solidFill>
                    <a:srgbClr val="1E2761"/>
                  </a:solidFill>
                  <a:latin typeface="Georgia" pitchFamily="34" charset="0"/>
                  <a:ea typeface="Georgia" pitchFamily="34" charset="-122"/>
                  <a:cs typeface="Georgia" pitchFamily="34" charset="-120"/>
                </a:rPr>
                <a:t>5. À faire en continu</a:t>
              </a:r>
              <a:endParaRPr lang="fr-FR" sz="1300" noProof="0" dirty="0"/>
            </a:p>
          </p:txBody>
        </p:sp>
        <p:sp>
          <p:nvSpPr>
            <p:cNvPr id="10" name="Text 7">
              <a:extLst>
                <a:ext uri="{FF2B5EF4-FFF2-40B4-BE49-F238E27FC236}">
                  <a16:creationId xmlns:a16="http://schemas.microsoft.com/office/drawing/2014/main" id="{9EEF569F-4064-DAC3-80FE-A817455D06D8}"/>
                </a:ext>
              </a:extLst>
            </p:cNvPr>
            <p:cNvSpPr/>
            <p:nvPr/>
          </p:nvSpPr>
          <p:spPr>
            <a:xfrm>
              <a:off x="484632" y="1865376"/>
              <a:ext cx="3913632" cy="804672"/>
            </a:xfrm>
            <a:prstGeom prst="rect">
              <a:avLst/>
            </a:prstGeom>
            <a:noFill/>
            <a:ln/>
          </p:spPr>
          <p:txBody>
            <a:bodyPr wrap="square" lIns="0" tIns="0" rIns="0" bIns="0" rtlCol="0" anchor="ctr"/>
            <a:lstStyle/>
            <a:p>
              <a:pPr marL="0" indent="0">
                <a:buNone/>
              </a:pPr>
              <a:r>
                <a:rPr lang="fr-FR" sz="1100" dirty="0">
                  <a:solidFill>
                    <a:srgbClr val="1E293B"/>
                  </a:solidFill>
                  <a:latin typeface="Calibri" pitchFamily="34" charset="0"/>
                  <a:ea typeface="Calibri" pitchFamily="34" charset="-122"/>
                  <a:cs typeface="Calibri" pitchFamily="34" charset="-120"/>
                </a:rPr>
                <a:t>Faire une mise à jour de nos années et de nos analyses annuellement.</a:t>
              </a:r>
              <a:endParaRPr lang="fr-FR" sz="1100" noProof="0" dirty="0"/>
            </a:p>
          </p:txBody>
        </p:sp>
      </p:grpSp>
    </p:spTree>
    <p:extLst>
      <p:ext uri="{BB962C8B-B14F-4D97-AF65-F5344CB8AC3E}">
        <p14:creationId xmlns:p14="http://schemas.microsoft.com/office/powerpoint/2010/main" val="161580758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7906</TotalTime>
  <Words>994</Words>
  <Application>Microsoft Office PowerPoint</Application>
  <PresentationFormat>Grand écran</PresentationFormat>
  <Paragraphs>164</Paragraphs>
  <Slides>13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Aptos</vt:lpstr>
      <vt:lpstr>Aptos Display</vt:lpstr>
      <vt:lpstr>Arial</vt:lpstr>
      <vt:lpstr>Calibri</vt:lpstr>
      <vt:lpstr>Georgia</vt:lpstr>
      <vt:lpstr>Thème Office</vt:lpstr>
      <vt:lpstr>Stratégie d’expansion internationale</vt:lpstr>
      <vt:lpstr>Contexte &amp; objectifs</vt:lpstr>
      <vt:lpstr>Les étapes</vt:lpstr>
      <vt:lpstr>Nos sources</vt:lpstr>
      <vt:lpstr>Nos données</vt:lpstr>
      <vt:lpstr>4 grands critères de différenciation (composantes)</vt:lpstr>
      <vt:lpstr>Les deux premiers critères</vt:lpstr>
      <vt:lpstr>Et les deux autres</vt:lpstr>
      <vt:lpstr>Groupes de pays (via la classification ascendante hiérarchique)</vt:lpstr>
      <vt:lpstr>Groupes de pays (via la méthode des K-means)</vt:lpstr>
      <vt:lpstr>5 groupes des pays identifiés (K-means)</vt:lpstr>
      <vt:lpstr>Groupe D – Notre marché cible</vt:lpstr>
      <vt:lpstr>Prochaines étapes recommandées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Alexandre Low-Kam</dc:creator>
  <cp:lastModifiedBy>Alexandre Low-Kam</cp:lastModifiedBy>
  <cp:revision>65</cp:revision>
  <dcterms:created xsi:type="dcterms:W3CDTF">2026-02-23T17:22:06Z</dcterms:created>
  <dcterms:modified xsi:type="dcterms:W3CDTF">2026-05-16T17:42:23Z</dcterms:modified>
</cp:coreProperties>
</file>