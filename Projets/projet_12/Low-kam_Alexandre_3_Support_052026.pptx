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99" r:id="rId3"/>
    <p:sldId id="300" r:id="rId4"/>
    <p:sldId id="29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297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DCFC"/>
    <a:srgbClr val="C1677F"/>
    <a:srgbClr val="4E95D9"/>
    <a:srgbClr val="52A8DB"/>
    <a:srgbClr val="072540"/>
    <a:srgbClr val="28A7F1"/>
    <a:srgbClr val="0D3D6B"/>
    <a:srgbClr val="15578A"/>
    <a:srgbClr val="2E8EC7"/>
    <a:srgbClr val="7DB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4E2DA-5A10-4533-BDAC-45B439DDBF9E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F5936-43C8-4ACC-A019-2DDE01D095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4822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2C1236-AFD6-1314-326F-77220B90C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7478D0-4109-2ACD-05F5-B1D3CD34D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7918B6-8BDE-9FCD-F78B-96C5F118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7B23DA-EFCB-DD61-5DE9-7CE547EA3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F118B4-DC8C-E5FD-1CBC-8332E451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8889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7FD85B-3EE8-1AB3-0FCB-493341A5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F7BEA9-F012-2921-EA3D-67764C518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6223D7-90F1-EB86-81E2-B6AA2A025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CF5E55-FADE-6B8C-9548-50315BE9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15C717-718E-B3A7-AD92-4BAF58F6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3353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E97DA-DEDD-FB57-4073-0876CDD3E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B8D437-90FD-9699-6245-C1567394E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71E551-0B7E-3141-1132-9A7B6978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9897B-5FDA-8391-222C-648A69E2C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785B34-EF57-79BC-2197-8296F657E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5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B140EA-FF9B-07BE-A810-64A4DEFD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A09721-531E-E5D4-CDDA-D361B3718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E5DBD7C-13FD-CF46-ED26-A81F38916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C0390B-6331-27B3-9A60-9ABE8B8F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A7D846-0A05-F052-6CF3-0B67554E3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3A0466-926D-33FB-175D-DC199229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5804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F6E0D-739E-394A-948D-AF9CD630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16D657-B015-65F8-7CE9-67A4C36A7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809402-BCAA-5CAA-02BA-531B0F35A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E66F46-387D-B4E3-DE81-E1AF0328B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9E6DAA4-6EC2-1FF3-D8AD-B7A8C0CC6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A92C031-CBFB-4D48-0615-A4ACF2DA0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2A57B44-16EF-E4B4-D3F1-0D53F96D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0BC1A4A-0567-4534-1864-00A668D8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786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2945C0-842F-D157-A882-9CBECAD6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5209662-2202-259E-9641-B0AB8E5F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B090C6-1B7D-2B61-BE2F-FF94E7C0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FA287C-C3E9-F0A5-396A-2B169124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8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A314674-F10B-173E-9029-69AD76F2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F297CBB-53CF-FC2A-FBB5-A2BF0C30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4F615E-8325-E0BE-5672-4BFC53C9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810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357BB4-09A9-49B4-DB23-71A0CBC27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E138A5-DE18-5C00-5F3E-D9C30F984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E8120A-9A3F-EF50-420D-017E30A45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A5ADAD-8E26-1892-5DDB-9BFF7B82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0212D0-48D8-4226-67CF-9E7A6EB7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529A4F-8051-05BC-0067-B4700C7C2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234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7B89E-2F05-2FE2-49A3-AEA01ACA7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7E70836-63F4-7CCA-A09B-E2F2EE8AE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9AAB3A-C71C-6CA7-4041-05EA8AD49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05DF36-A31C-2298-D961-1DD82EB65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3EB067-2C70-87EB-0FA7-54D58F6B3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EE6B79-2000-0B4A-3529-3B102536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988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E2CC0-07D2-0687-5B09-A80ACC3A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704E98-CC4E-3069-5F1C-4DE22B247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528BA4-5B4B-300A-7C07-6B65FD1DE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C13FBF-55B4-5D4D-CA34-2E1569AC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C0872F-1D03-5F51-6FB6-49F9C6BF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353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F92E35B-BB24-BD2B-EEC9-37695783A7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3B11B1-D768-5486-4FA6-58CC17390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FF593F-6BB7-4C70-8838-4E8958FA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64ED8D-E549-E487-A1D6-18DEF52C7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7304F3-9DE2-1790-2D1C-3C1AC96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917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272C1B7-FFDA-5C70-04E4-A45FE9B29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4E0C21-ED94-F4E4-C719-BA13D4F87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D6431F-EB60-C99F-04DA-C427F7B55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BB60B-67E8-4EE8-83DF-9286A7186806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683A6E-78FA-E88A-1A04-FDCAFC625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071261-B49C-2F5C-E48A-CC6885A04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88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537FBBD-9708-2E8E-D7E5-BF5E49EA2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584" y="3840583"/>
            <a:ext cx="10056333" cy="1164188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/>
            <a:b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des Faux Billets</a:t>
            </a:r>
            <a:b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fr-FR" sz="4400" noProof="0" dirty="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BC809661-EF0B-9597-80DA-5C1222A9C53D}"/>
              </a:ext>
            </a:extLst>
          </p:cNvPr>
          <p:cNvSpPr/>
          <p:nvPr/>
        </p:nvSpPr>
        <p:spPr>
          <a:xfrm>
            <a:off x="642616" y="21039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fr-FR" sz="1733" dirty="0">
                <a:solidFill>
                  <a:srgbClr val="CADCFC"/>
                </a:solidFill>
                <a:latin typeface="Calibri" panose="020F0502020204030204"/>
              </a:rPr>
              <a:t>Organisation Nationale de Lutte Contre le Faux-Monnayage</a:t>
            </a:r>
            <a:endParaRPr lang="fr-FR" sz="1733" noProof="0" dirty="0">
              <a:solidFill>
                <a:srgbClr val="CADCFC"/>
              </a:solidFill>
              <a:latin typeface="Calibri" panose="020F0502020204030204"/>
            </a:endParaRP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BFD315A7-A632-5041-3225-A8B35B9A2997}"/>
              </a:ext>
            </a:extLst>
          </p:cNvPr>
          <p:cNvSpPr txBox="1">
            <a:spLocks/>
          </p:cNvSpPr>
          <p:nvPr/>
        </p:nvSpPr>
        <p:spPr>
          <a:xfrm>
            <a:off x="579008" y="371687"/>
            <a:ext cx="11029627" cy="158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4400" b="1" dirty="0">
                <a:solidFill>
                  <a:schemeClr val="bg1"/>
                </a:solidFill>
              </a:rPr>
              <a:t>ONCFM </a:t>
            </a:r>
            <a:endParaRPr lang="fr-FR" sz="4400" b="1" noProof="0" dirty="0">
              <a:solidFill>
                <a:schemeClr val="bg1"/>
              </a:solidFill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EC3BDB4B-3968-8C57-BBEC-7429385B6987}"/>
              </a:ext>
            </a:extLst>
          </p:cNvPr>
          <p:cNvSpPr/>
          <p:nvPr/>
        </p:nvSpPr>
        <p:spPr>
          <a:xfrm>
            <a:off x="642616" y="4480038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fr-FR" sz="1733" noProof="0" dirty="0">
                <a:solidFill>
                  <a:srgbClr val="CADCFC"/>
                </a:solidFill>
                <a:latin typeface="Calibri" panose="020F0502020204030204"/>
              </a:rPr>
              <a:t>Présentation Power BI des résultats</a:t>
            </a:r>
          </a:p>
        </p:txBody>
      </p:sp>
    </p:spTree>
    <p:extLst>
      <p:ext uri="{BB962C8B-B14F-4D97-AF65-F5344CB8AC3E}">
        <p14:creationId xmlns:p14="http://schemas.microsoft.com/office/powerpoint/2010/main" val="810162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818524-82B9-BB51-8384-16E10B6B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C0FB4DD-C1ED-E273-75A9-98F9BE1F7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674D18-3A1F-EF02-0C5D-128ABAB03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E575A5C-DB94-3632-0B51-4B7AF3727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16722D-0018-EC30-FC85-AED694D23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17066A9-5FE8-1C32-F045-B7870194E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639960-D5D6-241C-374E-241D404CB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Contexte &amp; objectif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CDE37A59-8C79-CD0D-E865-8EEF06998D55}"/>
              </a:ext>
            </a:extLst>
          </p:cNvPr>
          <p:cNvGrpSpPr/>
          <p:nvPr/>
        </p:nvGrpSpPr>
        <p:grpSpPr>
          <a:xfrm>
            <a:off x="537952" y="2204999"/>
            <a:ext cx="5186192" cy="3992890"/>
            <a:chOff x="537952" y="1939823"/>
            <a:chExt cx="3219182" cy="3992890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18CB8161-B45A-10AC-4C96-D439B69EEC1E}"/>
                </a:ext>
              </a:extLst>
            </p:cNvPr>
            <p:cNvSpPr/>
            <p:nvPr/>
          </p:nvSpPr>
          <p:spPr>
            <a:xfrm>
              <a:off x="1691640" y="2267712"/>
              <a:ext cx="932688" cy="64008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278E5930-DB5C-7C41-8BA7-669C095EEE2A}"/>
                </a:ext>
              </a:extLst>
            </p:cNvPr>
            <p:cNvGrpSpPr/>
            <p:nvPr/>
          </p:nvGrpSpPr>
          <p:grpSpPr>
            <a:xfrm>
              <a:off x="537952" y="1939823"/>
              <a:ext cx="3219182" cy="3992890"/>
              <a:chOff x="1099185" y="2350770"/>
              <a:chExt cx="1965960" cy="1234440"/>
            </a:xfrm>
          </p:grpSpPr>
          <p:sp>
            <p:nvSpPr>
              <p:cNvPr id="25" name="Shape 2">
                <a:extLst>
                  <a:ext uri="{FF2B5EF4-FFF2-40B4-BE49-F238E27FC236}">
                    <a16:creationId xmlns:a16="http://schemas.microsoft.com/office/drawing/2014/main" id="{2F7A4D58-F8FC-E799-12A4-475FE2D92D27}"/>
                  </a:ext>
                </a:extLst>
              </p:cNvPr>
              <p:cNvSpPr/>
              <p:nvPr/>
            </p:nvSpPr>
            <p:spPr>
              <a:xfrm>
                <a:off x="1099185" y="2350770"/>
                <a:ext cx="1965960" cy="123444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  <a:effectLst>
                <a:outerShdw blurRad="101600" dist="381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endParaRPr lang="fr-FR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Text 3">
                <a:extLst>
                  <a:ext uri="{FF2B5EF4-FFF2-40B4-BE49-F238E27FC236}">
                    <a16:creationId xmlns:a16="http://schemas.microsoft.com/office/drawing/2014/main" id="{87A18E8E-141B-4A4C-9A37-D0F7C6012202}"/>
                  </a:ext>
                </a:extLst>
              </p:cNvPr>
              <p:cNvSpPr/>
              <p:nvPr/>
            </p:nvSpPr>
            <p:spPr>
              <a:xfrm>
                <a:off x="1099185" y="2414778"/>
                <a:ext cx="1965960" cy="27186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152144">
                  <a:spcAft>
                    <a:spcPts val="600"/>
                  </a:spcAft>
                </a:pPr>
                <a:endParaRPr lang="fr-FR" sz="2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Text 4">
                <a:extLst>
                  <a:ext uri="{FF2B5EF4-FFF2-40B4-BE49-F238E27FC236}">
                    <a16:creationId xmlns:a16="http://schemas.microsoft.com/office/drawing/2014/main" id="{29BA8E52-193E-CB2A-7152-FBB4F6C2E0B6}"/>
                  </a:ext>
                </a:extLst>
              </p:cNvPr>
              <p:cNvSpPr/>
              <p:nvPr/>
            </p:nvSpPr>
            <p:spPr>
              <a:xfrm>
                <a:off x="1099185" y="2452140"/>
                <a:ext cx="1965960" cy="103248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152144">
                  <a:spcAft>
                    <a:spcPts val="600"/>
                  </a:spcAft>
                </a:pPr>
                <a:r>
                  <a:rPr lang="fr-FR" sz="2400" noProof="0" dirty="0">
                    <a:solidFill>
                      <a:srgbClr val="28A7F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</a:t>
                </a:r>
                <a:r>
                  <a:rPr lang="fr-FR" sz="2400" noProof="0" dirty="0">
                    <a:solidFill>
                      <a:srgbClr val="07254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Contexte</a:t>
                </a:r>
              </a:p>
              <a:p>
                <a:pPr algn="ctr" defTabSz="1152144">
                  <a:spcAft>
                    <a:spcPts val="600"/>
                  </a:spcAft>
                </a:pPr>
                <a:endParaRPr lang="fr-FR" sz="2400" dirty="0">
                  <a:solidFill>
                    <a:srgbClr val="28A7F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 defTabSz="1152144">
                  <a:spcAft>
                    <a:spcPts val="600"/>
                  </a:spcAft>
                </a:pPr>
                <a:endParaRPr lang="fr-FR" sz="2400" dirty="0">
                  <a:solidFill>
                    <a:srgbClr val="28A7F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defTabSz="1152144">
                  <a:spcAft>
                    <a:spcPts val="600"/>
                  </a:spcAft>
                </a:pPr>
                <a:r>
                  <a:rPr lang="fr-F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Les contrefaçons des billets en euros sont difficiles à distinguer à l’œil nu.</a:t>
                </a:r>
              </a:p>
              <a:p>
                <a:pPr defTabSz="1152144">
                  <a:spcAft>
                    <a:spcPts val="600"/>
                  </a:spcAft>
                </a:pPr>
                <a:endParaRPr lang="fr-F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defTabSz="1152144">
                  <a:spcAft>
                    <a:spcPts val="600"/>
                  </a:spcAft>
                </a:pPr>
                <a:r>
                  <a:rPr lang="fr-FR" sz="1200" noProof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L’ONCFM souhaite automatiser leur distinction à partir de mesures</a:t>
                </a:r>
              </a:p>
              <a:p>
                <a:pPr defTabSz="1152144">
                  <a:spcAft>
                    <a:spcPts val="600"/>
                  </a:spcAft>
                </a:pPr>
                <a:r>
                  <a:rPr lang="fr-FR" sz="1200" noProof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géométriques.</a:t>
                </a:r>
              </a:p>
              <a:p>
                <a:pPr defTabSz="1152144">
                  <a:spcAft>
                    <a:spcPts val="600"/>
                  </a:spcAft>
                </a:pPr>
                <a:endParaRPr lang="fr-F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defTabSz="1152144">
                  <a:spcAft>
                    <a:spcPts val="600"/>
                  </a:spcAft>
                </a:pPr>
                <a:r>
                  <a:rPr lang="fr-FR" sz="1200" noProof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1 500 billets scannés et leurs dimensions nous ont été fournis.</a:t>
                </a:r>
              </a:p>
            </p:txBody>
          </p:sp>
        </p:grp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490CE070-6674-6E21-39B3-4466D468C0AC}"/>
              </a:ext>
            </a:extLst>
          </p:cNvPr>
          <p:cNvGrpSpPr/>
          <p:nvPr/>
        </p:nvGrpSpPr>
        <p:grpSpPr>
          <a:xfrm>
            <a:off x="6467858" y="2204999"/>
            <a:ext cx="5186192" cy="3992890"/>
            <a:chOff x="537952" y="1939823"/>
            <a:chExt cx="3219182" cy="3992890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889768DE-B33C-E37D-77BA-22A9BEFEF5DB}"/>
                </a:ext>
              </a:extLst>
            </p:cNvPr>
            <p:cNvSpPr/>
            <p:nvPr/>
          </p:nvSpPr>
          <p:spPr>
            <a:xfrm>
              <a:off x="1691640" y="2267712"/>
              <a:ext cx="932688" cy="64008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AC50DE86-8E1C-2248-988A-AB8D64EA13A9}"/>
                </a:ext>
              </a:extLst>
            </p:cNvPr>
            <p:cNvGrpSpPr/>
            <p:nvPr/>
          </p:nvGrpSpPr>
          <p:grpSpPr>
            <a:xfrm>
              <a:off x="537952" y="1939823"/>
              <a:ext cx="3219182" cy="3992890"/>
              <a:chOff x="1099185" y="2350770"/>
              <a:chExt cx="1965960" cy="1234440"/>
            </a:xfrm>
          </p:grpSpPr>
          <p:sp>
            <p:nvSpPr>
              <p:cNvPr id="10" name="Shape 2">
                <a:extLst>
                  <a:ext uri="{FF2B5EF4-FFF2-40B4-BE49-F238E27FC236}">
                    <a16:creationId xmlns:a16="http://schemas.microsoft.com/office/drawing/2014/main" id="{6A009D8D-9734-16AA-B442-57E5F1A6CCE5}"/>
                  </a:ext>
                </a:extLst>
              </p:cNvPr>
              <p:cNvSpPr/>
              <p:nvPr/>
            </p:nvSpPr>
            <p:spPr>
              <a:xfrm>
                <a:off x="1099185" y="2350770"/>
                <a:ext cx="1965960" cy="123444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  <a:effectLst>
                <a:outerShdw blurRad="101600" dist="381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endParaRPr lang="fr-FR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Text 3">
                <a:extLst>
                  <a:ext uri="{FF2B5EF4-FFF2-40B4-BE49-F238E27FC236}">
                    <a16:creationId xmlns:a16="http://schemas.microsoft.com/office/drawing/2014/main" id="{76E24DF9-D8EC-A9F1-DAAA-5F03C7C9923F}"/>
                  </a:ext>
                </a:extLst>
              </p:cNvPr>
              <p:cNvSpPr/>
              <p:nvPr/>
            </p:nvSpPr>
            <p:spPr>
              <a:xfrm>
                <a:off x="1099185" y="2414778"/>
                <a:ext cx="1965960" cy="27186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152144">
                  <a:spcAft>
                    <a:spcPts val="600"/>
                  </a:spcAft>
                </a:pPr>
                <a:endParaRPr lang="fr-FR" sz="2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8" name="Text 4">
                <a:extLst>
                  <a:ext uri="{FF2B5EF4-FFF2-40B4-BE49-F238E27FC236}">
                    <a16:creationId xmlns:a16="http://schemas.microsoft.com/office/drawing/2014/main" id="{90B93580-1455-097A-1667-6333CE717A3C}"/>
                  </a:ext>
                </a:extLst>
              </p:cNvPr>
              <p:cNvSpPr/>
              <p:nvPr/>
            </p:nvSpPr>
            <p:spPr>
              <a:xfrm>
                <a:off x="1099185" y="2452140"/>
                <a:ext cx="1965960" cy="103248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152144">
                  <a:spcAft>
                    <a:spcPts val="600"/>
                  </a:spcAft>
                </a:pPr>
                <a:r>
                  <a:rPr lang="fr-FR" sz="2400" noProof="0" dirty="0">
                    <a:solidFill>
                      <a:srgbClr val="28A7F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</a:t>
                </a:r>
                <a:r>
                  <a:rPr lang="fr-FR" sz="2400" noProof="0" dirty="0">
                    <a:solidFill>
                      <a:srgbClr val="07254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Objectif</a:t>
                </a:r>
              </a:p>
              <a:p>
                <a:pPr algn="ctr" defTabSz="1152144">
                  <a:spcAft>
                    <a:spcPts val="600"/>
                  </a:spcAft>
                </a:pPr>
                <a:endParaRPr lang="fr-FR" sz="2400" dirty="0">
                  <a:solidFill>
                    <a:srgbClr val="28A7F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 defTabSz="1152144">
                  <a:spcAft>
                    <a:spcPts val="600"/>
                  </a:spcAft>
                </a:pPr>
                <a:endParaRPr lang="fr-FR" sz="2400" dirty="0">
                  <a:solidFill>
                    <a:srgbClr val="28A7F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defTabSz="1152144">
                  <a:spcAft>
                    <a:spcPts val="600"/>
                  </a:spcAft>
                </a:pPr>
                <a:r>
                  <a:rPr lang="fr-F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Nous avons donc entrepris d’entraîner des modèles de machine learning, à</a:t>
                </a:r>
              </a:p>
              <a:p>
                <a:pPr defTabSz="1152144">
                  <a:spcAft>
                    <a:spcPts val="600"/>
                  </a:spcAft>
                </a:pPr>
                <a:r>
                  <a:rPr lang="fr-F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l’aide du langage de programmation Python, afin d’être à même de détecter</a:t>
                </a:r>
              </a:p>
              <a:p>
                <a:pPr defTabSz="1152144">
                  <a:spcAft>
                    <a:spcPts val="600"/>
                  </a:spcAft>
                </a:pPr>
                <a:r>
                  <a:rPr lang="fr-F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automatiquement si un billet est vrai ou faux.</a:t>
                </a:r>
              </a:p>
              <a:p>
                <a:pPr defTabSz="1152144">
                  <a:spcAft>
                    <a:spcPts val="600"/>
                  </a:spcAft>
                </a:pPr>
                <a:endParaRPr lang="fr-F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defTabSz="1152144">
                  <a:spcAft>
                    <a:spcPts val="600"/>
                  </a:spcAft>
                </a:pPr>
                <a:endParaRPr lang="fr-FR" sz="1200" noProof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defTabSz="1152144">
                  <a:spcAft>
                    <a:spcPts val="600"/>
                  </a:spcAft>
                </a:pPr>
                <a:endParaRPr lang="fr-FR" sz="1200" noProof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4076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B9C452-2C6E-4D52-8FC7-669291EE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E1CC44-1B7F-472B-B668-B4F2F472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5BAD077-4A41-458D-9909-1A108699E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1FC21CE-01FD-49CC-BAFC-06F38B34B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7BE83C0-7097-C375-6D37-D57C3C77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rgbClr val="FFFFFF"/>
                </a:solidFill>
              </a:rPr>
              <a:t>Nos données</a:t>
            </a:r>
            <a:endParaRPr lang="fr-FR" sz="3600" noProof="0" dirty="0">
              <a:solidFill>
                <a:srgbClr val="FFFFFF"/>
              </a:solidFill>
            </a:endParaRP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BC0DE6C6-5B53-6712-183C-F49013DC5CCF}"/>
              </a:ext>
            </a:extLst>
          </p:cNvPr>
          <p:cNvGrpSpPr/>
          <p:nvPr/>
        </p:nvGrpSpPr>
        <p:grpSpPr>
          <a:xfrm>
            <a:off x="681863" y="1942473"/>
            <a:ext cx="2492902" cy="903017"/>
            <a:chOff x="1099185" y="2350770"/>
            <a:chExt cx="1965960" cy="1234440"/>
          </a:xfrm>
        </p:grpSpPr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1A9E36B7-A341-292D-FF36-65FE1F75F207}"/>
                </a:ext>
              </a:extLst>
            </p:cNvPr>
            <p:cNvSpPr/>
            <p:nvPr/>
          </p:nvSpPr>
          <p:spPr>
            <a:xfrm>
              <a:off x="1099185" y="2350770"/>
              <a:ext cx="1965960" cy="1234440"/>
            </a:xfrm>
            <a:prstGeom prst="rect">
              <a:avLst/>
            </a:prstGeom>
            <a:solidFill>
              <a:srgbClr val="1A3A5C"/>
            </a:solidFill>
            <a:ln/>
            <a:effectLst>
              <a:outerShdw blurRad="101600" dist="381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CF0ED2FF-70CC-2CC1-8BE1-D54B458A65F3}"/>
                </a:ext>
              </a:extLst>
            </p:cNvPr>
            <p:cNvSpPr/>
            <p:nvPr/>
          </p:nvSpPr>
          <p:spPr>
            <a:xfrm>
              <a:off x="1099185" y="2414778"/>
              <a:ext cx="196596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11521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1 500 </a:t>
              </a:r>
              <a:endPara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DEB6A8E8-7551-F076-9C02-2CF073C2AE4E}"/>
                </a:ext>
              </a:extLst>
            </p:cNvPr>
            <p:cNvSpPr/>
            <p:nvPr/>
          </p:nvSpPr>
          <p:spPr>
            <a:xfrm>
              <a:off x="1099185" y="3100578"/>
              <a:ext cx="19659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11521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ECFD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Billets scannés</a:t>
              </a:r>
              <a:endPara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27225E88-D0F6-B0C5-E718-66282FE478A6}"/>
              </a:ext>
            </a:extLst>
          </p:cNvPr>
          <p:cNvGrpSpPr/>
          <p:nvPr/>
        </p:nvGrpSpPr>
        <p:grpSpPr>
          <a:xfrm>
            <a:off x="4849547" y="1939824"/>
            <a:ext cx="2492904" cy="903017"/>
            <a:chOff x="3486150" y="2350770"/>
            <a:chExt cx="1965961" cy="1234440"/>
          </a:xfrm>
        </p:grpSpPr>
        <p:sp>
          <p:nvSpPr>
            <p:cNvPr id="28" name="Shape 5">
              <a:extLst>
                <a:ext uri="{FF2B5EF4-FFF2-40B4-BE49-F238E27FC236}">
                  <a16:creationId xmlns:a16="http://schemas.microsoft.com/office/drawing/2014/main" id="{E83042F3-E569-2A7A-7193-2B8A8C4C06B6}"/>
                </a:ext>
              </a:extLst>
            </p:cNvPr>
            <p:cNvSpPr/>
            <p:nvPr/>
          </p:nvSpPr>
          <p:spPr>
            <a:xfrm>
              <a:off x="3486151" y="2350770"/>
              <a:ext cx="1965960" cy="1234440"/>
            </a:xfrm>
            <a:prstGeom prst="rect">
              <a:avLst/>
            </a:prstGeom>
            <a:solidFill>
              <a:srgbClr val="1A3A5C"/>
            </a:solidFill>
            <a:ln/>
            <a:effectLst>
              <a:outerShdw blurRad="101600" dist="381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Text 6">
              <a:extLst>
                <a:ext uri="{FF2B5EF4-FFF2-40B4-BE49-F238E27FC236}">
                  <a16:creationId xmlns:a16="http://schemas.microsoft.com/office/drawing/2014/main" id="{DB46F335-0E0B-751D-FEC0-2556B233AF71}"/>
                </a:ext>
              </a:extLst>
            </p:cNvPr>
            <p:cNvSpPr/>
            <p:nvPr/>
          </p:nvSpPr>
          <p:spPr>
            <a:xfrm>
              <a:off x="3486150" y="2414778"/>
              <a:ext cx="196596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11521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1000</a:t>
              </a:r>
              <a:endPara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Text 7">
              <a:extLst>
                <a:ext uri="{FF2B5EF4-FFF2-40B4-BE49-F238E27FC236}">
                  <a16:creationId xmlns:a16="http://schemas.microsoft.com/office/drawing/2014/main" id="{4D44D7E9-8BBD-CFB3-F25A-547D29731419}"/>
                </a:ext>
              </a:extLst>
            </p:cNvPr>
            <p:cNvSpPr/>
            <p:nvPr/>
          </p:nvSpPr>
          <p:spPr>
            <a:xfrm>
              <a:off x="3486150" y="3100578"/>
              <a:ext cx="19659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11521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ECFD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Vrais billets</a:t>
              </a:r>
              <a:endPara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4A3C823-088E-A94B-0442-4A7241753A77}"/>
              </a:ext>
            </a:extLst>
          </p:cNvPr>
          <p:cNvGrpSpPr/>
          <p:nvPr/>
        </p:nvGrpSpPr>
        <p:grpSpPr>
          <a:xfrm>
            <a:off x="9017234" y="1942473"/>
            <a:ext cx="2492903" cy="900368"/>
            <a:chOff x="9184005" y="2350770"/>
            <a:chExt cx="1965960" cy="1234440"/>
          </a:xfrm>
        </p:grpSpPr>
        <p:sp>
          <p:nvSpPr>
            <p:cNvPr id="34" name="Shape 11">
              <a:extLst>
                <a:ext uri="{FF2B5EF4-FFF2-40B4-BE49-F238E27FC236}">
                  <a16:creationId xmlns:a16="http://schemas.microsoft.com/office/drawing/2014/main" id="{5AFBBDC6-1CA8-19F8-843A-D0B10A6DBC11}"/>
                </a:ext>
              </a:extLst>
            </p:cNvPr>
            <p:cNvSpPr/>
            <p:nvPr/>
          </p:nvSpPr>
          <p:spPr>
            <a:xfrm>
              <a:off x="9184005" y="2350770"/>
              <a:ext cx="1965960" cy="1234440"/>
            </a:xfrm>
            <a:prstGeom prst="rect">
              <a:avLst/>
            </a:prstGeom>
            <a:solidFill>
              <a:srgbClr val="1A3A5C"/>
            </a:solidFill>
            <a:ln/>
            <a:effectLst>
              <a:outerShdw blurRad="101600" dist="381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Text 12">
              <a:extLst>
                <a:ext uri="{FF2B5EF4-FFF2-40B4-BE49-F238E27FC236}">
                  <a16:creationId xmlns:a16="http://schemas.microsoft.com/office/drawing/2014/main" id="{6D9695DD-41E7-C50D-5E60-31F5FAD636F1}"/>
                </a:ext>
              </a:extLst>
            </p:cNvPr>
            <p:cNvSpPr/>
            <p:nvPr/>
          </p:nvSpPr>
          <p:spPr>
            <a:xfrm>
              <a:off x="9184005" y="2414778"/>
              <a:ext cx="196596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1161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500</a:t>
              </a:r>
              <a:r>
                <a:rPr kumimoji="0" lang="fr-FR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B9EDB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endPara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Text 13">
              <a:extLst>
                <a:ext uri="{FF2B5EF4-FFF2-40B4-BE49-F238E27FC236}">
                  <a16:creationId xmlns:a16="http://schemas.microsoft.com/office/drawing/2014/main" id="{31C2C08C-2813-8121-296D-CAEF96D93615}"/>
                </a:ext>
              </a:extLst>
            </p:cNvPr>
            <p:cNvSpPr/>
            <p:nvPr/>
          </p:nvSpPr>
          <p:spPr>
            <a:xfrm>
              <a:off x="9184005" y="3100578"/>
              <a:ext cx="19659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1161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AECFD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Faux billets</a:t>
              </a:r>
              <a:endPara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" name="Text 6">
            <a:extLst>
              <a:ext uri="{FF2B5EF4-FFF2-40B4-BE49-F238E27FC236}">
                <a16:creationId xmlns:a16="http://schemas.microsoft.com/office/drawing/2014/main" id="{5857415F-0602-5E2D-B68A-06AD7EE14842}"/>
              </a:ext>
            </a:extLst>
          </p:cNvPr>
          <p:cNvSpPr/>
          <p:nvPr/>
        </p:nvSpPr>
        <p:spPr>
          <a:xfrm>
            <a:off x="699714" y="3273587"/>
            <a:ext cx="3913632" cy="27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Variables géométriques</a:t>
            </a:r>
            <a:endParaRPr lang="fr-FR" sz="1300" noProof="0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96D6059-6B61-4597-1EA9-A73EDF84F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252747"/>
              </p:ext>
            </p:extLst>
          </p:nvPr>
        </p:nvGraphicFramePr>
        <p:xfrm>
          <a:off x="681863" y="3625456"/>
          <a:ext cx="10828274" cy="2945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7449">
                  <a:extLst>
                    <a:ext uri="{9D8B030D-6E8A-4147-A177-3AD203B41FA5}">
                      <a16:colId xmlns:a16="http://schemas.microsoft.com/office/drawing/2014/main" val="2043733424"/>
                    </a:ext>
                  </a:extLst>
                </a:gridCol>
                <a:gridCol w="6550946">
                  <a:extLst>
                    <a:ext uri="{9D8B030D-6E8A-4147-A177-3AD203B41FA5}">
                      <a16:colId xmlns:a16="http://schemas.microsoft.com/office/drawing/2014/main" val="3926004953"/>
                    </a:ext>
                  </a:extLst>
                </a:gridCol>
                <a:gridCol w="1319879">
                  <a:extLst>
                    <a:ext uri="{9D8B030D-6E8A-4147-A177-3AD203B41FA5}">
                      <a16:colId xmlns:a16="http://schemas.microsoft.com/office/drawing/2014/main" val="1259389024"/>
                    </a:ext>
                  </a:extLst>
                </a:gridCol>
              </a:tblGrid>
              <a:tr h="42075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Variable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Description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Unité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612623"/>
                  </a:ext>
                </a:extLst>
              </a:tr>
              <a:tr h="420758"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072540"/>
                          </a:solidFill>
                        </a:rPr>
                        <a:t>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La longueur du billet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280184"/>
                  </a:ext>
                </a:extLst>
              </a:tr>
              <a:tr h="420758"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072540"/>
                          </a:solidFill>
                        </a:rPr>
                        <a:t>height_left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la hauteur du billet (mesurée sur le côté gauche)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797188"/>
                  </a:ext>
                </a:extLst>
              </a:tr>
              <a:tr h="420758"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072540"/>
                          </a:solidFill>
                        </a:rPr>
                        <a:t>height_right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La hauteur du billet (mesurée sur le côté droit)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0633782"/>
                  </a:ext>
                </a:extLst>
              </a:tr>
              <a:tr h="420758"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072540"/>
                          </a:solidFill>
                        </a:rPr>
                        <a:t>margin_up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La marge entre le bord supérieur du billet et l'image de celui-ci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002484"/>
                  </a:ext>
                </a:extLst>
              </a:tr>
              <a:tr h="420758"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072540"/>
                          </a:solidFill>
                        </a:rPr>
                        <a:t>margin_low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La marge entre le bord inférieur du billet et l'image de celui-ci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4156121"/>
                  </a:ext>
                </a:extLst>
              </a:tr>
              <a:tr h="420758"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072540"/>
                          </a:solidFill>
                        </a:rPr>
                        <a:t>diagonal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La diagonale du billet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40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927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2A094-F091-83DE-5CC3-576B998B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466B83B-676D-104A-F5C3-3484BCA26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11D45A-8F22-9E7F-AC4D-7F6F7C797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6374438-13A4-7B8D-FD40-BFC009E82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0AF3DF1-9A11-D156-85FD-D47A5921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0234CED-AFAA-80C2-2C5F-6459B1BEA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0266DF-D845-6984-375B-3E1977E2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Notes sur les données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9540E817-1AA7-E3F1-8A21-28576E907FC5}"/>
              </a:ext>
            </a:extLst>
          </p:cNvPr>
          <p:cNvGrpSpPr/>
          <p:nvPr/>
        </p:nvGrpSpPr>
        <p:grpSpPr>
          <a:xfrm>
            <a:off x="980440" y="2217928"/>
            <a:ext cx="4206240" cy="1211072"/>
            <a:chOff x="320040" y="1024128"/>
            <a:chExt cx="4206240" cy="1719072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270D67B7-B0E3-CD5C-CAA4-8462501E799A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A0ED9D9F-4BC5-64B0-1C9B-214C2290ABB5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C8C9BEFF-6D1D-B859-10B8-3361C3255F78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2F925540-9296-68C5-934C-4066D8F941FD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1. </a:t>
              </a: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diagonal</a:t>
              </a:r>
              <a:endParaRPr lang="fr-FR" sz="1300" noProof="0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EF2ADD2F-7071-B6A0-45DE-3D0476DFC4A9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Cette colonne ne contenait pas de valeurs nulles. Elle contenait en revanche 7 outliers, si on utilise la méthode IQR. 3 pour les vrais billets, 4 pour les faux.</a:t>
              </a:r>
              <a:endParaRPr lang="fr-FR" sz="1100" noProof="0" dirty="0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E999A8EB-3EB0-BBBF-CEC9-D7232503FC76}"/>
              </a:ext>
            </a:extLst>
          </p:cNvPr>
          <p:cNvGrpSpPr/>
          <p:nvPr/>
        </p:nvGrpSpPr>
        <p:grpSpPr>
          <a:xfrm>
            <a:off x="6840728" y="2221484"/>
            <a:ext cx="4206240" cy="1207516"/>
            <a:chOff x="320040" y="1024128"/>
            <a:chExt cx="4206240" cy="1719072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33272180-4B3B-DD18-8CF5-FECC3CB76E45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53993AFB-79ED-7AE7-D2E3-F78494150C22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F37DCAC5-6E86-70F7-D2C7-DD1C6ED335EF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825E0917-6DEC-3BA2-01B1-84105B6BAAD4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height_left</a:t>
              </a:r>
              <a:endParaRPr lang="fr-FR" sz="1300" noProof="0" dirty="0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F7ED0E62-0E11-B989-F524-880457362A9C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Il y a 6 outliers présents dans cette colonne. 3 relatifs à des faux billets et 3 à des vrais.</a:t>
              </a:r>
              <a:endParaRPr lang="fr-FR" sz="1100" noProof="0" dirty="0"/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395429E1-7695-C22F-74C7-9714E8346A9A}"/>
              </a:ext>
            </a:extLst>
          </p:cNvPr>
          <p:cNvGrpSpPr/>
          <p:nvPr/>
        </p:nvGrpSpPr>
        <p:grpSpPr>
          <a:xfrm>
            <a:off x="980440" y="3719173"/>
            <a:ext cx="4206240" cy="1211072"/>
            <a:chOff x="320040" y="1024128"/>
            <a:chExt cx="4206240" cy="1719072"/>
          </a:xfrm>
        </p:grpSpPr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D1155A99-D537-25DF-8FF3-96B5258E541C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4AFB7BCA-7146-181E-6190-AF2FBED4C704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E92DF63C-F54A-EAAC-D8E2-366684558549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26" name="Text 6">
              <a:extLst>
                <a:ext uri="{FF2B5EF4-FFF2-40B4-BE49-F238E27FC236}">
                  <a16:creationId xmlns:a16="http://schemas.microsoft.com/office/drawing/2014/main" id="{C95B6165-8F54-5140-A07E-D77995ABEBA8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height_right</a:t>
              </a:r>
              <a:endParaRPr lang="fr-FR" sz="1300" noProof="0" dirty="0"/>
            </a:p>
          </p:txBody>
        </p: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C321E5DF-6D56-04A9-712D-D9B9C503BDD8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noProof="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Toujours avec la méthode IQR, on peut identifier 11 outliers dans cette variable, 7 sont des vrais billets et 4 des faux.</a:t>
              </a:r>
              <a:endParaRPr lang="fr-FR" sz="1100" noProof="0" dirty="0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E2FBF62F-BD77-31C0-5CE8-7FFA7F0288AC}"/>
              </a:ext>
            </a:extLst>
          </p:cNvPr>
          <p:cNvGrpSpPr/>
          <p:nvPr/>
        </p:nvGrpSpPr>
        <p:grpSpPr>
          <a:xfrm>
            <a:off x="6840728" y="3718033"/>
            <a:ext cx="4206240" cy="1207516"/>
            <a:chOff x="320040" y="1024128"/>
            <a:chExt cx="4206240" cy="1719072"/>
          </a:xfrm>
        </p:grpSpPr>
        <p:sp>
          <p:nvSpPr>
            <p:cNvPr id="29" name="Shape 2">
              <a:extLst>
                <a:ext uri="{FF2B5EF4-FFF2-40B4-BE49-F238E27FC236}">
                  <a16:creationId xmlns:a16="http://schemas.microsoft.com/office/drawing/2014/main" id="{581DAEE9-A892-FA8A-7DC3-BF0EB96BFB62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0" name="Shape 3">
              <a:extLst>
                <a:ext uri="{FF2B5EF4-FFF2-40B4-BE49-F238E27FC236}">
                  <a16:creationId xmlns:a16="http://schemas.microsoft.com/office/drawing/2014/main" id="{B7C93DD7-3262-B5C4-9A01-E313C5A9A355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1458CDFD-56E6-BCD4-5CB8-B0471FA29B5F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32" name="Text 6">
              <a:extLst>
                <a:ext uri="{FF2B5EF4-FFF2-40B4-BE49-F238E27FC236}">
                  <a16:creationId xmlns:a16="http://schemas.microsoft.com/office/drawing/2014/main" id="{E43CA4A9-86F3-1EBD-CF2E-16AF177C6B08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margin_low</a:t>
              </a:r>
              <a:endParaRPr lang="fr-FR" sz="1300" noProof="0" dirty="0"/>
            </a:p>
          </p:txBody>
        </p:sp>
        <p:sp>
          <p:nvSpPr>
            <p:cNvPr id="33" name="Text 7">
              <a:extLst>
                <a:ext uri="{FF2B5EF4-FFF2-40B4-BE49-F238E27FC236}">
                  <a16:creationId xmlns:a16="http://schemas.microsoft.com/office/drawing/2014/main" id="{6AA94C81-DBBB-3818-4575-72226D98D763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noProof="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Cette variable est la seule du dataset a contenir des valeurs nulles. Un total de 37, dont 29 relatives à des vrais billets et 8 à des faux. Elle contenait également 24 outliers, tous des faux billets.</a:t>
              </a:r>
              <a:endParaRPr lang="fr-FR" sz="1100" noProof="0" dirty="0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09D6C9B7-585C-926F-1571-400521135692}"/>
              </a:ext>
            </a:extLst>
          </p:cNvPr>
          <p:cNvGrpSpPr/>
          <p:nvPr/>
        </p:nvGrpSpPr>
        <p:grpSpPr>
          <a:xfrm>
            <a:off x="980440" y="5215722"/>
            <a:ext cx="4206240" cy="1320550"/>
            <a:chOff x="320040" y="1024128"/>
            <a:chExt cx="4206240" cy="1719072"/>
          </a:xfrm>
        </p:grpSpPr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4F2EB5BE-1FD7-0FAC-E950-4FAB58198B71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E00337A6-79D2-CFBF-8FE6-5A0EE44076B2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3D238E6F-C022-B6D8-25B4-017FA2376CDD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55C3F3D1-51E4-DF7E-98DD-4F08E0E3D4AC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5. margin_up</a:t>
              </a:r>
              <a:endParaRPr lang="fr-FR" sz="1300" noProof="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47BFE16F-CF63-AE1E-7493-5443128A14B4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noProof="0" dirty="0"/>
                <a:t>Seulement 3 outliers dans cette colonne.  1 est un vrai billet et 2 des faux.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A4F7062A-2A7C-B6C0-27A7-B2BF328E9F52}"/>
              </a:ext>
            </a:extLst>
          </p:cNvPr>
          <p:cNvGrpSpPr/>
          <p:nvPr/>
        </p:nvGrpSpPr>
        <p:grpSpPr>
          <a:xfrm>
            <a:off x="6840728" y="5214582"/>
            <a:ext cx="4206240" cy="1320550"/>
            <a:chOff x="320040" y="1024128"/>
            <a:chExt cx="4206240" cy="1719072"/>
          </a:xfrm>
        </p:grpSpPr>
        <p:sp>
          <p:nvSpPr>
            <p:cNvPr id="34" name="Shape 2">
              <a:extLst>
                <a:ext uri="{FF2B5EF4-FFF2-40B4-BE49-F238E27FC236}">
                  <a16:creationId xmlns:a16="http://schemas.microsoft.com/office/drawing/2014/main" id="{AFF5ED00-A8FE-5B69-AD7A-2718C2102981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19ED1E21-BAAE-4AFD-5524-D5C65E9D0B97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6" name="Text 5">
              <a:extLst>
                <a:ext uri="{FF2B5EF4-FFF2-40B4-BE49-F238E27FC236}">
                  <a16:creationId xmlns:a16="http://schemas.microsoft.com/office/drawing/2014/main" id="{9C0A1397-3126-6B37-B0AD-9672C60CE2F2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0F1B13FD-DEA2-0097-61F4-BDB697214E4E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6. length</a:t>
              </a:r>
              <a:endParaRPr lang="fr-FR" sz="1300" noProof="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5B6B4F3B-43B1-C4C5-6B8F-1F6F4928E681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 Outliers pour cette variable également. Tous des faux billets.</a:t>
              </a:r>
              <a:endParaRPr lang="fr-FR" sz="11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094524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6FDD8-3745-3A4E-5437-4127108AB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D0AD245-9C10-E72A-38B8-F4ED3119D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CD89029-7831-FD97-BC82-FAB419F1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795EB46-51F2-11C5-AC6E-307D64FA1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8B1FE3E-5BA6-2B89-47DC-F7A74863A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080D738-2627-4AA1-D069-72763100D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FD4AD8A-E964-E527-994A-8A3E0FE1B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Distribution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593960F3-E0FC-AC4B-DAF1-2580AECC8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4" y="1819274"/>
            <a:ext cx="5850802" cy="4929643"/>
          </a:xfrm>
          <a:prstGeom prst="rect">
            <a:avLst/>
          </a:prstGeom>
        </p:spPr>
      </p:pic>
      <p:grpSp>
        <p:nvGrpSpPr>
          <p:cNvPr id="43" name="Groupe 42">
            <a:extLst>
              <a:ext uri="{FF2B5EF4-FFF2-40B4-BE49-F238E27FC236}">
                <a16:creationId xmlns:a16="http://schemas.microsoft.com/office/drawing/2014/main" id="{2B940CFE-18FD-4F17-A0E0-810F9385589F}"/>
              </a:ext>
            </a:extLst>
          </p:cNvPr>
          <p:cNvGrpSpPr/>
          <p:nvPr/>
        </p:nvGrpSpPr>
        <p:grpSpPr>
          <a:xfrm>
            <a:off x="8128856" y="2457450"/>
            <a:ext cx="3554693" cy="4078821"/>
            <a:chOff x="4663440" y="2606040"/>
            <a:chExt cx="4160520" cy="2057400"/>
          </a:xfrm>
        </p:grpSpPr>
        <p:sp>
          <p:nvSpPr>
            <p:cNvPr id="44" name="Shape 18">
              <a:extLst>
                <a:ext uri="{FF2B5EF4-FFF2-40B4-BE49-F238E27FC236}">
                  <a16:creationId xmlns:a16="http://schemas.microsoft.com/office/drawing/2014/main" id="{55A57F88-B576-1588-6B83-3F03D0B2A3E9}"/>
                </a:ext>
              </a:extLst>
            </p:cNvPr>
            <p:cNvSpPr/>
            <p:nvPr/>
          </p:nvSpPr>
          <p:spPr>
            <a:xfrm>
              <a:off x="4663440" y="2606040"/>
              <a:ext cx="4160520" cy="20574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6" name="Shape 19">
              <a:extLst>
                <a:ext uri="{FF2B5EF4-FFF2-40B4-BE49-F238E27FC236}">
                  <a16:creationId xmlns:a16="http://schemas.microsoft.com/office/drawing/2014/main" id="{5FE61FAB-E0D7-B87A-37F5-02071AB0CFBB}"/>
                </a:ext>
              </a:extLst>
            </p:cNvPr>
            <p:cNvSpPr/>
            <p:nvPr/>
          </p:nvSpPr>
          <p:spPr>
            <a:xfrm>
              <a:off x="4663440" y="2606040"/>
              <a:ext cx="64008" cy="2057400"/>
            </a:xfrm>
            <a:prstGeom prst="rect">
              <a:avLst/>
            </a:prstGeom>
            <a:solidFill>
              <a:srgbClr val="4C8FD6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8" name="Text 20">
              <a:extLst>
                <a:ext uri="{FF2B5EF4-FFF2-40B4-BE49-F238E27FC236}">
                  <a16:creationId xmlns:a16="http://schemas.microsoft.com/office/drawing/2014/main" id="{A9B597F8-8E2A-4E67-86B9-5F1339F82BA9}"/>
                </a:ext>
              </a:extLst>
            </p:cNvPr>
            <p:cNvSpPr/>
            <p:nvPr/>
          </p:nvSpPr>
          <p:spPr>
            <a:xfrm>
              <a:off x="4800600" y="2697480"/>
              <a:ext cx="3886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Observations</a:t>
              </a:r>
              <a:endParaRPr lang="fr-FR" sz="1300" noProof="0" dirty="0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713E832C-511E-378B-7300-E79B5564D168}"/>
                </a:ext>
              </a:extLst>
            </p:cNvPr>
            <p:cNvSpPr/>
            <p:nvPr/>
          </p:nvSpPr>
          <p:spPr>
            <a:xfrm>
              <a:off x="4800600" y="3127248"/>
              <a:ext cx="3886200" cy="14296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fr-F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Les distributions des observations de la variable « diagonal » se superposent presque entièrement.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 variable “height_left” a des distributions relatives aux faux et aux vrais billets qui se chevauchent beaucoup (bien que moins que « diagonal »).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fr-FR" sz="11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 superposition est aussi assez importante pour « height_right ».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 différence entre les deux distributions pour la colonne « margin_low » est vraiment flagrante.  Les faux billets semblent avoir une marge basse plus importante que les vrais.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fr-FR" sz="11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Pour « margin_up », la séparation est visible mais les deux distributions se chevauchent assez</a:t>
              </a: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Les distributions relatives à la colonne « lenght » sont quasiment parfaitement séparées. De ce que l’on peut observer visuellement grâce à ces histogrammes, c’est la variable la plus discriminante entre les vrais et les faux billets. Les faux billets ont l'air nettement plus courts que vrais.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fr-FR" sz="11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fr-FR" sz="11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241168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DBAAB-17E2-A00F-B57D-D7AF1478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1982027-CB85-CF13-508E-6BE1D7C2B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Boxplots</a:t>
            </a:r>
            <a:endParaRPr lang="en-US" sz="40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36B8E53-5512-40FC-B944-847907758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594" y="467208"/>
            <a:ext cx="7115415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73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C249D-03F2-DEB9-5F20-E4E2A721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5161AD2E-3932-F3EC-3417-32B830FCC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C9552A-3ACF-60F9-5934-5E31CEB53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D6A0BD9-DAEE-BCB6-1F47-04008DDA6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BEFF95C-ACD8-B8CF-2CCE-5031CCE6B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895A830-D653-14DF-5E35-CC2BA645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459103C-D80B-7EC6-CC7B-85B93BD8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Corrélation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47F483A1-9923-1C31-292B-7ADD6585564E}"/>
              </a:ext>
            </a:extLst>
          </p:cNvPr>
          <p:cNvGrpSpPr/>
          <p:nvPr/>
        </p:nvGrpSpPr>
        <p:grpSpPr>
          <a:xfrm>
            <a:off x="8128856" y="2103121"/>
            <a:ext cx="3554693" cy="4379068"/>
            <a:chOff x="4663440" y="2606040"/>
            <a:chExt cx="4160520" cy="2057400"/>
          </a:xfrm>
        </p:grpSpPr>
        <p:sp>
          <p:nvSpPr>
            <p:cNvPr id="44" name="Shape 18">
              <a:extLst>
                <a:ext uri="{FF2B5EF4-FFF2-40B4-BE49-F238E27FC236}">
                  <a16:creationId xmlns:a16="http://schemas.microsoft.com/office/drawing/2014/main" id="{3BE25E5A-090F-15D1-0CA2-1BE4DF4C843F}"/>
                </a:ext>
              </a:extLst>
            </p:cNvPr>
            <p:cNvSpPr/>
            <p:nvPr/>
          </p:nvSpPr>
          <p:spPr>
            <a:xfrm>
              <a:off x="4663440" y="2606040"/>
              <a:ext cx="4160520" cy="20574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6" name="Shape 19">
              <a:extLst>
                <a:ext uri="{FF2B5EF4-FFF2-40B4-BE49-F238E27FC236}">
                  <a16:creationId xmlns:a16="http://schemas.microsoft.com/office/drawing/2014/main" id="{FB18E3A9-F682-FFFF-8A5E-9214F53E9C76}"/>
                </a:ext>
              </a:extLst>
            </p:cNvPr>
            <p:cNvSpPr/>
            <p:nvPr/>
          </p:nvSpPr>
          <p:spPr>
            <a:xfrm>
              <a:off x="4663440" y="2606040"/>
              <a:ext cx="64008" cy="2057400"/>
            </a:xfrm>
            <a:prstGeom prst="rect">
              <a:avLst/>
            </a:prstGeom>
            <a:solidFill>
              <a:srgbClr val="4C8FD6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8" name="Text 20">
              <a:extLst>
                <a:ext uri="{FF2B5EF4-FFF2-40B4-BE49-F238E27FC236}">
                  <a16:creationId xmlns:a16="http://schemas.microsoft.com/office/drawing/2014/main" id="{83517BAE-082A-3A62-04D4-573F486208D5}"/>
                </a:ext>
              </a:extLst>
            </p:cNvPr>
            <p:cNvSpPr/>
            <p:nvPr/>
          </p:nvSpPr>
          <p:spPr>
            <a:xfrm>
              <a:off x="4800600" y="2697480"/>
              <a:ext cx="3886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Observations</a:t>
              </a:r>
              <a:endParaRPr lang="fr-FR" sz="1300" noProof="0" dirty="0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211A84CF-CC0B-7B40-A9E1-C51E25F8A496}"/>
                </a:ext>
              </a:extLst>
            </p:cNvPr>
            <p:cNvSpPr/>
            <p:nvPr/>
          </p:nvSpPr>
          <p:spPr>
            <a:xfrm>
              <a:off x="4800600" y="3127248"/>
              <a:ext cx="3886200" cy="14296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 matrice de corrélation semble supporter ce que nous avions observé plus tôt. Si on regarde les variables corrélées à "is_genuine", de la plus forte à la plus faible corrélation:</a:t>
              </a:r>
              <a:endParaRPr lang="fr-FR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« length » semble être de loin la plus corrélée, les vrais billets sont effectivement plus longs.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« margin_low » présente une forte corrélation négative, les faux billets ont une marge basse plus grande.</a:t>
              </a:r>
              <a:endParaRPr lang="fr-FR" sz="11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« margin_up » présente une corrélation négative notable.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« height_right » affiche quant à elle une corrélation négative modérée.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Il en va de même pour "height_left", une corrélation négative modérée (et légèrement plus faible que pour « height_right » ).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«  diagonale » affiche une corrélation quasi nulle, cette variable n'apportera presque rien à nos modèles.</a:t>
              </a:r>
              <a:endParaRPr lang="fr-FR" sz="11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fr-FR" sz="1100" noProof="0" dirty="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BD716CD9-2D17-A1C9-70A2-06FE75022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4" y="1897187"/>
            <a:ext cx="5893979" cy="458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63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42997-D0C5-C611-A3EE-C3D65C3BD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F6A2989-2360-CECE-2B2E-C70ACDA56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71FA34-8698-4106-A69B-9A87D88C9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2F738B2-9D25-6C41-0154-147B20099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A292BE7-8FA0-877E-3DF2-2D0355416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DAF3086-3AD1-0425-3F72-F451428BE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6BDCE7-31FC-4207-109A-9D9E1B628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Prétraitement des données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9184D61A-770E-46AA-B98B-7530589A3677}"/>
              </a:ext>
            </a:extLst>
          </p:cNvPr>
          <p:cNvGrpSpPr/>
          <p:nvPr/>
        </p:nvGrpSpPr>
        <p:grpSpPr>
          <a:xfrm>
            <a:off x="980440" y="2571323"/>
            <a:ext cx="4206240" cy="1211072"/>
            <a:chOff x="320040" y="1024128"/>
            <a:chExt cx="4206240" cy="1719072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A9C50149-92DF-9220-6061-0798DAFD4ADE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A4E46754-9B0D-D6F5-CED2-50053F32382E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95E2A49E-D298-8A86-0EE2-07BF6C65EB42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084D2E18-1800-95DC-F82C-DF6E1FDC6DDB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1. </a:t>
              </a: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Valeurs manquantes</a:t>
              </a:r>
              <a:endParaRPr lang="fr-FR" sz="1300" noProof="0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1C3024AB-084A-4299-516C-B22A09584A31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37 valeurs manquantes de la colonne « margin_low » ont été remplacées par la médiane de la distribution calculée séparément pour les vrais et les faux billets.</a:t>
              </a:r>
              <a:endParaRPr lang="fr-FR" sz="1100" noProof="0" dirty="0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D77840B4-DF20-AC63-7154-55F35CE51D15}"/>
              </a:ext>
            </a:extLst>
          </p:cNvPr>
          <p:cNvGrpSpPr/>
          <p:nvPr/>
        </p:nvGrpSpPr>
        <p:grpSpPr>
          <a:xfrm>
            <a:off x="6840728" y="2574879"/>
            <a:ext cx="4206240" cy="1207516"/>
            <a:chOff x="320040" y="1024128"/>
            <a:chExt cx="4206240" cy="1719072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2EF618D1-C0BE-DF1A-9B41-3C1FCE09BF48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127F9559-22CE-3441-9877-9C777EAA5AD6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4D6C882D-5466-649D-EAE1-ABC3079BE5C4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C6D11352-40C6-4CD6-1BD1-4D82FC39A56F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Type</a:t>
              </a:r>
              <a:endParaRPr lang="fr-FR" sz="1300" noProof="0" dirty="0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8C284149-0DBD-5B35-C132-7B3FF803176D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noProof="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« is_genuine », qui était </a:t>
              </a: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 type booléen, a été converti en entier. True est donc devenu 1 et False 0.</a:t>
              </a:r>
              <a:endParaRPr lang="fr-FR" sz="1100" noProof="0" dirty="0"/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5C9537BF-8077-3099-00EC-755F3818D205}"/>
              </a:ext>
            </a:extLst>
          </p:cNvPr>
          <p:cNvGrpSpPr/>
          <p:nvPr/>
        </p:nvGrpSpPr>
        <p:grpSpPr>
          <a:xfrm>
            <a:off x="980440" y="4779245"/>
            <a:ext cx="4206240" cy="1211072"/>
            <a:chOff x="320040" y="1024128"/>
            <a:chExt cx="4206240" cy="1719072"/>
          </a:xfrm>
        </p:grpSpPr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A62D5228-DBCF-3F3F-A656-74E1060E1701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F5C5B6EC-F8A9-73EE-964E-B000172BBEC2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4EB637C6-A5E9-D25E-C4B9-C31DB52A3F78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26" name="Text 6">
              <a:extLst>
                <a:ext uri="{FF2B5EF4-FFF2-40B4-BE49-F238E27FC236}">
                  <a16:creationId xmlns:a16="http://schemas.microsoft.com/office/drawing/2014/main" id="{70A4A5D7-95EF-4A38-C702-A6712EB06311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Séparation train / test</a:t>
              </a:r>
              <a:endParaRPr lang="fr-FR" sz="1300" noProof="0" dirty="0"/>
            </a:p>
          </p:txBody>
        </p: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138A7574-7458-8B39-1280-6B0FCA8B7FEA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noProof="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Nous avons conservé 80% des données pour l’entraînement, et 20% pour l’évaluation. Nous avons aussi utilisé un paramètre random_state de 42 tout au long de notre travail, à des fins de reproductibilité. </a:t>
              </a:r>
              <a:endParaRPr lang="fr-FR" sz="1100" noProof="0" dirty="0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DED57F06-EC03-6C82-FD8A-8E42C1FD70A2}"/>
              </a:ext>
            </a:extLst>
          </p:cNvPr>
          <p:cNvGrpSpPr/>
          <p:nvPr/>
        </p:nvGrpSpPr>
        <p:grpSpPr>
          <a:xfrm>
            <a:off x="6840728" y="4779245"/>
            <a:ext cx="4206240" cy="1207516"/>
            <a:chOff x="320040" y="1024128"/>
            <a:chExt cx="4206240" cy="1719072"/>
          </a:xfrm>
        </p:grpSpPr>
        <p:sp>
          <p:nvSpPr>
            <p:cNvPr id="29" name="Shape 2">
              <a:extLst>
                <a:ext uri="{FF2B5EF4-FFF2-40B4-BE49-F238E27FC236}">
                  <a16:creationId xmlns:a16="http://schemas.microsoft.com/office/drawing/2014/main" id="{8B8AD041-C8EA-F167-F39E-D646FA9FD886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0" name="Shape 3">
              <a:extLst>
                <a:ext uri="{FF2B5EF4-FFF2-40B4-BE49-F238E27FC236}">
                  <a16:creationId xmlns:a16="http://schemas.microsoft.com/office/drawing/2014/main" id="{5BC9873F-171F-4B10-FB53-E8957B6FA41E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2E0C4B80-A287-6005-6421-A0BE83B5D985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32" name="Text 6">
              <a:extLst>
                <a:ext uri="{FF2B5EF4-FFF2-40B4-BE49-F238E27FC236}">
                  <a16:creationId xmlns:a16="http://schemas.microsoft.com/office/drawing/2014/main" id="{C11E7E2C-041C-6C9F-3107-35C8161AC099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Standardisation</a:t>
              </a:r>
              <a:endParaRPr lang="fr-FR" sz="1300" noProof="0" dirty="0"/>
            </a:p>
          </p:txBody>
        </p:sp>
        <p:sp>
          <p:nvSpPr>
            <p:cNvPr id="33" name="Text 7">
              <a:extLst>
                <a:ext uri="{FF2B5EF4-FFF2-40B4-BE49-F238E27FC236}">
                  <a16:creationId xmlns:a16="http://schemas.microsoft.com/office/drawing/2014/main" id="{62080FEA-4BE3-8307-6D34-6AA1A5771110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noProof="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StandardScaler a été appliqué sur X_train et X_test.</a:t>
              </a:r>
              <a:endParaRPr lang="fr-FR" sz="11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835939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E9514-7B9C-75B6-288B-A6C0BFE4F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23D57DE-F9D6-27FA-2560-CF183DCD0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6DB1017-1568-33ED-750F-60816CA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641370-F264-EB1C-52DE-591E51468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408D7A5-366C-3E54-2DDC-31193D659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0E0F6BB-645D-506E-6C70-9BB90A203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9B0CCD-0FCE-AD44-D163-29985F486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4 modèles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492E605C-572F-F28D-B7DA-B92D1778497D}"/>
              </a:ext>
            </a:extLst>
          </p:cNvPr>
          <p:cNvGrpSpPr/>
          <p:nvPr/>
        </p:nvGrpSpPr>
        <p:grpSpPr>
          <a:xfrm>
            <a:off x="980440" y="2295144"/>
            <a:ext cx="4206240" cy="1487251"/>
            <a:chOff x="980440" y="2295144"/>
            <a:chExt cx="4206240" cy="1487251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4F6599F3-FA08-ED11-9493-F664BA3E2AA6}"/>
                </a:ext>
              </a:extLst>
            </p:cNvPr>
            <p:cNvSpPr/>
            <p:nvPr/>
          </p:nvSpPr>
          <p:spPr>
            <a:xfrm>
              <a:off x="980440" y="2295144"/>
              <a:ext cx="4206240" cy="1487251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65DE9F65-65FD-FA1D-A0FE-F1D76F4FBE1D}"/>
                </a:ext>
              </a:extLst>
            </p:cNvPr>
            <p:cNvSpPr/>
            <p:nvPr/>
          </p:nvSpPr>
          <p:spPr>
            <a:xfrm>
              <a:off x="980440" y="2295144"/>
              <a:ext cx="64008" cy="1487251"/>
            </a:xfrm>
            <a:prstGeom prst="rect">
              <a:avLst/>
            </a:prstGeom>
            <a:solidFill>
              <a:srgbClr val="4E95D9"/>
            </a:solidFill>
            <a:ln/>
          </p:spPr>
          <p:txBody>
            <a:bodyPr/>
            <a:lstStyle/>
            <a:p>
              <a:endParaRPr lang="fr-FR" noProof="0" dirty="0">
                <a:highlight>
                  <a:srgbClr val="52A8DB"/>
                </a:highlight>
              </a:endParaRPr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2717AFF9-1BA9-0B7D-36B5-A454F1AFE8AB}"/>
                </a:ext>
              </a:extLst>
            </p:cNvPr>
            <p:cNvSpPr/>
            <p:nvPr/>
          </p:nvSpPr>
          <p:spPr>
            <a:xfrm>
              <a:off x="1145031" y="2502317"/>
              <a:ext cx="1945640" cy="2215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300" b="1" dirty="0">
                  <a:solidFill>
                    <a:srgbClr val="1E2761"/>
                  </a:solidFill>
                  <a:latin typeface="Georgia" panose="02040502050405020303" pitchFamily="18" charset="0"/>
                  <a:ea typeface="Georgia" pitchFamily="34" charset="-122"/>
                  <a:cs typeface="Georgia" pitchFamily="34" charset="-120"/>
                </a:rPr>
                <a:t>Régression Logistique</a:t>
              </a:r>
              <a:endParaRPr lang="fr-FR" sz="1300" noProof="0" dirty="0">
                <a:latin typeface="Georgia" panose="02040502050405020303" pitchFamily="18" charset="0"/>
              </a:endParaRPr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3B5C0743-F5CA-23D3-CF40-3C81A7913534}"/>
                </a:ext>
              </a:extLst>
            </p:cNvPr>
            <p:cNvSpPr/>
            <p:nvPr/>
          </p:nvSpPr>
          <p:spPr>
            <a:xfrm>
              <a:off x="1145032" y="2651135"/>
              <a:ext cx="3913632" cy="3322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200" b="1" noProof="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Supervisé</a:t>
              </a:r>
              <a:endParaRPr lang="fr-FR" sz="1200" noProof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F57A8B57-E37F-55E3-E65F-AC8DF80E4D2E}"/>
                </a:ext>
              </a:extLst>
            </p:cNvPr>
            <p:cNvSpPr/>
            <p:nvPr/>
          </p:nvSpPr>
          <p:spPr>
            <a:xfrm>
              <a:off x="1145032" y="3022948"/>
              <a:ext cx="3913632" cy="696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Adapte la régression linéaire à la classification en projetant le résultat entre 0 et 1 via la fonction logistique. Nous avons utilisé deux paramètres pour optimiser le modèle, penalty et solver, ainsi que la méthode GridSearchCH.</a:t>
              </a:r>
              <a:endParaRPr lang="fr-FR" sz="1100" noProof="0" dirty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A013FA5-C0D6-F18C-D0A2-FBB40F61539A}"/>
              </a:ext>
            </a:extLst>
          </p:cNvPr>
          <p:cNvGrpSpPr/>
          <p:nvPr/>
        </p:nvGrpSpPr>
        <p:grpSpPr>
          <a:xfrm>
            <a:off x="7005322" y="2295144"/>
            <a:ext cx="4206240" cy="1487251"/>
            <a:chOff x="980440" y="2295144"/>
            <a:chExt cx="4206240" cy="1487251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13337CA9-02F8-C38D-BA85-14896B2BF313}"/>
                </a:ext>
              </a:extLst>
            </p:cNvPr>
            <p:cNvSpPr/>
            <p:nvPr/>
          </p:nvSpPr>
          <p:spPr>
            <a:xfrm>
              <a:off x="980440" y="2295144"/>
              <a:ext cx="4206240" cy="1487251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55DAC0DF-866C-6178-422E-14225C938F4C}"/>
                </a:ext>
              </a:extLst>
            </p:cNvPr>
            <p:cNvSpPr/>
            <p:nvPr/>
          </p:nvSpPr>
          <p:spPr>
            <a:xfrm>
              <a:off x="980440" y="2295144"/>
              <a:ext cx="64008" cy="1487251"/>
            </a:xfrm>
            <a:prstGeom prst="rect">
              <a:avLst/>
            </a:prstGeom>
            <a:solidFill>
              <a:srgbClr val="4E95D9"/>
            </a:solidFill>
            <a:ln/>
          </p:spPr>
          <p:txBody>
            <a:bodyPr/>
            <a:lstStyle/>
            <a:p>
              <a:endParaRPr lang="fr-FR" noProof="0" dirty="0">
                <a:highlight>
                  <a:srgbClr val="52A8DB"/>
                </a:highlight>
              </a:endParaRPr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ADEE160F-4A13-DB58-CCA1-9B6C3B74BD57}"/>
                </a:ext>
              </a:extLst>
            </p:cNvPr>
            <p:cNvSpPr/>
            <p:nvPr/>
          </p:nvSpPr>
          <p:spPr>
            <a:xfrm>
              <a:off x="1145031" y="2502317"/>
              <a:ext cx="1945640" cy="2215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300" b="1" dirty="0">
                  <a:solidFill>
                    <a:srgbClr val="1E2761"/>
                  </a:solidFill>
                  <a:latin typeface="Georgia" panose="02040502050405020303" pitchFamily="18" charset="0"/>
                  <a:ea typeface="Georgia" pitchFamily="34" charset="-122"/>
                  <a:cs typeface="Georgia" pitchFamily="34" charset="-120"/>
                </a:rPr>
                <a:t>KNN</a:t>
              </a:r>
              <a:endParaRPr lang="fr-FR" sz="1300" noProof="0" dirty="0">
                <a:latin typeface="Georgia" panose="02040502050405020303" pitchFamily="18" charset="0"/>
              </a:endParaRPr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96FDEA9E-6D75-8047-82C4-05B0FA487FB1}"/>
                </a:ext>
              </a:extLst>
            </p:cNvPr>
            <p:cNvSpPr/>
            <p:nvPr/>
          </p:nvSpPr>
          <p:spPr>
            <a:xfrm>
              <a:off x="1145032" y="2651135"/>
              <a:ext cx="3913632" cy="3322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200" b="1" noProof="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Supervisé</a:t>
              </a:r>
              <a:endParaRPr lang="fr-FR" sz="1200" noProof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FC0233FF-6BC0-A777-E8AC-6AAC75A3A3EF}"/>
                </a:ext>
              </a:extLst>
            </p:cNvPr>
            <p:cNvSpPr/>
            <p:nvPr/>
          </p:nvSpPr>
          <p:spPr>
            <a:xfrm>
              <a:off x="1145032" y="3022948"/>
              <a:ext cx="3913632" cy="696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L’algorithme des k plus proches voisins est un classificateur d’apprentissage qui s’appuie sur la notion de proximité. Nous avons utilisé plusieurs valeurs du paramètre n_neighboors et la méthode GridSearchCH pour optimiser ce modèle.</a:t>
              </a:r>
              <a:endParaRPr lang="fr-FR" sz="1100" noProof="0" dirty="0"/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D3DBCE23-7E15-6220-DE6D-0F0C592EDDE1}"/>
              </a:ext>
            </a:extLst>
          </p:cNvPr>
          <p:cNvGrpSpPr/>
          <p:nvPr/>
        </p:nvGrpSpPr>
        <p:grpSpPr>
          <a:xfrm>
            <a:off x="980440" y="4646901"/>
            <a:ext cx="4206240" cy="1487251"/>
            <a:chOff x="980440" y="2295144"/>
            <a:chExt cx="4206240" cy="1487251"/>
          </a:xfrm>
        </p:grpSpPr>
        <p:sp>
          <p:nvSpPr>
            <p:cNvPr id="35" name="Shape 2">
              <a:extLst>
                <a:ext uri="{FF2B5EF4-FFF2-40B4-BE49-F238E27FC236}">
                  <a16:creationId xmlns:a16="http://schemas.microsoft.com/office/drawing/2014/main" id="{182D8FA8-2885-76A6-FA6E-CA8115097126}"/>
                </a:ext>
              </a:extLst>
            </p:cNvPr>
            <p:cNvSpPr/>
            <p:nvPr/>
          </p:nvSpPr>
          <p:spPr>
            <a:xfrm>
              <a:off x="980440" y="2295144"/>
              <a:ext cx="4206240" cy="1487251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6" name="Shape 3">
              <a:extLst>
                <a:ext uri="{FF2B5EF4-FFF2-40B4-BE49-F238E27FC236}">
                  <a16:creationId xmlns:a16="http://schemas.microsoft.com/office/drawing/2014/main" id="{71A83B60-6F51-C758-5C13-08B422E1FA63}"/>
                </a:ext>
              </a:extLst>
            </p:cNvPr>
            <p:cNvSpPr/>
            <p:nvPr/>
          </p:nvSpPr>
          <p:spPr>
            <a:xfrm>
              <a:off x="980440" y="2295144"/>
              <a:ext cx="64008" cy="1487251"/>
            </a:xfrm>
            <a:prstGeom prst="rect">
              <a:avLst/>
            </a:prstGeom>
            <a:solidFill>
              <a:srgbClr val="4E95D9"/>
            </a:solidFill>
            <a:ln/>
          </p:spPr>
          <p:txBody>
            <a:bodyPr/>
            <a:lstStyle/>
            <a:p>
              <a:endParaRPr lang="fr-FR" noProof="0" dirty="0">
                <a:highlight>
                  <a:srgbClr val="52A8DB"/>
                </a:highlight>
              </a:endParaRPr>
            </a:p>
          </p:txBody>
        </p:sp>
        <p:sp>
          <p:nvSpPr>
            <p:cNvPr id="37" name="Text 5">
              <a:extLst>
                <a:ext uri="{FF2B5EF4-FFF2-40B4-BE49-F238E27FC236}">
                  <a16:creationId xmlns:a16="http://schemas.microsoft.com/office/drawing/2014/main" id="{7AF4E31C-37DE-D975-50C8-7B9AF265DE1B}"/>
                </a:ext>
              </a:extLst>
            </p:cNvPr>
            <p:cNvSpPr/>
            <p:nvPr/>
          </p:nvSpPr>
          <p:spPr>
            <a:xfrm>
              <a:off x="1145031" y="2502317"/>
              <a:ext cx="1945640" cy="2215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300" b="1" dirty="0">
                  <a:solidFill>
                    <a:srgbClr val="1E2761"/>
                  </a:solidFill>
                  <a:latin typeface="Georgia" panose="02040502050405020303" pitchFamily="18" charset="0"/>
                  <a:ea typeface="Georgia" pitchFamily="34" charset="-122"/>
                  <a:cs typeface="Georgia" pitchFamily="34" charset="-120"/>
                </a:rPr>
                <a:t>Random Forest</a:t>
              </a:r>
              <a:endParaRPr lang="fr-FR" sz="1300" noProof="0" dirty="0">
                <a:latin typeface="Georgia" panose="02040502050405020303" pitchFamily="18" charset="0"/>
              </a:endParaRPr>
            </a:p>
          </p:txBody>
        </p: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4BEBB9E4-82DF-96D4-453D-A4B63334B535}"/>
                </a:ext>
              </a:extLst>
            </p:cNvPr>
            <p:cNvSpPr/>
            <p:nvPr/>
          </p:nvSpPr>
          <p:spPr>
            <a:xfrm>
              <a:off x="1145032" y="2651135"/>
              <a:ext cx="3913632" cy="3322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200" b="1" noProof="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Supervisé</a:t>
              </a:r>
              <a:endParaRPr lang="fr-FR" sz="1200" noProof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Text 7">
              <a:extLst>
                <a:ext uri="{FF2B5EF4-FFF2-40B4-BE49-F238E27FC236}">
                  <a16:creationId xmlns:a16="http://schemas.microsoft.com/office/drawing/2014/main" id="{5612BAD3-F55B-9A6E-DD0A-112B0500EAF2}"/>
                </a:ext>
              </a:extLst>
            </p:cNvPr>
            <p:cNvSpPr/>
            <p:nvPr/>
          </p:nvSpPr>
          <p:spPr>
            <a:xfrm>
              <a:off x="1145032" y="3022948"/>
              <a:ext cx="3913632" cy="696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C’est un algorithme de machine learning qui combine les résultats de plusieurs arbres de décision. Ici, ce sont les paramètres n_estimators et max_depth que nous avons optimisé afin d’améliorer notre modèle. Là encore avec la méthode GridSearchCH.</a:t>
              </a:r>
              <a:endParaRPr lang="fr-FR" sz="1100" noProof="0" dirty="0"/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C5FD764C-A1E2-F63E-E5B7-3D144B0A8722}"/>
              </a:ext>
            </a:extLst>
          </p:cNvPr>
          <p:cNvGrpSpPr/>
          <p:nvPr/>
        </p:nvGrpSpPr>
        <p:grpSpPr>
          <a:xfrm>
            <a:off x="7005320" y="4646900"/>
            <a:ext cx="4206240" cy="1487251"/>
            <a:chOff x="980440" y="2295144"/>
            <a:chExt cx="4206240" cy="1487251"/>
          </a:xfrm>
        </p:grpSpPr>
        <p:sp>
          <p:nvSpPr>
            <p:cNvPr id="41" name="Shape 2">
              <a:extLst>
                <a:ext uri="{FF2B5EF4-FFF2-40B4-BE49-F238E27FC236}">
                  <a16:creationId xmlns:a16="http://schemas.microsoft.com/office/drawing/2014/main" id="{B3C32654-E128-CA93-88EE-EBF77703F0A6}"/>
                </a:ext>
              </a:extLst>
            </p:cNvPr>
            <p:cNvSpPr/>
            <p:nvPr/>
          </p:nvSpPr>
          <p:spPr>
            <a:xfrm>
              <a:off x="980440" y="2295144"/>
              <a:ext cx="4206240" cy="1487251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2" name="Shape 3">
              <a:extLst>
                <a:ext uri="{FF2B5EF4-FFF2-40B4-BE49-F238E27FC236}">
                  <a16:creationId xmlns:a16="http://schemas.microsoft.com/office/drawing/2014/main" id="{4FB204C7-778F-DE60-DF39-63A2E0F6A2BD}"/>
                </a:ext>
              </a:extLst>
            </p:cNvPr>
            <p:cNvSpPr/>
            <p:nvPr/>
          </p:nvSpPr>
          <p:spPr>
            <a:xfrm>
              <a:off x="980440" y="2295144"/>
              <a:ext cx="64008" cy="1487251"/>
            </a:xfrm>
            <a:prstGeom prst="rect">
              <a:avLst/>
            </a:prstGeom>
            <a:solidFill>
              <a:srgbClr val="C1677F"/>
            </a:solidFill>
            <a:ln/>
          </p:spPr>
          <p:txBody>
            <a:bodyPr/>
            <a:lstStyle/>
            <a:p>
              <a:endParaRPr lang="fr-FR" noProof="0" dirty="0">
                <a:highlight>
                  <a:srgbClr val="52A8DB"/>
                </a:highlight>
              </a:endParaRPr>
            </a:p>
          </p:txBody>
        </p: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BF3DF3B0-A9E8-DE47-6C74-66AB1775924F}"/>
                </a:ext>
              </a:extLst>
            </p:cNvPr>
            <p:cNvSpPr/>
            <p:nvPr/>
          </p:nvSpPr>
          <p:spPr>
            <a:xfrm>
              <a:off x="1145031" y="2502317"/>
              <a:ext cx="1945640" cy="2215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300" b="1" dirty="0">
                  <a:solidFill>
                    <a:srgbClr val="1E2761"/>
                  </a:solidFill>
                  <a:latin typeface="Georgia" panose="02040502050405020303" pitchFamily="18" charset="0"/>
                  <a:ea typeface="Georgia" pitchFamily="34" charset="-122"/>
                  <a:cs typeface="Georgia" pitchFamily="34" charset="-120"/>
                </a:rPr>
                <a:t>K-Means</a:t>
              </a:r>
              <a:endParaRPr lang="fr-FR" sz="1300" noProof="0" dirty="0">
                <a:latin typeface="Georgia" panose="02040502050405020303" pitchFamily="18" charset="0"/>
              </a:endParaRPr>
            </a:p>
          </p:txBody>
        </p:sp>
        <p:sp>
          <p:nvSpPr>
            <p:cNvPr id="44" name="Text 6">
              <a:extLst>
                <a:ext uri="{FF2B5EF4-FFF2-40B4-BE49-F238E27FC236}">
                  <a16:creationId xmlns:a16="http://schemas.microsoft.com/office/drawing/2014/main" id="{0F7EC709-E966-1627-B279-B5203384A56E}"/>
                </a:ext>
              </a:extLst>
            </p:cNvPr>
            <p:cNvSpPr/>
            <p:nvPr/>
          </p:nvSpPr>
          <p:spPr>
            <a:xfrm>
              <a:off x="1145032" y="2651135"/>
              <a:ext cx="3913632" cy="3322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200" b="1" noProof="0" dirty="0">
                  <a:solidFill>
                    <a:srgbClr val="C1677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Non supervisé</a:t>
              </a:r>
              <a:endParaRPr lang="fr-FR" sz="1200" noProof="0" dirty="0">
                <a:solidFill>
                  <a:srgbClr val="C1677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Text 7">
              <a:extLst>
                <a:ext uri="{FF2B5EF4-FFF2-40B4-BE49-F238E27FC236}">
                  <a16:creationId xmlns:a16="http://schemas.microsoft.com/office/drawing/2014/main" id="{6666DD96-80F9-EB5C-AD0B-FE9F602FDA92}"/>
                </a:ext>
              </a:extLst>
            </p:cNvPr>
            <p:cNvSpPr/>
            <p:nvPr/>
          </p:nvSpPr>
          <p:spPr>
            <a:xfrm>
              <a:off x="1145032" y="3022948"/>
              <a:ext cx="3913632" cy="696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Ici, on regroupe les billets en 2 clusters. Les centroïdes de ces clusters nous permettent ensuite de classer de nouveaux billets. Nous avons utilisé deux paramètres, n_clusters avec une valeur de 2 et n_init qui est égal à « auto ».</a:t>
              </a:r>
              <a:endParaRPr lang="fr-FR" sz="11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233964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104EC-EE46-764B-2A0A-6BF8E54A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4B7CE9E-702D-8F28-6897-1142D8024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E27651D-0FF8-7B84-3EB5-357AAFA50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D156695-F1DE-4735-96C8-0D0C3D870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E38B5AB-D64C-D238-A7CB-DFF828D6E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FEDEEE-94C6-F717-D356-E463B1AA8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AB5C0A-B74C-1BD9-A0AE-498F2CB14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dirty="0">
                <a:solidFill>
                  <a:schemeClr val="bg1"/>
                </a:solidFill>
                <a:latin typeface="Aptos Display (En-têtes)"/>
              </a:rPr>
              <a:t>É</a:t>
            </a:r>
            <a:r>
              <a:rPr lang="fr-FR" sz="3600" b="1" noProof="0" dirty="0">
                <a:solidFill>
                  <a:schemeClr val="bg1"/>
                </a:solidFill>
                <a:latin typeface="Aptos Display (En-têtes)"/>
              </a:rPr>
              <a:t>valuation</a:t>
            </a:r>
            <a:r>
              <a:rPr lang="fr-FR" sz="3600" b="1" noProof="0" dirty="0">
                <a:solidFill>
                  <a:schemeClr val="bg1"/>
                </a:solidFill>
              </a:rPr>
              <a:t> des différents modèles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452EC1B-97B6-7D2C-A6BE-15CAEAF2B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707" y="2878262"/>
            <a:ext cx="7910876" cy="246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7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14DAC-D35C-4D5F-CC5D-4376DBB4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B5596464-209B-3502-2D04-2D5A91EE4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9C16C8-8326-D788-CD70-1E60B36B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998390D-82BB-1F15-31D2-712E2C83B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AC9B0E-24A4-40E4-90E9-0D7CE5983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2F9CA91-37D8-4484-B63F-E459905FE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B918E0-7199-1AC5-898D-809150BF2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dirty="0">
                <a:solidFill>
                  <a:schemeClr val="bg1"/>
                </a:solidFill>
                <a:latin typeface="Aptos Display (En-têtes)"/>
              </a:rPr>
              <a:t>Matrice de confusion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39697F4-6845-B73B-33A3-30027E1E5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4" y="2452473"/>
            <a:ext cx="10679015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79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D04A4-22BF-6471-7CCA-39535F830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0207CB8-DB79-9BE2-1D61-4E1C63D86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F118EA1-9CD6-E9A4-585D-4CCC4D2C7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F1BAB3-994B-E8D6-A6CE-A2751B53E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46E8691-DD66-20DF-D23D-A179E0302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BA2F69C-D14F-71B0-72D8-BF425574F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AABCD4-E8AE-C249-5D29-C3F3860B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dirty="0">
                <a:solidFill>
                  <a:schemeClr val="bg1"/>
                </a:solidFill>
                <a:latin typeface="Aptos Display (En-têtes)"/>
              </a:rPr>
              <a:t>Modèle retenu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1613330-9654-90C7-B963-F8D5CF17FB6D}"/>
              </a:ext>
            </a:extLst>
          </p:cNvPr>
          <p:cNvSpPr txBox="1"/>
          <p:nvPr/>
        </p:nvSpPr>
        <p:spPr>
          <a:xfrm>
            <a:off x="472906" y="4031571"/>
            <a:ext cx="7655949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Excellent rappel avec 98.18 %  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FB20051-3F29-D92C-754C-7B27A88A8793}"/>
              </a:ext>
            </a:extLst>
          </p:cNvPr>
          <p:cNvSpPr txBox="1"/>
          <p:nvPr/>
        </p:nvSpPr>
        <p:spPr>
          <a:xfrm>
            <a:off x="472905" y="4583321"/>
            <a:ext cx="7655949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Meilleure accuracy avec 99.33 %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B5CE4FF-289D-CEBD-8826-CDC6EC28C9D7}"/>
              </a:ext>
            </a:extLst>
          </p:cNvPr>
          <p:cNvSpPr txBox="1"/>
          <p:nvPr/>
        </p:nvSpPr>
        <p:spPr>
          <a:xfrm>
            <a:off x="2015958" y="1759139"/>
            <a:ext cx="7655948" cy="1538883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Régression Logistique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 algn="ctr"/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Penalty = l2   |    solver =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lbfgs</a:t>
            </a:r>
            <a:endParaRPr kumimoji="0" lang="fr-FR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770D574-7655-4F79-C132-E929D1FBE47B}"/>
              </a:ext>
            </a:extLst>
          </p:cNvPr>
          <p:cNvSpPr txBox="1"/>
          <p:nvPr/>
        </p:nvSpPr>
        <p:spPr>
          <a:xfrm>
            <a:off x="472904" y="5134452"/>
            <a:ext cx="7655949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Meilleure ROC  AUC score avec 99.09 %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86FF0AD-D3EE-B382-CEA6-F8506A46BA63}"/>
              </a:ext>
            </a:extLst>
          </p:cNvPr>
          <p:cNvSpPr txBox="1"/>
          <p:nvPr/>
        </p:nvSpPr>
        <p:spPr>
          <a:xfrm>
            <a:off x="472903" y="5685583"/>
            <a:ext cx="7655949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Précision parfaite avec 100 %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74A9D51-4F2D-E555-14FC-AF7238BA55CE}"/>
              </a:ext>
            </a:extLst>
          </p:cNvPr>
          <p:cNvSpPr txBox="1"/>
          <p:nvPr/>
        </p:nvSpPr>
        <p:spPr>
          <a:xfrm>
            <a:off x="472903" y="6236714"/>
            <a:ext cx="7655949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Modèle simple, facile à implémenter et à interpréter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276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0A837-49F2-13C5-7C49-4F594293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A1805C7-F849-8124-95A6-F11183203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4A77371-BC3B-6043-D66A-B62061E2F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6D69D24-80C7-7754-42F1-9FD3FA0A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8C5CCBE-7500-DED6-49DA-4901CCEA2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3A2BAD5-2973-45BD-68AF-BA32F6983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BF2F4F1-6337-58CD-D36B-784FFA85C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dirty="0">
                <a:solidFill>
                  <a:schemeClr val="bg1"/>
                </a:solidFill>
                <a:latin typeface="Aptos Display (En-têtes)"/>
              </a:rPr>
              <a:t>Modèle retenu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61EAFF9E-48FD-FC18-9339-5EC0074478D7}"/>
              </a:ext>
            </a:extLst>
          </p:cNvPr>
          <p:cNvGrpSpPr/>
          <p:nvPr/>
        </p:nvGrpSpPr>
        <p:grpSpPr>
          <a:xfrm>
            <a:off x="1426464" y="2276856"/>
            <a:ext cx="10257085" cy="4259415"/>
            <a:chOff x="4663440" y="2606040"/>
            <a:chExt cx="4160520" cy="2057400"/>
          </a:xfrm>
        </p:grpSpPr>
        <p:sp>
          <p:nvSpPr>
            <p:cNvPr id="10" name="Shape 18">
              <a:extLst>
                <a:ext uri="{FF2B5EF4-FFF2-40B4-BE49-F238E27FC236}">
                  <a16:creationId xmlns:a16="http://schemas.microsoft.com/office/drawing/2014/main" id="{5E7B15B6-A93F-1839-8BC8-BF481792D69C}"/>
                </a:ext>
              </a:extLst>
            </p:cNvPr>
            <p:cNvSpPr/>
            <p:nvPr/>
          </p:nvSpPr>
          <p:spPr>
            <a:xfrm>
              <a:off x="4663440" y="2606040"/>
              <a:ext cx="4160520" cy="20574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Shape 19">
              <a:extLst>
                <a:ext uri="{FF2B5EF4-FFF2-40B4-BE49-F238E27FC236}">
                  <a16:creationId xmlns:a16="http://schemas.microsoft.com/office/drawing/2014/main" id="{FF15230A-8144-1DC8-C305-254039E217E1}"/>
                </a:ext>
              </a:extLst>
            </p:cNvPr>
            <p:cNvSpPr/>
            <p:nvPr/>
          </p:nvSpPr>
          <p:spPr>
            <a:xfrm>
              <a:off x="4663440" y="2606040"/>
              <a:ext cx="64008" cy="2057400"/>
            </a:xfrm>
            <a:prstGeom prst="rect">
              <a:avLst/>
            </a:prstGeom>
            <a:solidFill>
              <a:srgbClr val="4C8FD6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Text 20">
              <a:extLst>
                <a:ext uri="{FF2B5EF4-FFF2-40B4-BE49-F238E27FC236}">
                  <a16:creationId xmlns:a16="http://schemas.microsoft.com/office/drawing/2014/main" id="{758B95D6-B8CD-B212-60C3-E371F1C55565}"/>
                </a:ext>
              </a:extLst>
            </p:cNvPr>
            <p:cNvSpPr/>
            <p:nvPr/>
          </p:nvSpPr>
          <p:spPr>
            <a:xfrm>
              <a:off x="4800600" y="2838821"/>
              <a:ext cx="3886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Fonctionnement du script</a:t>
              </a:r>
              <a:endParaRPr lang="fr-FR" sz="1300" noProof="0" dirty="0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0AD1A79F-269A-335A-978D-37785980066E}"/>
                </a:ext>
              </a:extLst>
            </p:cNvPr>
            <p:cNvSpPr/>
            <p:nvPr/>
          </p:nvSpPr>
          <p:spPr>
            <a:xfrm>
              <a:off x="4800600" y="3127248"/>
              <a:ext cx="3886200" cy="14296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fr-F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endParaRPr lang="fr-F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endParaRPr lang="fr-F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28600" indent="-228600">
                <a:buFont typeface="+mj-lt"/>
                <a:buAutoNum type="arabicPeriod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Charger le pipeline (modele_billets.pk)</a:t>
              </a:r>
            </a:p>
            <a:p>
              <a:pPr marL="228600" indent="-228600">
                <a:buFont typeface="+mj-lt"/>
                <a:buAutoNum type="arabicPeriod"/>
              </a:pP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28600" indent="-228600">
                <a:buFont typeface="+mj-lt"/>
                <a:buAutoNum type="arabicPeriod"/>
              </a:pP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28600" indent="-228600">
                <a:buFont typeface="+mj-lt"/>
                <a:buAutoNum type="arabicPeriod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Accepte soit les valeurs géométriques d’un billet directement en paramètre de la fonction predire_billet , soit le chemin d’un fichier csv contenant les valeurs de plusieurs billets en paramètre de la fonction predire_fichier.</a:t>
              </a:r>
            </a:p>
            <a:p>
              <a:pPr marL="228600" indent="-228600">
                <a:buFont typeface="+mj-lt"/>
                <a:buAutoNum type="arabicPeriod"/>
              </a:pP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28600" indent="-228600">
                <a:buFont typeface="+mj-lt"/>
                <a:buAutoNum type="arabicPeriod"/>
              </a:pP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28600" indent="-228600">
                <a:buFont typeface="+mj-lt"/>
                <a:buAutoNum type="arabicPeriod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 pipeline normalise automatiquement les données à l’aide de StandardScaler.</a:t>
              </a:r>
            </a:p>
            <a:p>
              <a:pPr marL="228600" indent="-228600">
                <a:buFont typeface="+mj-lt"/>
                <a:buAutoNum type="arabicPeriod"/>
              </a:pP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28600" indent="-228600">
                <a:buFont typeface="+mj-lt"/>
                <a:buAutoNum type="arabicPeriod"/>
              </a:pP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28600" indent="-228600">
                <a:buFont typeface="+mj-lt"/>
                <a:buAutoNum type="arabicPeriod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Les fonctions retournent « Vrai billet » ou « Faux billet » pour chaque billet.</a:t>
              </a:r>
            </a:p>
            <a:p>
              <a:pPr marL="228600" indent="-228600">
                <a:buFont typeface="+mj-lt"/>
                <a:buAutoNum type="arabicPeriod"/>
              </a:pP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28600" indent="-228600">
                <a:buFont typeface="+mj-lt"/>
                <a:buAutoNum type="arabicPeriod"/>
              </a:pP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fr-FR" sz="11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fr-FR" sz="11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773881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D1640-9085-97CA-2455-17D65A227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18BDC9-2FA9-074D-2A14-2D72675FC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AB4701-98B4-6A4D-3A28-3D07A660E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B1C960-83E0-D498-9FED-FDBF64EDA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F618E-EC62-6E20-5E2C-76D3DCA52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CFA0DA7-44D0-3177-445D-DF94A08C2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FDDAF13-52A9-FBFF-49D4-02D1AFD02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263" y="885892"/>
            <a:ext cx="11157470" cy="116418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fr-FR" sz="4400" noProof="0" dirty="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CEF41E-B294-82E2-50CE-23B4F6FE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075A4C-19E0-86C5-CFF5-D4891768C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5549F86E-F612-4DE0-23EF-EF2BA850A104}"/>
              </a:ext>
            </a:extLst>
          </p:cNvPr>
          <p:cNvSpPr txBox="1">
            <a:spLocks/>
          </p:cNvSpPr>
          <p:nvPr/>
        </p:nvSpPr>
        <p:spPr>
          <a:xfrm>
            <a:off x="2082476" y="2523744"/>
            <a:ext cx="8027044" cy="15453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400" b="1" dirty="0">
                <a:solidFill>
                  <a:srgbClr val="CADCFC"/>
                </a:solidFill>
              </a:rPr>
              <a:t>Script de détection automatique des faux billets </a:t>
            </a:r>
            <a:endParaRPr lang="fr-FR" sz="4400" b="1" noProof="0" dirty="0">
              <a:solidFill>
                <a:srgbClr val="CADC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2776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8084</TotalTime>
  <Words>1163</Words>
  <Application>Microsoft Office PowerPoint</Application>
  <PresentationFormat>Grand écran</PresentationFormat>
  <Paragraphs>145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Aptos Display (En-têtes)</vt:lpstr>
      <vt:lpstr>Arial</vt:lpstr>
      <vt:lpstr>Calibri</vt:lpstr>
      <vt:lpstr>Georgia</vt:lpstr>
      <vt:lpstr>Wingdings</vt:lpstr>
      <vt:lpstr>Thème Office</vt:lpstr>
      <vt:lpstr>          Détection Automatique des Faux Billets </vt:lpstr>
      <vt:lpstr>Contexte &amp; objectif</vt:lpstr>
      <vt:lpstr>Nos données</vt:lpstr>
      <vt:lpstr>Notes sur les données</vt:lpstr>
      <vt:lpstr>Distribution</vt:lpstr>
      <vt:lpstr>Boxplots</vt:lpstr>
      <vt:lpstr>Corrélation</vt:lpstr>
      <vt:lpstr>Prétraitement des données</vt:lpstr>
      <vt:lpstr>4 modèles</vt:lpstr>
      <vt:lpstr>Évaluation des différents modèles</vt:lpstr>
      <vt:lpstr>Matrice de confusion</vt:lpstr>
      <vt:lpstr>Modèle retenu</vt:lpstr>
      <vt:lpstr>Modèle retenu</vt:lpstr>
      <vt:lpstr>Démonstration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Low-Kam</dc:creator>
  <cp:lastModifiedBy>Alexandre Low-Kam</cp:lastModifiedBy>
  <cp:revision>62</cp:revision>
  <dcterms:created xsi:type="dcterms:W3CDTF">2026-02-23T17:22:06Z</dcterms:created>
  <dcterms:modified xsi:type="dcterms:W3CDTF">2026-05-26T12:17:22Z</dcterms:modified>
</cp:coreProperties>
</file>