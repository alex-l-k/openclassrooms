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10" r:id="rId3"/>
    <p:sldId id="299" r:id="rId4"/>
    <p:sldId id="311" r:id="rId5"/>
    <p:sldId id="313" r:id="rId6"/>
    <p:sldId id="312" r:id="rId7"/>
    <p:sldId id="315" r:id="rId8"/>
    <p:sldId id="316" r:id="rId9"/>
    <p:sldId id="317" r:id="rId10"/>
    <p:sldId id="314" r:id="rId11"/>
    <p:sldId id="300" r:id="rId12"/>
    <p:sldId id="29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DCFC"/>
    <a:srgbClr val="F3BFBF"/>
    <a:srgbClr val="E2D6D0"/>
    <a:srgbClr val="4E95D9"/>
    <a:srgbClr val="1E2761"/>
    <a:srgbClr val="C1677F"/>
    <a:srgbClr val="52A8DB"/>
    <a:srgbClr val="072540"/>
    <a:srgbClr val="28A7F1"/>
    <a:srgbClr val="0D3D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04E2DA-5A10-4533-BDAC-45B439DDBF9E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1F5936-43C8-4ACC-A019-2DDE01D095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4822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2C1236-AFD6-1314-326F-77220B90C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17478D0-4109-2ACD-05F5-B1D3CD34D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7918B6-8BDE-9FCD-F78B-96C5F118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B60B-67E8-4EE8-83DF-9286A7186806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7B23DA-EFCB-DD61-5DE9-7CE547EA3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F118B4-DC8C-E5FD-1CBC-8332E451F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8889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7FD85B-3EE8-1AB3-0FCB-493341A54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F7BEA9-F012-2921-EA3D-67764C518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6223D7-90F1-EB86-81E2-B6AA2A025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B60B-67E8-4EE8-83DF-9286A7186806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CF5E55-FADE-6B8C-9548-50315BE94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15C717-718E-B3A7-AD92-4BAF58F6C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3353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1E97DA-DEDD-FB57-4073-0876CDD3E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CB8D437-90FD-9699-6245-C1567394E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71E551-0B7E-3141-1132-9A7B6978C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B60B-67E8-4EE8-83DF-9286A7186806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79897B-5FDA-8391-222C-648A69E2C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785B34-EF57-79BC-2197-8296F657E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256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B140EA-FF9B-07BE-A810-64A4DEFD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A09721-531E-E5D4-CDDA-D361B3718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E5DBD7C-13FD-CF46-ED26-A81F38916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C0390B-6331-27B3-9A60-9ABE8B8F7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B60B-67E8-4EE8-83DF-9286A7186806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A7D846-0A05-F052-6CF3-0B67554E3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C3A0466-926D-33FB-175D-DC199229C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5804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1F6E0D-739E-394A-948D-AF9CD630D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216D657-B015-65F8-7CE9-67A4C36A7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A809402-BCAA-5CAA-02BA-531B0F35A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DE66F46-387D-B4E3-DE81-E1AF0328BC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9E6DAA4-6EC2-1FF3-D8AD-B7A8C0CC69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A92C031-CBFB-4D48-0615-A4ACF2DA0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B60B-67E8-4EE8-83DF-9286A7186806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2A57B44-16EF-E4B4-D3F1-0D53F96D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0BC1A4A-0567-4534-1864-00A668D8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786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2945C0-842F-D157-A882-9CBECAD65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5209662-2202-259E-9641-B0AB8E5F2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B60B-67E8-4EE8-83DF-9286A7186806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B090C6-1B7D-2B61-BE2F-FF94E7C06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7FA287C-C3E9-F0A5-396A-2B1691245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68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A314674-F10B-173E-9029-69AD76F22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B60B-67E8-4EE8-83DF-9286A7186806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F297CBB-53CF-FC2A-FBB5-A2BF0C308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4F615E-8325-E0BE-5672-4BFC53C9F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3810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357BB4-09A9-49B4-DB23-71A0CBC27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E138A5-DE18-5C00-5F3E-D9C30F984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9E8120A-9A3F-EF50-420D-017E30A45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A5ADAD-8E26-1892-5DDB-9BFF7B822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B60B-67E8-4EE8-83DF-9286A7186806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60212D0-48D8-4226-67CF-9E7A6EB70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2529A4F-8051-05BC-0067-B4700C7C2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2347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7B89E-2F05-2FE2-49A3-AEA01ACA7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7E70836-63F4-7CCA-A09B-E2F2EE8AE7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D9AAB3A-C71C-6CA7-4041-05EA8AD49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05DF36-A31C-2298-D961-1DD82EB65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B60B-67E8-4EE8-83DF-9286A7186806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3EB067-2C70-87EB-0FA7-54D58F6B3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FEE6B79-2000-0B4A-3529-3B102536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988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3E2CC0-07D2-0687-5B09-A80ACC3A7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1704E98-CC4E-3069-5F1C-4DE22B247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528BA4-5B4B-300A-7C07-6B65FD1DE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B60B-67E8-4EE8-83DF-9286A7186806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C13FBF-55B4-5D4D-CA34-2E1569AC9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C0872F-1D03-5F51-6FB6-49F9C6BF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3533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F92E35B-BB24-BD2B-EEC9-37695783A7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23B11B1-D768-5486-4FA6-58CC17390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FF593F-6BB7-4C70-8838-4E8958FA0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B60B-67E8-4EE8-83DF-9286A7186806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64ED8D-E549-E487-A1D6-18DEF52C7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7304F3-9DE2-1790-2D1C-3C1AC96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8917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272C1B7-FFDA-5C70-04E4-A45FE9B29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4E0C21-ED94-F4E4-C719-BA13D4F87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D6431F-EB60-C99F-04DA-C427F7B550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3BB60B-67E8-4EE8-83DF-9286A7186806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683A6E-78FA-E88A-1A04-FDCAFC6256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071261-B49C-2F5C-E48A-CC6885A04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875730-EFAE-4A38-998E-FCE8F0EA59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6880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BC809661-EF0B-9597-80DA-5C1222A9C53D}"/>
              </a:ext>
            </a:extLst>
          </p:cNvPr>
          <p:cNvSpPr/>
          <p:nvPr/>
        </p:nvSpPr>
        <p:spPr>
          <a:xfrm>
            <a:off x="642616" y="21039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Élaboration d’un Portfolio –Candidature Aéroworld</a:t>
            </a:r>
            <a:endParaRPr lang="fr-FR" sz="1733" noProof="0" dirty="0">
              <a:solidFill>
                <a:srgbClr val="CADCFC"/>
              </a:solidFill>
              <a:latin typeface="Calibri" panose="020F0502020204030204"/>
            </a:endParaRP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BFD315A7-A632-5041-3225-A8B35B9A2997}"/>
              </a:ext>
            </a:extLst>
          </p:cNvPr>
          <p:cNvSpPr txBox="1">
            <a:spLocks/>
          </p:cNvSpPr>
          <p:nvPr/>
        </p:nvSpPr>
        <p:spPr>
          <a:xfrm>
            <a:off x="579008" y="371687"/>
            <a:ext cx="11029627" cy="15805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4400" b="1" dirty="0">
                <a:solidFill>
                  <a:schemeClr val="bg1"/>
                </a:solidFill>
              </a:rPr>
              <a:t>Cahier des charges</a:t>
            </a:r>
            <a:endParaRPr lang="fr-FR" sz="4400" b="1" noProof="0" dirty="0">
              <a:solidFill>
                <a:schemeClr val="bg1"/>
              </a:solidFill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EC3BDB4B-3968-8C57-BBEC-7429385B6987}"/>
              </a:ext>
            </a:extLst>
          </p:cNvPr>
          <p:cNvSpPr/>
          <p:nvPr/>
        </p:nvSpPr>
        <p:spPr>
          <a:xfrm>
            <a:off x="642616" y="4480038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fr-FR" sz="1733" noProof="0" dirty="0">
                <a:solidFill>
                  <a:schemeClr val="bg1"/>
                </a:solidFill>
                <a:latin typeface="Calibri" panose="020F0502020204030204"/>
              </a:rPr>
              <a:t>LOW-KAM Alexandre . Data Analyst . Data ESN</a:t>
            </a:r>
          </a:p>
        </p:txBody>
      </p:sp>
    </p:spTree>
    <p:extLst>
      <p:ext uri="{BB962C8B-B14F-4D97-AF65-F5344CB8AC3E}">
        <p14:creationId xmlns:p14="http://schemas.microsoft.com/office/powerpoint/2010/main" val="810162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F7EB44-B398-F671-B54E-637D5D8FE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17AD745F-8902-163F-674E-5C04112A0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54D0452-40B8-4389-B8CB-92AD4C722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7DC3E14-2C16-A91E-F0C4-ABAE04B83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B57BD2D-DFCA-9064-C653-2B3B67924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E3EBD00-5BC3-28DF-9910-7E5B964C0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035D466-CED5-B2C8-4F76-383B2E15F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10149261" cy="9679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3600" b="1" noProof="0" dirty="0">
                <a:solidFill>
                  <a:schemeClr val="bg1"/>
                </a:solidFill>
              </a:rPr>
              <a:t>Sommaire</a:t>
            </a:r>
            <a:endParaRPr lang="fr-FR" sz="3600" noProof="0" dirty="0">
              <a:solidFill>
                <a:schemeClr val="bg1"/>
              </a:solidFill>
            </a:endParaRP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6442ED26-F260-6D89-8AD4-57E6820EA2C8}"/>
              </a:ext>
            </a:extLst>
          </p:cNvPr>
          <p:cNvGrpSpPr/>
          <p:nvPr/>
        </p:nvGrpSpPr>
        <p:grpSpPr>
          <a:xfrm>
            <a:off x="699714" y="2224053"/>
            <a:ext cx="4206240" cy="470408"/>
            <a:chOff x="320040" y="1024128"/>
            <a:chExt cx="4206240" cy="1719072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6EFFE424-723F-31C9-D330-2671B7B74740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3CFF6643-0021-9F67-7886-3E19742EF868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3646B85B-3A0D-2FA7-3333-B335DA7CEDEA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A5F41C2D-91D8-262D-17D5-B134CC1E57A9}"/>
                </a:ext>
              </a:extLst>
            </p:cNvPr>
            <p:cNvSpPr/>
            <p:nvPr/>
          </p:nvSpPr>
          <p:spPr>
            <a:xfrm>
              <a:off x="484632" y="1435609"/>
              <a:ext cx="3913632" cy="979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1. </a:t>
              </a: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Présentation du projet</a:t>
              </a:r>
              <a:endParaRPr lang="fr-FR" sz="1300" noProof="0" dirty="0"/>
            </a:p>
          </p:txBody>
        </p:sp>
      </p:grp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9EF99B2B-420D-10C8-3AD1-6BF621A44927}"/>
              </a:ext>
            </a:extLst>
          </p:cNvPr>
          <p:cNvGrpSpPr/>
          <p:nvPr/>
        </p:nvGrpSpPr>
        <p:grpSpPr>
          <a:xfrm>
            <a:off x="699714" y="3145437"/>
            <a:ext cx="4206240" cy="470408"/>
            <a:chOff x="320040" y="1024128"/>
            <a:chExt cx="4206240" cy="1719072"/>
          </a:xfrm>
        </p:grpSpPr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225F3558-4F46-454A-CE1C-9BE6A304488D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51FE914F-ED81-5F08-EF3E-B33E552843F4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396CCA90-51F2-7EF6-2ABD-9862CA6F8F03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43" name="Text 6">
              <a:extLst>
                <a:ext uri="{FF2B5EF4-FFF2-40B4-BE49-F238E27FC236}">
                  <a16:creationId xmlns:a16="http://schemas.microsoft.com/office/drawing/2014/main" id="{FE9F9704-E10B-526E-0911-3BD626C36874}"/>
                </a:ext>
              </a:extLst>
            </p:cNvPr>
            <p:cNvSpPr/>
            <p:nvPr/>
          </p:nvSpPr>
          <p:spPr>
            <a:xfrm>
              <a:off x="484632" y="1435609"/>
              <a:ext cx="3913632" cy="979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2</a:t>
              </a: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. </a:t>
              </a: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Enjeux et objectifs</a:t>
              </a:r>
              <a:endParaRPr lang="fr-FR" sz="1300" noProof="0" dirty="0"/>
            </a:p>
          </p:txBody>
        </p:sp>
      </p:grp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85CC16B1-0D12-9429-D33B-D55A6337A7E6}"/>
              </a:ext>
            </a:extLst>
          </p:cNvPr>
          <p:cNvGrpSpPr/>
          <p:nvPr/>
        </p:nvGrpSpPr>
        <p:grpSpPr>
          <a:xfrm>
            <a:off x="699714" y="4066821"/>
            <a:ext cx="4206240" cy="470408"/>
            <a:chOff x="320040" y="1024128"/>
            <a:chExt cx="4206240" cy="1719072"/>
          </a:xfrm>
        </p:grpSpPr>
        <p:sp>
          <p:nvSpPr>
            <p:cNvPr id="46" name="Shape 2">
              <a:extLst>
                <a:ext uri="{FF2B5EF4-FFF2-40B4-BE49-F238E27FC236}">
                  <a16:creationId xmlns:a16="http://schemas.microsoft.com/office/drawing/2014/main" id="{ADAF5F03-ED91-803D-C976-86E931FBE7CD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48" name="Shape 3">
              <a:extLst>
                <a:ext uri="{FF2B5EF4-FFF2-40B4-BE49-F238E27FC236}">
                  <a16:creationId xmlns:a16="http://schemas.microsoft.com/office/drawing/2014/main" id="{740DEE79-DEB6-3D94-5139-F692911F2D1D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50" name="Text 5">
              <a:extLst>
                <a:ext uri="{FF2B5EF4-FFF2-40B4-BE49-F238E27FC236}">
                  <a16:creationId xmlns:a16="http://schemas.microsoft.com/office/drawing/2014/main" id="{EEEF3714-3FD9-72DC-A878-28332EA1D4B0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52" name="Text 6">
              <a:extLst>
                <a:ext uri="{FF2B5EF4-FFF2-40B4-BE49-F238E27FC236}">
                  <a16:creationId xmlns:a16="http://schemas.microsoft.com/office/drawing/2014/main" id="{4EE76891-010D-0CB7-F2FA-5640A46BA452}"/>
                </a:ext>
              </a:extLst>
            </p:cNvPr>
            <p:cNvSpPr/>
            <p:nvPr/>
          </p:nvSpPr>
          <p:spPr>
            <a:xfrm>
              <a:off x="484632" y="1435609"/>
              <a:ext cx="3913632" cy="979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3</a:t>
              </a: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. </a:t>
              </a:r>
              <a:r>
                <a:rPr lang="en-US" sz="1300" b="1" dirty="0">
                  <a:solidFill>
                    <a:srgbClr val="1E2761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É</a:t>
              </a: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quipe projet</a:t>
              </a:r>
              <a:endParaRPr lang="fr-FR" sz="1300" noProof="0" dirty="0">
                <a:solidFill>
                  <a:srgbClr val="1E2761"/>
                </a:solidFill>
              </a:endParaRPr>
            </a:p>
          </p:txBody>
        </p:sp>
      </p:grp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E0D92A19-46B7-7219-A89C-98FCDA65F0D3}"/>
              </a:ext>
            </a:extLst>
          </p:cNvPr>
          <p:cNvGrpSpPr/>
          <p:nvPr/>
        </p:nvGrpSpPr>
        <p:grpSpPr>
          <a:xfrm>
            <a:off x="699714" y="4988205"/>
            <a:ext cx="4206240" cy="470408"/>
            <a:chOff x="320040" y="1024128"/>
            <a:chExt cx="4206240" cy="1719072"/>
          </a:xfrm>
        </p:grpSpPr>
        <p:sp>
          <p:nvSpPr>
            <p:cNvPr id="55" name="Shape 2">
              <a:extLst>
                <a:ext uri="{FF2B5EF4-FFF2-40B4-BE49-F238E27FC236}">
                  <a16:creationId xmlns:a16="http://schemas.microsoft.com/office/drawing/2014/main" id="{36E583C8-B13F-6A5B-DEE4-CC11C72A176B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56" name="Shape 3">
              <a:extLst>
                <a:ext uri="{FF2B5EF4-FFF2-40B4-BE49-F238E27FC236}">
                  <a16:creationId xmlns:a16="http://schemas.microsoft.com/office/drawing/2014/main" id="{7B72F022-1B8E-A4AD-3107-F243AF9E784A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57" name="Text 5">
              <a:extLst>
                <a:ext uri="{FF2B5EF4-FFF2-40B4-BE49-F238E27FC236}">
                  <a16:creationId xmlns:a16="http://schemas.microsoft.com/office/drawing/2014/main" id="{CF577A54-4263-8770-61DE-E0FBA8A0A098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58" name="Text 6">
              <a:extLst>
                <a:ext uri="{FF2B5EF4-FFF2-40B4-BE49-F238E27FC236}">
                  <a16:creationId xmlns:a16="http://schemas.microsoft.com/office/drawing/2014/main" id="{94B8D3E2-CF3A-0DAD-4CAF-4206FBBC29B9}"/>
                </a:ext>
              </a:extLst>
            </p:cNvPr>
            <p:cNvSpPr/>
            <p:nvPr/>
          </p:nvSpPr>
          <p:spPr>
            <a:xfrm>
              <a:off x="484632" y="1435609"/>
              <a:ext cx="3913632" cy="979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4</a:t>
              </a: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. </a:t>
              </a: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Spécifications ergonomiques</a:t>
              </a:r>
              <a:endParaRPr lang="fr-FR" sz="1300" noProof="0" dirty="0"/>
            </a:p>
          </p:txBody>
        </p:sp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2C472FD6-634F-7F75-4AA5-12B906A2837E}"/>
              </a:ext>
            </a:extLst>
          </p:cNvPr>
          <p:cNvGrpSpPr/>
          <p:nvPr/>
        </p:nvGrpSpPr>
        <p:grpSpPr>
          <a:xfrm>
            <a:off x="6960306" y="2224053"/>
            <a:ext cx="4206240" cy="470408"/>
            <a:chOff x="320040" y="1024128"/>
            <a:chExt cx="4206240" cy="1719072"/>
          </a:xfrm>
        </p:grpSpPr>
        <p:sp>
          <p:nvSpPr>
            <p:cNvPr id="60" name="Shape 2">
              <a:extLst>
                <a:ext uri="{FF2B5EF4-FFF2-40B4-BE49-F238E27FC236}">
                  <a16:creationId xmlns:a16="http://schemas.microsoft.com/office/drawing/2014/main" id="{A05F9729-BB56-9695-C110-D1FE9E017824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61" name="Shape 3">
              <a:extLst>
                <a:ext uri="{FF2B5EF4-FFF2-40B4-BE49-F238E27FC236}">
                  <a16:creationId xmlns:a16="http://schemas.microsoft.com/office/drawing/2014/main" id="{288DE10E-C305-12C6-B3CF-F83D1DE22842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62" name="Text 5">
              <a:extLst>
                <a:ext uri="{FF2B5EF4-FFF2-40B4-BE49-F238E27FC236}">
                  <a16:creationId xmlns:a16="http://schemas.microsoft.com/office/drawing/2014/main" id="{2166FDC1-A705-2508-849D-D5D4113AA3AB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63" name="Text 6">
              <a:extLst>
                <a:ext uri="{FF2B5EF4-FFF2-40B4-BE49-F238E27FC236}">
                  <a16:creationId xmlns:a16="http://schemas.microsoft.com/office/drawing/2014/main" id="{3E5AC138-224F-6410-D65A-093F58A699A4}"/>
                </a:ext>
              </a:extLst>
            </p:cNvPr>
            <p:cNvSpPr/>
            <p:nvPr/>
          </p:nvSpPr>
          <p:spPr>
            <a:xfrm>
              <a:off x="484632" y="1435609"/>
              <a:ext cx="3913632" cy="979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6</a:t>
              </a: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. Spécifications techniques</a:t>
              </a:r>
              <a:endParaRPr lang="fr-FR" sz="1300" noProof="0" dirty="0"/>
            </a:p>
          </p:txBody>
        </p:sp>
      </p:grp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98109926-D485-B113-3D11-532E4970F164}"/>
              </a:ext>
            </a:extLst>
          </p:cNvPr>
          <p:cNvGrpSpPr/>
          <p:nvPr/>
        </p:nvGrpSpPr>
        <p:grpSpPr>
          <a:xfrm>
            <a:off x="6960306" y="3145437"/>
            <a:ext cx="4206240" cy="470408"/>
            <a:chOff x="320040" y="1024128"/>
            <a:chExt cx="4206240" cy="1719072"/>
          </a:xfrm>
        </p:grpSpPr>
        <p:sp>
          <p:nvSpPr>
            <p:cNvPr id="65" name="Shape 2">
              <a:extLst>
                <a:ext uri="{FF2B5EF4-FFF2-40B4-BE49-F238E27FC236}">
                  <a16:creationId xmlns:a16="http://schemas.microsoft.com/office/drawing/2014/main" id="{4CDE8F37-1F62-6020-8A44-AEF0B0BFF047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66" name="Shape 3">
              <a:extLst>
                <a:ext uri="{FF2B5EF4-FFF2-40B4-BE49-F238E27FC236}">
                  <a16:creationId xmlns:a16="http://schemas.microsoft.com/office/drawing/2014/main" id="{EA8A2703-F737-DE6A-E791-AD95DE531282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67" name="Text 5">
              <a:extLst>
                <a:ext uri="{FF2B5EF4-FFF2-40B4-BE49-F238E27FC236}">
                  <a16:creationId xmlns:a16="http://schemas.microsoft.com/office/drawing/2014/main" id="{AF8CC0C2-0AB4-F470-2D52-883C3BB9804E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68" name="Text 6">
              <a:extLst>
                <a:ext uri="{FF2B5EF4-FFF2-40B4-BE49-F238E27FC236}">
                  <a16:creationId xmlns:a16="http://schemas.microsoft.com/office/drawing/2014/main" id="{4C14D081-ADE0-09B9-EECD-D6EDBC532D26}"/>
                </a:ext>
              </a:extLst>
            </p:cNvPr>
            <p:cNvSpPr/>
            <p:nvPr/>
          </p:nvSpPr>
          <p:spPr>
            <a:xfrm>
              <a:off x="484632" y="1435609"/>
              <a:ext cx="3913632" cy="979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7</a:t>
              </a: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. </a:t>
              </a: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Contraintes techniques et réglementaires</a:t>
              </a:r>
              <a:endParaRPr lang="fr-FR" sz="1300" noProof="0" dirty="0"/>
            </a:p>
          </p:txBody>
        </p:sp>
      </p:grp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996365C2-C6A3-1316-BAE6-08003991AEFA}"/>
              </a:ext>
            </a:extLst>
          </p:cNvPr>
          <p:cNvGrpSpPr/>
          <p:nvPr/>
        </p:nvGrpSpPr>
        <p:grpSpPr>
          <a:xfrm>
            <a:off x="6960306" y="4066821"/>
            <a:ext cx="4206240" cy="470408"/>
            <a:chOff x="320040" y="1024128"/>
            <a:chExt cx="4206240" cy="1719072"/>
          </a:xfrm>
        </p:grpSpPr>
        <p:sp>
          <p:nvSpPr>
            <p:cNvPr id="70" name="Shape 2">
              <a:extLst>
                <a:ext uri="{FF2B5EF4-FFF2-40B4-BE49-F238E27FC236}">
                  <a16:creationId xmlns:a16="http://schemas.microsoft.com/office/drawing/2014/main" id="{54F7E13A-FD87-F849-27C6-05B44414A5E2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71" name="Shape 3">
              <a:extLst>
                <a:ext uri="{FF2B5EF4-FFF2-40B4-BE49-F238E27FC236}">
                  <a16:creationId xmlns:a16="http://schemas.microsoft.com/office/drawing/2014/main" id="{CEFBE918-B621-CA23-75BE-6D2E8C7E2A1E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72" name="Text 5">
              <a:extLst>
                <a:ext uri="{FF2B5EF4-FFF2-40B4-BE49-F238E27FC236}">
                  <a16:creationId xmlns:a16="http://schemas.microsoft.com/office/drawing/2014/main" id="{3BE4C3EB-1164-5854-09C7-6EF86B5E83AA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73" name="Text 6">
              <a:extLst>
                <a:ext uri="{FF2B5EF4-FFF2-40B4-BE49-F238E27FC236}">
                  <a16:creationId xmlns:a16="http://schemas.microsoft.com/office/drawing/2014/main" id="{34214CDC-4158-5598-18D0-72A484A097FD}"/>
                </a:ext>
              </a:extLst>
            </p:cNvPr>
            <p:cNvSpPr/>
            <p:nvPr/>
          </p:nvSpPr>
          <p:spPr>
            <a:xfrm>
              <a:off x="484632" y="1435609"/>
              <a:ext cx="3913632" cy="979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8</a:t>
              </a: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. </a:t>
              </a: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Qualité et performance</a:t>
              </a:r>
              <a:endParaRPr lang="fr-FR" sz="1300" noProof="0" dirty="0"/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837F0D15-A484-B4DE-E8AB-14B0FD03F2EA}"/>
              </a:ext>
            </a:extLst>
          </p:cNvPr>
          <p:cNvGrpSpPr/>
          <p:nvPr/>
        </p:nvGrpSpPr>
        <p:grpSpPr>
          <a:xfrm>
            <a:off x="6960306" y="4988205"/>
            <a:ext cx="4206240" cy="470408"/>
            <a:chOff x="320040" y="1024128"/>
            <a:chExt cx="4206240" cy="1719072"/>
          </a:xfrm>
        </p:grpSpPr>
        <p:sp>
          <p:nvSpPr>
            <p:cNvPr id="75" name="Shape 2">
              <a:extLst>
                <a:ext uri="{FF2B5EF4-FFF2-40B4-BE49-F238E27FC236}">
                  <a16:creationId xmlns:a16="http://schemas.microsoft.com/office/drawing/2014/main" id="{F05A973A-923B-9620-9983-04440A5D8243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76" name="Shape 3">
              <a:extLst>
                <a:ext uri="{FF2B5EF4-FFF2-40B4-BE49-F238E27FC236}">
                  <a16:creationId xmlns:a16="http://schemas.microsoft.com/office/drawing/2014/main" id="{D73B5332-B6DF-90E3-C979-34582A378225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77" name="Text 5">
              <a:extLst>
                <a:ext uri="{FF2B5EF4-FFF2-40B4-BE49-F238E27FC236}">
                  <a16:creationId xmlns:a16="http://schemas.microsoft.com/office/drawing/2014/main" id="{619F85B6-CCB3-11D5-B170-89F80E248B81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78" name="Text 6">
              <a:extLst>
                <a:ext uri="{FF2B5EF4-FFF2-40B4-BE49-F238E27FC236}">
                  <a16:creationId xmlns:a16="http://schemas.microsoft.com/office/drawing/2014/main" id="{E7F18E2B-824C-18B2-0912-A20DFE41A3D6}"/>
                </a:ext>
              </a:extLst>
            </p:cNvPr>
            <p:cNvSpPr/>
            <p:nvPr/>
          </p:nvSpPr>
          <p:spPr>
            <a:xfrm>
              <a:off x="484632" y="1435609"/>
              <a:ext cx="3913632" cy="979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9</a:t>
              </a: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. </a:t>
              </a: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Rétroplanning</a:t>
              </a:r>
              <a:endParaRPr lang="fr-FR" sz="1300" noProof="0" dirty="0"/>
            </a:p>
          </p:txBody>
        </p:sp>
      </p:grpSp>
      <p:grpSp>
        <p:nvGrpSpPr>
          <p:cNvPr id="79" name="Groupe 78">
            <a:extLst>
              <a:ext uri="{FF2B5EF4-FFF2-40B4-BE49-F238E27FC236}">
                <a16:creationId xmlns:a16="http://schemas.microsoft.com/office/drawing/2014/main" id="{6FCD5169-D9DD-2E65-F031-DD7F2C605589}"/>
              </a:ext>
            </a:extLst>
          </p:cNvPr>
          <p:cNvGrpSpPr/>
          <p:nvPr/>
        </p:nvGrpSpPr>
        <p:grpSpPr>
          <a:xfrm>
            <a:off x="699714" y="5909589"/>
            <a:ext cx="4206240" cy="470408"/>
            <a:chOff x="320040" y="1024128"/>
            <a:chExt cx="4206240" cy="1719072"/>
          </a:xfrm>
        </p:grpSpPr>
        <p:sp>
          <p:nvSpPr>
            <p:cNvPr id="80" name="Shape 2">
              <a:extLst>
                <a:ext uri="{FF2B5EF4-FFF2-40B4-BE49-F238E27FC236}">
                  <a16:creationId xmlns:a16="http://schemas.microsoft.com/office/drawing/2014/main" id="{477B50EC-208D-80D6-D68C-298DD894F936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81" name="Shape 3">
              <a:extLst>
                <a:ext uri="{FF2B5EF4-FFF2-40B4-BE49-F238E27FC236}">
                  <a16:creationId xmlns:a16="http://schemas.microsoft.com/office/drawing/2014/main" id="{6FC7B4C4-BF05-AD38-BC95-CC5621B48DA1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82" name="Text 5">
              <a:extLst>
                <a:ext uri="{FF2B5EF4-FFF2-40B4-BE49-F238E27FC236}">
                  <a16:creationId xmlns:a16="http://schemas.microsoft.com/office/drawing/2014/main" id="{182B43CA-0967-E896-0582-4075A364975E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83" name="Text 6">
              <a:extLst>
                <a:ext uri="{FF2B5EF4-FFF2-40B4-BE49-F238E27FC236}">
                  <a16:creationId xmlns:a16="http://schemas.microsoft.com/office/drawing/2014/main" id="{23402F4F-A35C-F402-D24F-B3CF47594857}"/>
                </a:ext>
              </a:extLst>
            </p:cNvPr>
            <p:cNvSpPr/>
            <p:nvPr/>
          </p:nvSpPr>
          <p:spPr>
            <a:xfrm>
              <a:off x="484632" y="1435609"/>
              <a:ext cx="3913632" cy="979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5</a:t>
              </a: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. Spécifications fonctionnelles</a:t>
              </a:r>
              <a:endParaRPr lang="fr-FR" sz="1300" noProof="0" dirty="0"/>
            </a:p>
          </p:txBody>
        </p:sp>
      </p:grpSp>
      <p:grpSp>
        <p:nvGrpSpPr>
          <p:cNvPr id="84" name="Groupe 83">
            <a:extLst>
              <a:ext uri="{FF2B5EF4-FFF2-40B4-BE49-F238E27FC236}">
                <a16:creationId xmlns:a16="http://schemas.microsoft.com/office/drawing/2014/main" id="{7F3C58D1-95B5-91E9-D9C7-021D49EFF9C2}"/>
              </a:ext>
            </a:extLst>
          </p:cNvPr>
          <p:cNvGrpSpPr/>
          <p:nvPr/>
        </p:nvGrpSpPr>
        <p:grpSpPr>
          <a:xfrm>
            <a:off x="6960306" y="5909589"/>
            <a:ext cx="4206240" cy="470408"/>
            <a:chOff x="320040" y="1024128"/>
            <a:chExt cx="4206240" cy="1719072"/>
          </a:xfrm>
        </p:grpSpPr>
        <p:sp>
          <p:nvSpPr>
            <p:cNvPr id="85" name="Shape 2">
              <a:extLst>
                <a:ext uri="{FF2B5EF4-FFF2-40B4-BE49-F238E27FC236}">
                  <a16:creationId xmlns:a16="http://schemas.microsoft.com/office/drawing/2014/main" id="{0E3C8437-DE6C-0094-0F41-5D981B9D8BC0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86" name="Shape 3">
              <a:extLst>
                <a:ext uri="{FF2B5EF4-FFF2-40B4-BE49-F238E27FC236}">
                  <a16:creationId xmlns:a16="http://schemas.microsoft.com/office/drawing/2014/main" id="{0C84EF7B-8484-F3F1-F85F-964BE8E42D06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87" name="Text 5">
              <a:extLst>
                <a:ext uri="{FF2B5EF4-FFF2-40B4-BE49-F238E27FC236}">
                  <a16:creationId xmlns:a16="http://schemas.microsoft.com/office/drawing/2014/main" id="{5E231CD3-A225-6B47-C620-F7347A59F691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88" name="Text 6">
              <a:extLst>
                <a:ext uri="{FF2B5EF4-FFF2-40B4-BE49-F238E27FC236}">
                  <a16:creationId xmlns:a16="http://schemas.microsoft.com/office/drawing/2014/main" id="{6CE6714D-D4BE-BFB5-278D-71AFC6782B38}"/>
                </a:ext>
              </a:extLst>
            </p:cNvPr>
            <p:cNvSpPr/>
            <p:nvPr/>
          </p:nvSpPr>
          <p:spPr>
            <a:xfrm>
              <a:off x="484632" y="1435609"/>
              <a:ext cx="3913632" cy="979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10. </a:t>
              </a: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Devis</a:t>
              </a:r>
              <a:endParaRPr lang="fr-FR" sz="13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499234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818524-82B9-BB51-8384-16E10B6B6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0C0FB4DD-C1ED-E273-75A9-98F9BE1F7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C674D18-3A1F-EF02-0C5D-128ABAB03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E575A5C-DB94-3632-0B51-4B7AF3727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916722D-0018-EC30-FC85-AED694D23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17066A9-5FE8-1C32-F045-B7870194E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0639960-D5D6-241C-374E-241D404CB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10149261" cy="9679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3600" b="1" noProof="0" dirty="0">
                <a:solidFill>
                  <a:schemeClr val="bg1"/>
                </a:solidFill>
              </a:rPr>
              <a:t>Présentation du projet</a:t>
            </a:r>
            <a:endParaRPr lang="fr-FR" sz="3600" noProof="0" dirty="0">
              <a:solidFill>
                <a:schemeClr val="bg1"/>
              </a:solidFill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CDE37A59-8C79-CD0D-E865-8EEF06998D55}"/>
              </a:ext>
            </a:extLst>
          </p:cNvPr>
          <p:cNvGrpSpPr/>
          <p:nvPr/>
        </p:nvGrpSpPr>
        <p:grpSpPr>
          <a:xfrm>
            <a:off x="699714" y="2140991"/>
            <a:ext cx="9372600" cy="3992890"/>
            <a:chOff x="537952" y="1939823"/>
            <a:chExt cx="3219182" cy="3992890"/>
          </a:xfrm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18CB8161-B45A-10AC-4C96-D439B69EEC1E}"/>
                </a:ext>
              </a:extLst>
            </p:cNvPr>
            <p:cNvSpPr/>
            <p:nvPr/>
          </p:nvSpPr>
          <p:spPr>
            <a:xfrm>
              <a:off x="1691640" y="2267712"/>
              <a:ext cx="932688" cy="64008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37" name="Groupe 36">
              <a:extLst>
                <a:ext uri="{FF2B5EF4-FFF2-40B4-BE49-F238E27FC236}">
                  <a16:creationId xmlns:a16="http://schemas.microsoft.com/office/drawing/2014/main" id="{278E5930-DB5C-7C41-8BA7-669C095EEE2A}"/>
                </a:ext>
              </a:extLst>
            </p:cNvPr>
            <p:cNvGrpSpPr/>
            <p:nvPr/>
          </p:nvGrpSpPr>
          <p:grpSpPr>
            <a:xfrm>
              <a:off x="537952" y="1939823"/>
              <a:ext cx="3219182" cy="3992890"/>
              <a:chOff x="1099185" y="2350770"/>
              <a:chExt cx="1965960" cy="1234440"/>
            </a:xfrm>
          </p:grpSpPr>
          <p:sp>
            <p:nvSpPr>
              <p:cNvPr id="25" name="Shape 2">
                <a:extLst>
                  <a:ext uri="{FF2B5EF4-FFF2-40B4-BE49-F238E27FC236}">
                    <a16:creationId xmlns:a16="http://schemas.microsoft.com/office/drawing/2014/main" id="{2F7A4D58-F8FC-E799-12A4-475FE2D92D27}"/>
                  </a:ext>
                </a:extLst>
              </p:cNvPr>
              <p:cNvSpPr/>
              <p:nvPr/>
            </p:nvSpPr>
            <p:spPr>
              <a:xfrm>
                <a:off x="1099185" y="2350770"/>
                <a:ext cx="1965960" cy="123444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10000"/>
                    <a:lumOff val="90000"/>
                  </a:schemeClr>
                </a:solidFill>
              </a:ln>
              <a:effectLst>
                <a:outerShdw blurRad="101600" dist="38100" dir="8100000" algn="bl" rotWithShape="0">
                  <a:srgbClr val="000000">
                    <a:alpha val="13000"/>
                  </a:srgbClr>
                </a:outerShdw>
              </a:effectLst>
            </p:spPr>
            <p:txBody>
              <a:bodyPr/>
              <a:lstStyle/>
              <a:p>
                <a:endParaRPr lang="fr-FR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6" name="Text 3">
                <a:extLst>
                  <a:ext uri="{FF2B5EF4-FFF2-40B4-BE49-F238E27FC236}">
                    <a16:creationId xmlns:a16="http://schemas.microsoft.com/office/drawing/2014/main" id="{87A18E8E-141B-4A4C-9A37-D0F7C6012202}"/>
                  </a:ext>
                </a:extLst>
              </p:cNvPr>
              <p:cNvSpPr/>
              <p:nvPr/>
            </p:nvSpPr>
            <p:spPr>
              <a:xfrm>
                <a:off x="1099185" y="2414778"/>
                <a:ext cx="1965960" cy="27186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defTabSz="1152144">
                  <a:spcAft>
                    <a:spcPts val="600"/>
                  </a:spcAft>
                </a:pPr>
                <a:endParaRPr lang="fr-FR" sz="2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" name="Text 4">
                <a:extLst>
                  <a:ext uri="{FF2B5EF4-FFF2-40B4-BE49-F238E27FC236}">
                    <a16:creationId xmlns:a16="http://schemas.microsoft.com/office/drawing/2014/main" id="{29BA8E52-193E-CB2A-7152-FBB4F6C2E0B6}"/>
                  </a:ext>
                </a:extLst>
              </p:cNvPr>
              <p:cNvSpPr/>
              <p:nvPr/>
            </p:nvSpPr>
            <p:spPr>
              <a:xfrm>
                <a:off x="1099185" y="2452140"/>
                <a:ext cx="1965960" cy="103248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just">
                  <a:lnSpc>
                    <a:spcPct val="90000"/>
                  </a:lnSpc>
                </a:pPr>
                <a:r>
                  <a:rPr lang="fr-FR" sz="1600" spc="-1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Je souhaite me positionner en tant que candidat consultant expert data pour le compte de </a:t>
                </a:r>
              </a:p>
              <a:p>
                <a:pPr algn="just">
                  <a:lnSpc>
                    <a:spcPct val="90000"/>
                  </a:lnSpc>
                </a:pPr>
                <a:r>
                  <a:rPr lang="fr-FR" sz="1600" spc="-1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l’entreprise Data ESN. L’objectif est ici de répondre à un besoin de recrutement sur un profil de chef </a:t>
                </a:r>
              </a:p>
              <a:p>
                <a:pPr algn="just">
                  <a:lnSpc>
                    <a:spcPct val="90000"/>
                  </a:lnSpc>
                </a:pPr>
                <a:r>
                  <a:rPr lang="fr-FR" sz="1600" spc="-1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de projet data pour le compte de l’entreprise Aéroworld, leader mondial de l’aéronautique.</a:t>
                </a:r>
                <a:endParaRPr lang="fr-FR" sz="1600" spc="-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90000"/>
                  </a:lnSpc>
                </a:pPr>
                <a:endParaRPr lang="fr-FR" sz="1600" spc="-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90000"/>
                  </a:lnSpc>
                </a:pPr>
                <a:endParaRPr lang="fr-FR" sz="1600" spc="-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90000"/>
                  </a:lnSpc>
                </a:pPr>
                <a:r>
                  <a:rPr lang="fr-FR" sz="1600" spc="-1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Dans ce but, j’ai souhaité produire un portfolio permettant de présenter mon profil, mais </a:t>
                </a:r>
              </a:p>
              <a:p>
                <a:pPr algn="just">
                  <a:lnSpc>
                    <a:spcPct val="90000"/>
                  </a:lnSpc>
                </a:pPr>
                <a:r>
                  <a:rPr lang="fr-FR" sz="1600" spc="-1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aussi de faire la démonstration de mes compétences en gestion de projet ainsi qu’en analyse de données.</a:t>
                </a:r>
                <a:endParaRPr lang="fr-FR" sz="1600" spc="-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 defTabSz="1152144">
                  <a:spcAft>
                    <a:spcPts val="600"/>
                  </a:spcAft>
                </a:pPr>
                <a:endParaRPr lang="fr-FR" sz="2400" dirty="0">
                  <a:solidFill>
                    <a:srgbClr val="28A7F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40765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E1DBB-43D8-ABD2-58B7-A199CB444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CBE9BDA9-9CD3-9BE5-BFB9-607C17003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A2CCC76-E254-E619-6C67-DC2075EBB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046BCCF-CA72-FB60-B555-966219FAB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C90121A-61BF-29D7-3C9C-1E4E96FD6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CAA7932-D20A-1AF8-08AC-91219E7B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65F2802-D3FA-AE8F-4C88-60BA0885C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10149261" cy="9679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3600" b="1" noProof="0" dirty="0">
                <a:solidFill>
                  <a:schemeClr val="bg1"/>
                </a:solidFill>
              </a:rPr>
              <a:t>Présentation du projet</a:t>
            </a:r>
            <a:endParaRPr lang="fr-FR" sz="3600" noProof="0" dirty="0">
              <a:solidFill>
                <a:schemeClr val="bg1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01DDDE8-C803-54E6-9F9F-0BC3BECD06D6}"/>
              </a:ext>
            </a:extLst>
          </p:cNvPr>
          <p:cNvSpPr txBox="1"/>
          <p:nvPr/>
        </p:nvSpPr>
        <p:spPr>
          <a:xfrm>
            <a:off x="699713" y="1880483"/>
            <a:ext cx="7657903" cy="369332"/>
          </a:xfrm>
          <a:prstGeom prst="rect">
            <a:avLst/>
          </a:prstGeom>
          <a:solidFill>
            <a:srgbClr val="BFE3F3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Capacité à candidater à un poste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397CFAA-F9C9-57E4-C0AF-58EEE81E08F0}"/>
              </a:ext>
            </a:extLst>
          </p:cNvPr>
          <p:cNvSpPr txBox="1"/>
          <p:nvPr/>
        </p:nvSpPr>
        <p:spPr>
          <a:xfrm>
            <a:off x="699713" y="2389369"/>
            <a:ext cx="7657903" cy="369332"/>
          </a:xfrm>
          <a:prstGeom prst="rect">
            <a:avLst/>
          </a:prstGeom>
          <a:solidFill>
            <a:srgbClr val="BFE3F3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Analyser un besoin métier complexe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E8AD6FF-6102-0F3B-C9FC-82DF431557F4}"/>
              </a:ext>
            </a:extLst>
          </p:cNvPr>
          <p:cNvSpPr txBox="1"/>
          <p:nvPr/>
        </p:nvSpPr>
        <p:spPr>
          <a:xfrm>
            <a:off x="699712" y="2909996"/>
            <a:ext cx="7657904" cy="369332"/>
          </a:xfrm>
          <a:prstGeom prst="rect">
            <a:avLst/>
          </a:prstGeom>
          <a:solidFill>
            <a:srgbClr val="BFE3F3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Compréhension des étapes de gestion d’un projet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1D03FFF-EF5B-BEED-DD0F-9ADB4630E21D}"/>
              </a:ext>
            </a:extLst>
          </p:cNvPr>
          <p:cNvSpPr txBox="1"/>
          <p:nvPr/>
        </p:nvSpPr>
        <p:spPr>
          <a:xfrm>
            <a:off x="699711" y="3429000"/>
            <a:ext cx="7657905" cy="369332"/>
          </a:xfrm>
          <a:prstGeom prst="rect">
            <a:avLst/>
          </a:prstGeom>
          <a:solidFill>
            <a:srgbClr val="BFE3F3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Montrer mes compétences en analyse de données et présentation d’insights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2DFC10F-130F-5664-9BDD-0B726EE2BC1E}"/>
              </a:ext>
            </a:extLst>
          </p:cNvPr>
          <p:cNvSpPr txBox="1"/>
          <p:nvPr/>
        </p:nvSpPr>
        <p:spPr>
          <a:xfrm>
            <a:off x="699710" y="3978744"/>
            <a:ext cx="593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4E95D9"/>
                </a:solidFill>
              </a:rPr>
              <a:t>Objectifs SMART du portfolio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35E75D7A-8EBD-24E1-F1FA-6803522C36DC}"/>
              </a:ext>
            </a:extLst>
          </p:cNvPr>
          <p:cNvGrpSpPr/>
          <p:nvPr/>
        </p:nvGrpSpPr>
        <p:grpSpPr>
          <a:xfrm>
            <a:off x="6435350" y="4805409"/>
            <a:ext cx="5545311" cy="501385"/>
            <a:chOff x="320040" y="1024128"/>
            <a:chExt cx="4206240" cy="1719072"/>
          </a:xfrm>
        </p:grpSpPr>
        <p:sp>
          <p:nvSpPr>
            <p:cNvPr id="11" name="Shape 2">
              <a:extLst>
                <a:ext uri="{FF2B5EF4-FFF2-40B4-BE49-F238E27FC236}">
                  <a16:creationId xmlns:a16="http://schemas.microsoft.com/office/drawing/2014/main" id="{F1799743-7818-7BD4-194F-E6DF0F059D51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2" name="Shape 3">
              <a:extLst>
                <a:ext uri="{FF2B5EF4-FFF2-40B4-BE49-F238E27FC236}">
                  <a16:creationId xmlns:a16="http://schemas.microsoft.com/office/drawing/2014/main" id="{B643F08C-5999-051F-2E63-A61C4B31D5C4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C34BD874-4E67-6167-53C2-215E808C88D3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DC7E4B8C-6153-9739-D4BD-615F09C7705D}"/>
                </a:ext>
              </a:extLst>
            </p:cNvPr>
            <p:cNvSpPr/>
            <p:nvPr/>
          </p:nvSpPr>
          <p:spPr>
            <a:xfrm>
              <a:off x="484632" y="1435608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R</a:t>
              </a: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- Réaliste</a:t>
              </a:r>
              <a:endParaRPr lang="fr-FR" sz="1300" noProof="0" dirty="0"/>
            </a:p>
          </p:txBody>
        </p:sp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CC200CAA-D9AB-081D-3555-3B67670E150A}"/>
                </a:ext>
              </a:extLst>
            </p:cNvPr>
            <p:cNvSpPr/>
            <p:nvPr/>
          </p:nvSpPr>
          <p:spPr>
            <a:xfrm>
              <a:off x="484632" y="1865376"/>
              <a:ext cx="3913632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Utiliser des outils connus et maîtrisés</a:t>
              </a:r>
              <a:endParaRPr lang="fr-FR" sz="1100" noProof="0" dirty="0"/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BC2B5F39-1E26-5D58-BDC7-4E660119E6B5}"/>
              </a:ext>
            </a:extLst>
          </p:cNvPr>
          <p:cNvGrpSpPr/>
          <p:nvPr/>
        </p:nvGrpSpPr>
        <p:grpSpPr>
          <a:xfrm>
            <a:off x="678699" y="5400191"/>
            <a:ext cx="5545312" cy="501385"/>
            <a:chOff x="320040" y="1024128"/>
            <a:chExt cx="4206240" cy="1719072"/>
          </a:xfrm>
        </p:grpSpPr>
        <p:sp>
          <p:nvSpPr>
            <p:cNvPr id="17" name="Shape 2">
              <a:extLst>
                <a:ext uri="{FF2B5EF4-FFF2-40B4-BE49-F238E27FC236}">
                  <a16:creationId xmlns:a16="http://schemas.microsoft.com/office/drawing/2014/main" id="{E1521AB2-B887-853C-592F-40A79CAB310D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8" name="Shape 3">
              <a:extLst>
                <a:ext uri="{FF2B5EF4-FFF2-40B4-BE49-F238E27FC236}">
                  <a16:creationId xmlns:a16="http://schemas.microsoft.com/office/drawing/2014/main" id="{D2356117-DB05-3DCB-7550-D38BC7F76539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9" name="Text 5">
              <a:extLst>
                <a:ext uri="{FF2B5EF4-FFF2-40B4-BE49-F238E27FC236}">
                  <a16:creationId xmlns:a16="http://schemas.microsoft.com/office/drawing/2014/main" id="{2301A3FB-DD00-DD32-652D-EB8860F0DFDF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20" name="Text 6">
              <a:extLst>
                <a:ext uri="{FF2B5EF4-FFF2-40B4-BE49-F238E27FC236}">
                  <a16:creationId xmlns:a16="http://schemas.microsoft.com/office/drawing/2014/main" id="{7BE4B0B0-2A78-1CF0-1D88-9BFC1998B8D9}"/>
                </a:ext>
              </a:extLst>
            </p:cNvPr>
            <p:cNvSpPr/>
            <p:nvPr/>
          </p:nvSpPr>
          <p:spPr>
            <a:xfrm>
              <a:off x="484632" y="1435608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M</a:t>
              </a: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- Mesurable</a:t>
              </a:r>
              <a:endParaRPr lang="fr-FR" sz="1300" noProof="0" dirty="0"/>
            </a:p>
          </p:txBody>
        </p:sp>
        <p:sp>
          <p:nvSpPr>
            <p:cNvPr id="21" name="Text 7">
              <a:extLst>
                <a:ext uri="{FF2B5EF4-FFF2-40B4-BE49-F238E27FC236}">
                  <a16:creationId xmlns:a16="http://schemas.microsoft.com/office/drawing/2014/main" id="{0BE46716-2FDC-774C-7E8F-878065F6F3F6}"/>
                </a:ext>
              </a:extLst>
            </p:cNvPr>
            <p:cNvSpPr/>
            <p:nvPr/>
          </p:nvSpPr>
          <p:spPr>
            <a:xfrm>
              <a:off x="484632" y="1865376"/>
              <a:ext cx="3913632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Produire la totalité des livrables attendus</a:t>
              </a:r>
              <a:endParaRPr lang="fr-FR" sz="1100" noProof="0" dirty="0"/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63AB3A34-B29E-CFB1-FEB2-1447C8034CC8}"/>
              </a:ext>
            </a:extLst>
          </p:cNvPr>
          <p:cNvGrpSpPr/>
          <p:nvPr/>
        </p:nvGrpSpPr>
        <p:grpSpPr>
          <a:xfrm>
            <a:off x="678699" y="5982730"/>
            <a:ext cx="5545312" cy="501385"/>
            <a:chOff x="320040" y="1024128"/>
            <a:chExt cx="4206240" cy="1719072"/>
          </a:xfrm>
        </p:grpSpPr>
        <p:sp>
          <p:nvSpPr>
            <p:cNvPr id="23" name="Shape 2">
              <a:extLst>
                <a:ext uri="{FF2B5EF4-FFF2-40B4-BE49-F238E27FC236}">
                  <a16:creationId xmlns:a16="http://schemas.microsoft.com/office/drawing/2014/main" id="{CBCE41EE-7915-F539-FBAE-B81AF8A7CF64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4" name="Shape 3">
              <a:extLst>
                <a:ext uri="{FF2B5EF4-FFF2-40B4-BE49-F238E27FC236}">
                  <a16:creationId xmlns:a16="http://schemas.microsoft.com/office/drawing/2014/main" id="{434AE8F4-B627-EEBD-F2E5-8196729D9B48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8" name="Text 5">
              <a:extLst>
                <a:ext uri="{FF2B5EF4-FFF2-40B4-BE49-F238E27FC236}">
                  <a16:creationId xmlns:a16="http://schemas.microsoft.com/office/drawing/2014/main" id="{8AE6A614-7812-D443-3DF2-8974D98FE089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29" name="Text 6">
              <a:extLst>
                <a:ext uri="{FF2B5EF4-FFF2-40B4-BE49-F238E27FC236}">
                  <a16:creationId xmlns:a16="http://schemas.microsoft.com/office/drawing/2014/main" id="{CD0CD641-21D8-CBDE-B3D7-D939463F1B9F}"/>
                </a:ext>
              </a:extLst>
            </p:cNvPr>
            <p:cNvSpPr/>
            <p:nvPr/>
          </p:nvSpPr>
          <p:spPr>
            <a:xfrm>
              <a:off x="484632" y="1435608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</a:t>
              </a: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- Atteignable</a:t>
              </a:r>
              <a:endParaRPr lang="fr-FR" sz="1300" noProof="0" dirty="0"/>
            </a:p>
          </p:txBody>
        </p:sp>
        <p:sp>
          <p:nvSpPr>
            <p:cNvPr id="30" name="Text 7">
              <a:extLst>
                <a:ext uri="{FF2B5EF4-FFF2-40B4-BE49-F238E27FC236}">
                  <a16:creationId xmlns:a16="http://schemas.microsoft.com/office/drawing/2014/main" id="{FCB8735A-E3C0-DF23-0408-B305C1EA2391}"/>
                </a:ext>
              </a:extLst>
            </p:cNvPr>
            <p:cNvSpPr/>
            <p:nvPr/>
          </p:nvSpPr>
          <p:spPr>
            <a:xfrm>
              <a:off x="484632" y="1865376"/>
              <a:ext cx="3913632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1100" dirty="0"/>
                <a:t>S’appuyer sur ma formation et </a:t>
              </a:r>
              <a:r>
                <a:rPr lang="fr-FR" sz="1100" noProof="0" dirty="0"/>
                <a:t>mon expérience professionnelle</a:t>
              </a:r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5EA111A1-AB24-92D6-3C7E-904AD335FEF1}"/>
              </a:ext>
            </a:extLst>
          </p:cNvPr>
          <p:cNvGrpSpPr/>
          <p:nvPr/>
        </p:nvGrpSpPr>
        <p:grpSpPr>
          <a:xfrm>
            <a:off x="678700" y="4810743"/>
            <a:ext cx="5545311" cy="501385"/>
            <a:chOff x="320040" y="1024128"/>
            <a:chExt cx="4206240" cy="1719072"/>
          </a:xfrm>
        </p:grpSpPr>
        <p:sp>
          <p:nvSpPr>
            <p:cNvPr id="32" name="Shape 2">
              <a:extLst>
                <a:ext uri="{FF2B5EF4-FFF2-40B4-BE49-F238E27FC236}">
                  <a16:creationId xmlns:a16="http://schemas.microsoft.com/office/drawing/2014/main" id="{A6E9FA43-204F-3752-7371-FF57C7DA1342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41DADD02-9F1C-6178-4BCF-DD808975E4EE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34" name="Text 5">
              <a:extLst>
                <a:ext uri="{FF2B5EF4-FFF2-40B4-BE49-F238E27FC236}">
                  <a16:creationId xmlns:a16="http://schemas.microsoft.com/office/drawing/2014/main" id="{76A82EF9-A37A-A4F1-75DA-60F02C4C6F4F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35" name="Text 6">
              <a:extLst>
                <a:ext uri="{FF2B5EF4-FFF2-40B4-BE49-F238E27FC236}">
                  <a16:creationId xmlns:a16="http://schemas.microsoft.com/office/drawing/2014/main" id="{C4D56A75-50E2-8B59-8AE4-26C2B659D794}"/>
                </a:ext>
              </a:extLst>
            </p:cNvPr>
            <p:cNvSpPr/>
            <p:nvPr/>
          </p:nvSpPr>
          <p:spPr>
            <a:xfrm>
              <a:off x="484632" y="1435608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 - Spécifique</a:t>
              </a:r>
              <a:endParaRPr lang="fr-FR" sz="1300" noProof="0" dirty="0"/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9C003986-5D70-A4B6-BCE3-94AC83ECEC98}"/>
                </a:ext>
              </a:extLst>
            </p:cNvPr>
            <p:cNvSpPr/>
            <p:nvPr/>
          </p:nvSpPr>
          <p:spPr>
            <a:xfrm>
              <a:off x="484632" y="1865376"/>
              <a:ext cx="3913632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Démontrer 7 compétences précises demandées par Aéroworld via des livrables concrets</a:t>
              </a:r>
              <a:endParaRPr lang="fr-FR" sz="1100" noProof="0" dirty="0"/>
            </a:p>
          </p:txBody>
        </p: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33244387-8205-7D3A-CF28-83CF2F0BE841}"/>
              </a:ext>
            </a:extLst>
          </p:cNvPr>
          <p:cNvGrpSpPr/>
          <p:nvPr/>
        </p:nvGrpSpPr>
        <p:grpSpPr>
          <a:xfrm>
            <a:off x="6435349" y="5375820"/>
            <a:ext cx="5545312" cy="501385"/>
            <a:chOff x="320040" y="1024128"/>
            <a:chExt cx="4206240" cy="1719072"/>
          </a:xfrm>
        </p:grpSpPr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9AF2A8F0-5DFF-CAA0-75A1-DCE836CA2624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80EDE2FF-43B7-5CC6-CDAE-60D9419036A5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41" name="Text 5">
              <a:extLst>
                <a:ext uri="{FF2B5EF4-FFF2-40B4-BE49-F238E27FC236}">
                  <a16:creationId xmlns:a16="http://schemas.microsoft.com/office/drawing/2014/main" id="{4187D815-1D08-FCB0-118D-8677957C6AE6}"/>
                </a:ext>
              </a:extLst>
            </p:cNvPr>
            <p:cNvSpPr/>
            <p:nvPr/>
          </p:nvSpPr>
          <p:spPr>
            <a:xfrm>
              <a:off x="484632" y="11155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8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PRIORITAIRE</a:t>
              </a:r>
              <a:endParaRPr lang="fr-FR" sz="800" noProof="0" dirty="0"/>
            </a:p>
          </p:txBody>
        </p:sp>
        <p:sp>
          <p:nvSpPr>
            <p:cNvPr id="42" name="Text 6">
              <a:extLst>
                <a:ext uri="{FF2B5EF4-FFF2-40B4-BE49-F238E27FC236}">
                  <a16:creationId xmlns:a16="http://schemas.microsoft.com/office/drawing/2014/main" id="{F2E4756E-E684-425B-2AE1-C5BCDEA061B4}"/>
                </a:ext>
              </a:extLst>
            </p:cNvPr>
            <p:cNvSpPr/>
            <p:nvPr/>
          </p:nvSpPr>
          <p:spPr>
            <a:xfrm>
              <a:off x="484632" y="1435608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T - Temporel</a:t>
              </a:r>
              <a:endParaRPr lang="fr-FR" sz="1300" noProof="0" dirty="0"/>
            </a:p>
          </p:txBody>
        </p:sp>
        <p:sp>
          <p:nvSpPr>
            <p:cNvPr id="43" name="Text 7">
              <a:extLst>
                <a:ext uri="{FF2B5EF4-FFF2-40B4-BE49-F238E27FC236}">
                  <a16:creationId xmlns:a16="http://schemas.microsoft.com/office/drawing/2014/main" id="{9FDEC1AB-DF7D-94AA-1EBC-42B6BB2107BB}"/>
                </a:ext>
              </a:extLst>
            </p:cNvPr>
            <p:cNvSpPr/>
            <p:nvPr/>
          </p:nvSpPr>
          <p:spPr>
            <a:xfrm>
              <a:off x="484632" y="1865376"/>
              <a:ext cx="3913632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Réaliser le portfolio dans les délais fixés avec le diagramme de Gantt</a:t>
              </a:r>
              <a:endParaRPr lang="fr-FR" sz="11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227376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9CE50-AA9D-4272-32F4-AA0B9A13D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18F7D490-727A-876E-93D9-8891D165B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191C97B-CE96-946B-CB0F-1EC79A070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284C185-E852-57E8-58CB-921A8D61A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3A20374-2B05-F502-A217-250EF0C9F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FAC4FEF-7857-85E3-A203-393B44871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AF2BABB-65F1-2CD8-64E6-4DC084E2F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10149261" cy="9679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ptos Display (En-têtes)"/>
                <a:ea typeface="Calibri" panose="020F0502020204030204" pitchFamily="34" charset="0"/>
                <a:cs typeface="Calibri" panose="020F0502020204030204" pitchFamily="34" charset="0"/>
              </a:rPr>
              <a:t>Équipe projet</a:t>
            </a:r>
            <a:endParaRPr lang="fr-FR" sz="3600" b="1" noProof="0" dirty="0">
              <a:solidFill>
                <a:schemeClr val="bg1"/>
              </a:solidFill>
              <a:latin typeface="Aptos Display (En-têtes)"/>
            </a:endParaRP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01D6DA5F-3F66-0863-C722-6078EB23BD45}"/>
              </a:ext>
            </a:extLst>
          </p:cNvPr>
          <p:cNvGrpSpPr/>
          <p:nvPr/>
        </p:nvGrpSpPr>
        <p:grpSpPr>
          <a:xfrm>
            <a:off x="826704" y="2666771"/>
            <a:ext cx="2104560" cy="3110760"/>
            <a:chOff x="1000440" y="1929240"/>
            <a:chExt cx="2104560" cy="3110760"/>
          </a:xfrm>
        </p:grpSpPr>
        <p:sp>
          <p:nvSpPr>
            <p:cNvPr id="3" name="CustomShape 2">
              <a:extLst>
                <a:ext uri="{FF2B5EF4-FFF2-40B4-BE49-F238E27FC236}">
                  <a16:creationId xmlns:a16="http://schemas.microsoft.com/office/drawing/2014/main" id="{8E283FE9-61FA-023D-9567-54F2BE53F19D}"/>
                </a:ext>
              </a:extLst>
            </p:cNvPr>
            <p:cNvSpPr/>
            <p:nvPr/>
          </p:nvSpPr>
          <p:spPr>
            <a:xfrm>
              <a:off x="1000440" y="1929240"/>
              <a:ext cx="2104560" cy="675720"/>
            </a:xfrm>
            <a:prstGeom prst="rect">
              <a:avLst/>
            </a:prstGeom>
            <a:solidFill>
              <a:srgbClr val="1F3864"/>
            </a:solidFill>
            <a:ln w="12600">
              <a:solidFill>
                <a:srgbClr val="1F38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fr-FR"/>
            </a:p>
          </p:txBody>
        </p:sp>
        <p:sp>
          <p:nvSpPr>
            <p:cNvPr id="4" name="CustomShape 3">
              <a:extLst>
                <a:ext uri="{FF2B5EF4-FFF2-40B4-BE49-F238E27FC236}">
                  <a16:creationId xmlns:a16="http://schemas.microsoft.com/office/drawing/2014/main" id="{2B0CEB8D-A3C9-A689-B5EB-AF6C8DD46F94}"/>
                </a:ext>
              </a:extLst>
            </p:cNvPr>
            <p:cNvSpPr/>
            <p:nvPr/>
          </p:nvSpPr>
          <p:spPr>
            <a:xfrm>
              <a:off x="1000440" y="1929240"/>
              <a:ext cx="2104560" cy="6757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fr-FR" sz="1500" b="1" strike="noStrike" spc="-1" dirty="0">
                  <a:solidFill>
                    <a:srgbClr val="FFFFFF"/>
                  </a:solidFill>
                  <a:latin typeface="Calibri"/>
                  <a:ea typeface="Calibri"/>
                </a:rPr>
                <a:t>Alexandre</a:t>
              </a:r>
              <a:endParaRPr lang="fr-FR" sz="1500" b="0" strike="noStrike" spc="-1" dirty="0">
                <a:latin typeface="Arial"/>
              </a:endParaRPr>
            </a:p>
          </p:txBody>
        </p:sp>
        <p:sp>
          <p:nvSpPr>
            <p:cNvPr id="6" name="CustomShape 4">
              <a:extLst>
                <a:ext uri="{FF2B5EF4-FFF2-40B4-BE49-F238E27FC236}">
                  <a16:creationId xmlns:a16="http://schemas.microsoft.com/office/drawing/2014/main" id="{8912A8AA-0B69-1132-527C-D0F78D75EF1A}"/>
                </a:ext>
              </a:extLst>
            </p:cNvPr>
            <p:cNvSpPr/>
            <p:nvPr/>
          </p:nvSpPr>
          <p:spPr>
            <a:xfrm>
              <a:off x="1000440" y="2605680"/>
              <a:ext cx="2104560" cy="811080"/>
            </a:xfrm>
            <a:prstGeom prst="rect">
              <a:avLst/>
            </a:prstGeom>
            <a:solidFill>
              <a:srgbClr val="2E75B6"/>
            </a:solidFill>
            <a:ln w="12600">
              <a:solidFill>
                <a:srgbClr val="2E75B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fr-FR"/>
            </a:p>
          </p:txBody>
        </p:sp>
        <p:sp>
          <p:nvSpPr>
            <p:cNvPr id="7" name="CustomShape 5">
              <a:extLst>
                <a:ext uri="{FF2B5EF4-FFF2-40B4-BE49-F238E27FC236}">
                  <a16:creationId xmlns:a16="http://schemas.microsoft.com/office/drawing/2014/main" id="{6D01F9B3-B9D7-1ECC-B321-13FE2AC99031}"/>
                </a:ext>
              </a:extLst>
            </p:cNvPr>
            <p:cNvSpPr/>
            <p:nvPr/>
          </p:nvSpPr>
          <p:spPr>
            <a:xfrm>
              <a:off x="1000440" y="2605680"/>
              <a:ext cx="2104560" cy="811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fr-FR" sz="1400" b="0" i="1" strike="noStrike" spc="-1" dirty="0">
                  <a:solidFill>
                    <a:srgbClr val="FFFFFF"/>
                  </a:solidFill>
                  <a:latin typeface="Calibri"/>
                  <a:ea typeface="Calibri"/>
                </a:rPr>
                <a:t>Consultant Data Analyst</a:t>
              </a:r>
              <a:endParaRPr lang="fr-FR" sz="1400" b="0" strike="noStrike" spc="-1" dirty="0">
                <a:latin typeface="Arial"/>
              </a:endParaRPr>
            </a:p>
          </p:txBody>
        </p:sp>
        <p:sp>
          <p:nvSpPr>
            <p:cNvPr id="9" name="CustomShape 6">
              <a:extLst>
                <a:ext uri="{FF2B5EF4-FFF2-40B4-BE49-F238E27FC236}">
                  <a16:creationId xmlns:a16="http://schemas.microsoft.com/office/drawing/2014/main" id="{65FCE21E-2CF5-A83B-C0F6-E53CAF7B344F}"/>
                </a:ext>
              </a:extLst>
            </p:cNvPr>
            <p:cNvSpPr/>
            <p:nvPr/>
          </p:nvSpPr>
          <p:spPr>
            <a:xfrm>
              <a:off x="1000440" y="3405291"/>
              <a:ext cx="2104560" cy="1622880"/>
            </a:xfrm>
            <a:prstGeom prst="rect">
              <a:avLst/>
            </a:prstGeom>
            <a:solidFill>
              <a:srgbClr val="E2EFF9"/>
            </a:solidFill>
            <a:ln w="12600">
              <a:solidFill>
                <a:srgbClr val="2E75B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fr-FR"/>
            </a:p>
          </p:txBody>
        </p:sp>
        <p:sp>
          <p:nvSpPr>
            <p:cNvPr id="10" name="CustomShape 7">
              <a:extLst>
                <a:ext uri="{FF2B5EF4-FFF2-40B4-BE49-F238E27FC236}">
                  <a16:creationId xmlns:a16="http://schemas.microsoft.com/office/drawing/2014/main" id="{48F0FFD3-3115-24E7-07C6-1C10129F0D2D}"/>
                </a:ext>
              </a:extLst>
            </p:cNvPr>
            <p:cNvSpPr/>
            <p:nvPr/>
          </p:nvSpPr>
          <p:spPr>
            <a:xfrm>
              <a:off x="1098360" y="3417120"/>
              <a:ext cx="1909080" cy="16228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fr-FR" sz="1400" b="0" strike="noStrike" spc="-1" dirty="0">
                  <a:solidFill>
                    <a:srgbClr val="1E293B"/>
                  </a:solidFill>
                  <a:latin typeface="Calibri"/>
                  <a:ea typeface="Calibri"/>
                </a:rPr>
                <a:t>Réalisation du portfolio</a:t>
              </a:r>
              <a:endParaRPr lang="fr-FR" sz="1400" b="0" strike="noStrike" spc="-1" dirty="0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fr-FR" sz="1400" b="0" strike="noStrike" spc="-1" dirty="0">
                  <a:solidFill>
                    <a:srgbClr val="1E293B"/>
                  </a:solidFill>
                  <a:latin typeface="Calibri"/>
                  <a:ea typeface="Calibri"/>
                </a:rPr>
                <a:t>et de tous les livrables</a:t>
              </a:r>
              <a:endParaRPr lang="fr-FR" sz="1400" b="0" strike="noStrike" spc="-1" dirty="0">
                <a:latin typeface="Arial"/>
              </a:endParaRP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829612D4-DABC-B477-69D1-E68DB869133B}"/>
              </a:ext>
            </a:extLst>
          </p:cNvPr>
          <p:cNvGrpSpPr/>
          <p:nvPr/>
        </p:nvGrpSpPr>
        <p:grpSpPr>
          <a:xfrm>
            <a:off x="3587488" y="2666771"/>
            <a:ext cx="2104560" cy="3110760"/>
            <a:chOff x="1000440" y="1929240"/>
            <a:chExt cx="2104560" cy="3110760"/>
          </a:xfrm>
        </p:grpSpPr>
        <p:sp>
          <p:nvSpPr>
            <p:cNvPr id="13" name="CustomShape 2">
              <a:extLst>
                <a:ext uri="{FF2B5EF4-FFF2-40B4-BE49-F238E27FC236}">
                  <a16:creationId xmlns:a16="http://schemas.microsoft.com/office/drawing/2014/main" id="{7D4D5538-AB60-B3F1-F01F-3EFD0399D8AD}"/>
                </a:ext>
              </a:extLst>
            </p:cNvPr>
            <p:cNvSpPr/>
            <p:nvPr/>
          </p:nvSpPr>
          <p:spPr>
            <a:xfrm>
              <a:off x="1000440" y="1929240"/>
              <a:ext cx="2104560" cy="675720"/>
            </a:xfrm>
            <a:prstGeom prst="rect">
              <a:avLst/>
            </a:prstGeom>
            <a:solidFill>
              <a:srgbClr val="1F3864"/>
            </a:solidFill>
            <a:ln w="12600">
              <a:solidFill>
                <a:srgbClr val="1F38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fr-FR"/>
            </a:p>
          </p:txBody>
        </p:sp>
        <p:sp>
          <p:nvSpPr>
            <p:cNvPr id="14" name="CustomShape 3">
              <a:extLst>
                <a:ext uri="{FF2B5EF4-FFF2-40B4-BE49-F238E27FC236}">
                  <a16:creationId xmlns:a16="http://schemas.microsoft.com/office/drawing/2014/main" id="{5612A116-3476-8278-2842-B05795EBCE40}"/>
                </a:ext>
              </a:extLst>
            </p:cNvPr>
            <p:cNvSpPr/>
            <p:nvPr/>
          </p:nvSpPr>
          <p:spPr>
            <a:xfrm>
              <a:off x="1000440" y="1929240"/>
              <a:ext cx="2104560" cy="6757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fr-FR" sz="1500" b="1" strike="noStrike" spc="-1" dirty="0">
                  <a:solidFill>
                    <a:srgbClr val="FFFFFF"/>
                  </a:solidFill>
                  <a:latin typeface="Calibri"/>
                  <a:ea typeface="Calibri"/>
                </a:rPr>
                <a:t>Suzanne</a:t>
              </a:r>
              <a:endParaRPr lang="fr-FR" sz="1500" b="0" strike="noStrike" spc="-1" dirty="0">
                <a:latin typeface="Arial"/>
              </a:endParaRPr>
            </a:p>
          </p:txBody>
        </p:sp>
        <p:sp>
          <p:nvSpPr>
            <p:cNvPr id="15" name="CustomShape 4">
              <a:extLst>
                <a:ext uri="{FF2B5EF4-FFF2-40B4-BE49-F238E27FC236}">
                  <a16:creationId xmlns:a16="http://schemas.microsoft.com/office/drawing/2014/main" id="{619FCE28-CFE7-3CF9-F7D5-44ED58D90A2B}"/>
                </a:ext>
              </a:extLst>
            </p:cNvPr>
            <p:cNvSpPr/>
            <p:nvPr/>
          </p:nvSpPr>
          <p:spPr>
            <a:xfrm>
              <a:off x="1000440" y="2605680"/>
              <a:ext cx="2104560" cy="811080"/>
            </a:xfrm>
            <a:prstGeom prst="rect">
              <a:avLst/>
            </a:prstGeom>
            <a:solidFill>
              <a:srgbClr val="2E75B6"/>
            </a:solidFill>
            <a:ln w="12600">
              <a:solidFill>
                <a:srgbClr val="2E75B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fr-FR"/>
            </a:p>
          </p:txBody>
        </p:sp>
        <p:sp>
          <p:nvSpPr>
            <p:cNvPr id="16" name="CustomShape 5">
              <a:extLst>
                <a:ext uri="{FF2B5EF4-FFF2-40B4-BE49-F238E27FC236}">
                  <a16:creationId xmlns:a16="http://schemas.microsoft.com/office/drawing/2014/main" id="{F1BDEF88-C9FB-A946-76C4-29FFE9B42028}"/>
                </a:ext>
              </a:extLst>
            </p:cNvPr>
            <p:cNvSpPr/>
            <p:nvPr/>
          </p:nvSpPr>
          <p:spPr>
            <a:xfrm>
              <a:off x="1000440" y="2605680"/>
              <a:ext cx="2104560" cy="811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fr-FR" sz="1400" b="0" i="1" strike="noStrike" spc="-1" dirty="0">
                  <a:solidFill>
                    <a:srgbClr val="FFFFFF"/>
                  </a:solidFill>
                  <a:latin typeface="Calibri"/>
                  <a:ea typeface="Calibri"/>
                </a:rPr>
                <a:t>Chargée de mission</a:t>
              </a:r>
              <a:endParaRPr lang="fr-FR" sz="1400" b="0" strike="noStrike" spc="-1" dirty="0">
                <a:latin typeface="Arial"/>
              </a:endParaRPr>
            </a:p>
          </p:txBody>
        </p:sp>
        <p:sp>
          <p:nvSpPr>
            <p:cNvPr id="17" name="CustomShape 6">
              <a:extLst>
                <a:ext uri="{FF2B5EF4-FFF2-40B4-BE49-F238E27FC236}">
                  <a16:creationId xmlns:a16="http://schemas.microsoft.com/office/drawing/2014/main" id="{15131EF8-C98E-DC3D-F7A2-0F47D4D4CB60}"/>
                </a:ext>
              </a:extLst>
            </p:cNvPr>
            <p:cNvSpPr/>
            <p:nvPr/>
          </p:nvSpPr>
          <p:spPr>
            <a:xfrm>
              <a:off x="1000440" y="3405291"/>
              <a:ext cx="2104560" cy="1622880"/>
            </a:xfrm>
            <a:prstGeom prst="rect">
              <a:avLst/>
            </a:prstGeom>
            <a:solidFill>
              <a:srgbClr val="E2EFF9"/>
            </a:solidFill>
            <a:ln w="12600">
              <a:solidFill>
                <a:srgbClr val="2E75B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fr-FR"/>
            </a:p>
          </p:txBody>
        </p:sp>
        <p:sp>
          <p:nvSpPr>
            <p:cNvPr id="18" name="CustomShape 7">
              <a:extLst>
                <a:ext uri="{FF2B5EF4-FFF2-40B4-BE49-F238E27FC236}">
                  <a16:creationId xmlns:a16="http://schemas.microsoft.com/office/drawing/2014/main" id="{5ADD1A59-8133-B0AB-EE11-079350E9A5AA}"/>
                </a:ext>
              </a:extLst>
            </p:cNvPr>
            <p:cNvSpPr/>
            <p:nvPr/>
          </p:nvSpPr>
          <p:spPr>
            <a:xfrm>
              <a:off x="1098360" y="3417120"/>
              <a:ext cx="1909080" cy="16228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fr-FR" sz="1400" b="0" strike="noStrike" spc="-1" dirty="0">
                  <a:solidFill>
                    <a:srgbClr val="1E293B"/>
                  </a:solidFill>
                  <a:latin typeface="Calibri"/>
                  <a:ea typeface="Calibri"/>
                </a:rPr>
                <a:t>Suivi candidature et envoi au client</a:t>
              </a:r>
              <a:endParaRPr lang="fr-FR" sz="1400" b="0" strike="noStrike" spc="-1" dirty="0">
                <a:latin typeface="Arial"/>
              </a:endParaRP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77CA4AE9-78E3-E64B-E965-226FF6E5EFBA}"/>
              </a:ext>
            </a:extLst>
          </p:cNvPr>
          <p:cNvGrpSpPr/>
          <p:nvPr/>
        </p:nvGrpSpPr>
        <p:grpSpPr>
          <a:xfrm>
            <a:off x="6348272" y="2654942"/>
            <a:ext cx="2104560" cy="3110760"/>
            <a:chOff x="1000440" y="1929240"/>
            <a:chExt cx="2104560" cy="3110760"/>
          </a:xfrm>
        </p:grpSpPr>
        <p:sp>
          <p:nvSpPr>
            <p:cNvPr id="20" name="CustomShape 2">
              <a:extLst>
                <a:ext uri="{FF2B5EF4-FFF2-40B4-BE49-F238E27FC236}">
                  <a16:creationId xmlns:a16="http://schemas.microsoft.com/office/drawing/2014/main" id="{73497B9C-97A0-7A15-CAA7-7E11255F1FF8}"/>
                </a:ext>
              </a:extLst>
            </p:cNvPr>
            <p:cNvSpPr/>
            <p:nvPr/>
          </p:nvSpPr>
          <p:spPr>
            <a:xfrm>
              <a:off x="1000440" y="1929240"/>
              <a:ext cx="2104560" cy="675720"/>
            </a:xfrm>
            <a:prstGeom prst="rect">
              <a:avLst/>
            </a:prstGeom>
            <a:solidFill>
              <a:srgbClr val="1F3864"/>
            </a:solidFill>
            <a:ln w="12600">
              <a:solidFill>
                <a:srgbClr val="1F38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fr-FR"/>
            </a:p>
          </p:txBody>
        </p:sp>
        <p:sp>
          <p:nvSpPr>
            <p:cNvPr id="21" name="CustomShape 3">
              <a:extLst>
                <a:ext uri="{FF2B5EF4-FFF2-40B4-BE49-F238E27FC236}">
                  <a16:creationId xmlns:a16="http://schemas.microsoft.com/office/drawing/2014/main" id="{78771BEA-EE59-663A-6E54-B1504F764DF8}"/>
                </a:ext>
              </a:extLst>
            </p:cNvPr>
            <p:cNvSpPr/>
            <p:nvPr/>
          </p:nvSpPr>
          <p:spPr>
            <a:xfrm>
              <a:off x="1000440" y="1929240"/>
              <a:ext cx="2104560" cy="6757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fr-FR" sz="1500" b="1" strike="noStrike" spc="-1" dirty="0">
                  <a:solidFill>
                    <a:srgbClr val="FFFFFF"/>
                  </a:solidFill>
                  <a:latin typeface="Calibri"/>
                  <a:ea typeface="Calibri"/>
                </a:rPr>
                <a:t>Hayley</a:t>
              </a:r>
              <a:endParaRPr lang="fr-FR" sz="1500" b="0" strike="noStrike" spc="-1" dirty="0">
                <a:latin typeface="Arial"/>
              </a:endParaRPr>
            </a:p>
          </p:txBody>
        </p:sp>
        <p:sp>
          <p:nvSpPr>
            <p:cNvPr id="22" name="CustomShape 4">
              <a:extLst>
                <a:ext uri="{FF2B5EF4-FFF2-40B4-BE49-F238E27FC236}">
                  <a16:creationId xmlns:a16="http://schemas.microsoft.com/office/drawing/2014/main" id="{321A28BD-99E6-0740-D3DE-955D80E1FABD}"/>
                </a:ext>
              </a:extLst>
            </p:cNvPr>
            <p:cNvSpPr/>
            <p:nvPr/>
          </p:nvSpPr>
          <p:spPr>
            <a:xfrm>
              <a:off x="1000440" y="2605680"/>
              <a:ext cx="2104560" cy="811080"/>
            </a:xfrm>
            <a:prstGeom prst="rect">
              <a:avLst/>
            </a:prstGeom>
            <a:solidFill>
              <a:srgbClr val="2E75B6"/>
            </a:solidFill>
            <a:ln w="12600">
              <a:solidFill>
                <a:srgbClr val="2E75B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fr-FR"/>
            </a:p>
          </p:txBody>
        </p:sp>
        <p:sp>
          <p:nvSpPr>
            <p:cNvPr id="23" name="CustomShape 5">
              <a:extLst>
                <a:ext uri="{FF2B5EF4-FFF2-40B4-BE49-F238E27FC236}">
                  <a16:creationId xmlns:a16="http://schemas.microsoft.com/office/drawing/2014/main" id="{266BF338-1D87-5D07-4482-0C5B08F5B096}"/>
                </a:ext>
              </a:extLst>
            </p:cNvPr>
            <p:cNvSpPr/>
            <p:nvPr/>
          </p:nvSpPr>
          <p:spPr>
            <a:xfrm>
              <a:off x="1000440" y="2605680"/>
              <a:ext cx="2104560" cy="811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fr-FR" sz="1400" b="0" i="1" strike="noStrike" spc="-1" dirty="0">
                  <a:solidFill>
                    <a:srgbClr val="FFFFFF"/>
                  </a:solidFill>
                  <a:latin typeface="Calibri"/>
                  <a:ea typeface="Calibri"/>
                </a:rPr>
                <a:t>Manager</a:t>
              </a:r>
              <a:endParaRPr lang="fr-FR" sz="1400" b="0" strike="noStrike" spc="-1" dirty="0">
                <a:latin typeface="Arial"/>
              </a:endParaRPr>
            </a:p>
          </p:txBody>
        </p:sp>
        <p:sp>
          <p:nvSpPr>
            <p:cNvPr id="24" name="CustomShape 6">
              <a:extLst>
                <a:ext uri="{FF2B5EF4-FFF2-40B4-BE49-F238E27FC236}">
                  <a16:creationId xmlns:a16="http://schemas.microsoft.com/office/drawing/2014/main" id="{D4651280-34E1-183A-9486-23C945815BE7}"/>
                </a:ext>
              </a:extLst>
            </p:cNvPr>
            <p:cNvSpPr/>
            <p:nvPr/>
          </p:nvSpPr>
          <p:spPr>
            <a:xfrm>
              <a:off x="1000440" y="3405291"/>
              <a:ext cx="2104560" cy="1622880"/>
            </a:xfrm>
            <a:prstGeom prst="rect">
              <a:avLst/>
            </a:prstGeom>
            <a:solidFill>
              <a:srgbClr val="E2EFF9"/>
            </a:solidFill>
            <a:ln w="12600">
              <a:solidFill>
                <a:srgbClr val="2E75B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fr-FR"/>
            </a:p>
          </p:txBody>
        </p:sp>
        <p:sp>
          <p:nvSpPr>
            <p:cNvPr id="28" name="CustomShape 7">
              <a:extLst>
                <a:ext uri="{FF2B5EF4-FFF2-40B4-BE49-F238E27FC236}">
                  <a16:creationId xmlns:a16="http://schemas.microsoft.com/office/drawing/2014/main" id="{2EAA353B-F99D-205E-4EB6-EA69C1D9FA55}"/>
                </a:ext>
              </a:extLst>
            </p:cNvPr>
            <p:cNvSpPr/>
            <p:nvPr/>
          </p:nvSpPr>
          <p:spPr>
            <a:xfrm>
              <a:off x="1098360" y="3417120"/>
              <a:ext cx="1909080" cy="16228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fr-FR" sz="1400" b="0" strike="noStrike" spc="-1" dirty="0">
                  <a:solidFill>
                    <a:srgbClr val="1E293B"/>
                  </a:solidFill>
                  <a:latin typeface="Calibri"/>
                  <a:ea typeface="Calibri"/>
                </a:rPr>
                <a:t>Conseil, validation et accompagnement</a:t>
              </a:r>
              <a:endParaRPr lang="fr-FR" sz="1400" b="0" strike="noStrike" spc="-1" dirty="0">
                <a:latin typeface="Arial"/>
              </a:endParaRPr>
            </a:p>
          </p:txBody>
        </p: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24CBC9C2-4D0C-2A69-8EEC-3965F8B81915}"/>
              </a:ext>
            </a:extLst>
          </p:cNvPr>
          <p:cNvGrpSpPr/>
          <p:nvPr/>
        </p:nvGrpSpPr>
        <p:grpSpPr>
          <a:xfrm>
            <a:off x="9144724" y="2666771"/>
            <a:ext cx="2104560" cy="3110760"/>
            <a:chOff x="1000440" y="1929240"/>
            <a:chExt cx="2104560" cy="3110760"/>
          </a:xfrm>
        </p:grpSpPr>
        <p:sp>
          <p:nvSpPr>
            <p:cNvPr id="30" name="CustomShape 2">
              <a:extLst>
                <a:ext uri="{FF2B5EF4-FFF2-40B4-BE49-F238E27FC236}">
                  <a16:creationId xmlns:a16="http://schemas.microsoft.com/office/drawing/2014/main" id="{A45208B9-6A15-37FA-379F-922C65170895}"/>
                </a:ext>
              </a:extLst>
            </p:cNvPr>
            <p:cNvSpPr/>
            <p:nvPr/>
          </p:nvSpPr>
          <p:spPr>
            <a:xfrm>
              <a:off x="1000440" y="1929240"/>
              <a:ext cx="2104560" cy="675720"/>
            </a:xfrm>
            <a:prstGeom prst="rect">
              <a:avLst/>
            </a:prstGeom>
            <a:solidFill>
              <a:srgbClr val="1F3864"/>
            </a:solidFill>
            <a:ln w="12600">
              <a:solidFill>
                <a:srgbClr val="1F38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fr-FR"/>
            </a:p>
          </p:txBody>
        </p:sp>
        <p:sp>
          <p:nvSpPr>
            <p:cNvPr id="31" name="CustomShape 3">
              <a:extLst>
                <a:ext uri="{FF2B5EF4-FFF2-40B4-BE49-F238E27FC236}">
                  <a16:creationId xmlns:a16="http://schemas.microsoft.com/office/drawing/2014/main" id="{9CE7A307-D346-E0B6-7E8D-FEF99AA36DF1}"/>
                </a:ext>
              </a:extLst>
            </p:cNvPr>
            <p:cNvSpPr/>
            <p:nvPr/>
          </p:nvSpPr>
          <p:spPr>
            <a:xfrm>
              <a:off x="1000440" y="1929240"/>
              <a:ext cx="2104560" cy="6757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fr-FR" sz="1500" b="1" strike="noStrike" spc="-1" dirty="0">
                  <a:solidFill>
                    <a:srgbClr val="FFFFFF"/>
                  </a:solidFill>
                  <a:latin typeface="Calibri"/>
                  <a:ea typeface="Calibri"/>
                </a:rPr>
                <a:t>Aéroworld</a:t>
              </a:r>
              <a:endParaRPr lang="fr-FR" sz="1500" b="0" strike="noStrike" spc="-1" dirty="0">
                <a:latin typeface="Arial"/>
              </a:endParaRPr>
            </a:p>
          </p:txBody>
        </p:sp>
        <p:sp>
          <p:nvSpPr>
            <p:cNvPr id="32" name="CustomShape 4">
              <a:extLst>
                <a:ext uri="{FF2B5EF4-FFF2-40B4-BE49-F238E27FC236}">
                  <a16:creationId xmlns:a16="http://schemas.microsoft.com/office/drawing/2014/main" id="{D7A47D0B-CDE1-75CD-0828-DEA93078AD43}"/>
                </a:ext>
              </a:extLst>
            </p:cNvPr>
            <p:cNvSpPr/>
            <p:nvPr/>
          </p:nvSpPr>
          <p:spPr>
            <a:xfrm>
              <a:off x="1000440" y="2605680"/>
              <a:ext cx="2104560" cy="811080"/>
            </a:xfrm>
            <a:prstGeom prst="rect">
              <a:avLst/>
            </a:prstGeom>
            <a:solidFill>
              <a:srgbClr val="2E75B6"/>
            </a:solidFill>
            <a:ln w="12600">
              <a:solidFill>
                <a:srgbClr val="2E75B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fr-FR"/>
            </a:p>
          </p:txBody>
        </p:sp>
        <p:sp>
          <p:nvSpPr>
            <p:cNvPr id="33" name="CustomShape 5">
              <a:extLst>
                <a:ext uri="{FF2B5EF4-FFF2-40B4-BE49-F238E27FC236}">
                  <a16:creationId xmlns:a16="http://schemas.microsoft.com/office/drawing/2014/main" id="{EC55DDDE-F206-A155-C4C2-3031FAAE9910}"/>
                </a:ext>
              </a:extLst>
            </p:cNvPr>
            <p:cNvSpPr/>
            <p:nvPr/>
          </p:nvSpPr>
          <p:spPr>
            <a:xfrm>
              <a:off x="1000440" y="2605680"/>
              <a:ext cx="2104560" cy="811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fr-FR" sz="1400" b="0" i="1" strike="noStrike" spc="-1" dirty="0">
                  <a:solidFill>
                    <a:srgbClr val="FFFFFF"/>
                  </a:solidFill>
                  <a:latin typeface="Calibri"/>
                  <a:ea typeface="Calibri"/>
                </a:rPr>
                <a:t>Client</a:t>
              </a:r>
              <a:endParaRPr lang="fr-FR" sz="1400" b="0" strike="noStrike" spc="-1" dirty="0">
                <a:latin typeface="Arial"/>
              </a:endParaRPr>
            </a:p>
          </p:txBody>
        </p:sp>
        <p:sp>
          <p:nvSpPr>
            <p:cNvPr id="34" name="CustomShape 6">
              <a:extLst>
                <a:ext uri="{FF2B5EF4-FFF2-40B4-BE49-F238E27FC236}">
                  <a16:creationId xmlns:a16="http://schemas.microsoft.com/office/drawing/2014/main" id="{9F5A763B-D228-11A8-CC99-2C31C411CF57}"/>
                </a:ext>
              </a:extLst>
            </p:cNvPr>
            <p:cNvSpPr/>
            <p:nvPr/>
          </p:nvSpPr>
          <p:spPr>
            <a:xfrm>
              <a:off x="1000440" y="3405291"/>
              <a:ext cx="2104560" cy="1622880"/>
            </a:xfrm>
            <a:prstGeom prst="rect">
              <a:avLst/>
            </a:prstGeom>
            <a:solidFill>
              <a:srgbClr val="E2EFF9"/>
            </a:solidFill>
            <a:ln w="12600">
              <a:solidFill>
                <a:srgbClr val="2E75B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fr-FR" dirty="0"/>
            </a:p>
          </p:txBody>
        </p:sp>
        <p:sp>
          <p:nvSpPr>
            <p:cNvPr id="35" name="CustomShape 7">
              <a:extLst>
                <a:ext uri="{FF2B5EF4-FFF2-40B4-BE49-F238E27FC236}">
                  <a16:creationId xmlns:a16="http://schemas.microsoft.com/office/drawing/2014/main" id="{56859DD3-95BB-E3BB-2261-806B59B5B572}"/>
                </a:ext>
              </a:extLst>
            </p:cNvPr>
            <p:cNvSpPr/>
            <p:nvPr/>
          </p:nvSpPr>
          <p:spPr>
            <a:xfrm>
              <a:off x="1098360" y="3417120"/>
              <a:ext cx="1909080" cy="16228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fr-FR" sz="1400" spc="-1" dirty="0">
                  <a:solidFill>
                    <a:srgbClr val="1E293B"/>
                  </a:solidFill>
                  <a:latin typeface="Calibri"/>
                  <a:ea typeface="Calibri"/>
                </a:rPr>
                <a:t>Évaluation du portfolio et validation du profil</a:t>
              </a:r>
              <a:endParaRPr lang="fr-FR" sz="1400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7949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4DDF30-9B5D-5A05-BC13-A496D70CA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468EFAEA-EE1B-6765-572B-70C16A80C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5E1507D-B09E-4555-24AA-30307F2A7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40800E8-5A8E-1E82-EC66-6E29183E5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6BBDB75-FAE8-2115-F82A-64A2E4923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2D7CFEC-20FA-ED5B-72BE-F4F9DE6DD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FF8681D-0804-06E3-FC38-9C6F20609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10149261" cy="9679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3600" b="1" noProof="0" dirty="0">
                <a:solidFill>
                  <a:schemeClr val="bg1"/>
                </a:solidFill>
              </a:rPr>
              <a:t>Spécifications ergonomiques</a:t>
            </a:r>
            <a:endParaRPr lang="fr-FR" sz="3600" noProof="0" dirty="0">
              <a:solidFill>
                <a:schemeClr val="bg1"/>
              </a:solidFill>
            </a:endParaRP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E497346D-ABA6-4765-C5FD-260540B05E21}"/>
              </a:ext>
            </a:extLst>
          </p:cNvPr>
          <p:cNvGrpSpPr/>
          <p:nvPr/>
        </p:nvGrpSpPr>
        <p:grpSpPr>
          <a:xfrm>
            <a:off x="699714" y="2306477"/>
            <a:ext cx="5200904" cy="2245045"/>
            <a:chOff x="320040" y="1024128"/>
            <a:chExt cx="4206240" cy="1719072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78501FE0-0588-24E4-F048-FC2D2910205B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6AE0D5B4-730E-44F4-03E6-4F22935495E9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9E41E8FA-75F6-9600-9E88-B20CD88236E8}"/>
                </a:ext>
              </a:extLst>
            </p:cNvPr>
            <p:cNvSpPr/>
            <p:nvPr/>
          </p:nvSpPr>
          <p:spPr>
            <a:xfrm>
              <a:off x="484632" y="1191751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Principes ergonomiques</a:t>
              </a:r>
              <a:endParaRPr lang="fr-FR" sz="1300" noProof="0" dirty="0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6A31C184-25D8-2F00-9B6A-3C2C716422BF}"/>
                </a:ext>
              </a:extLst>
            </p:cNvPr>
            <p:cNvSpPr/>
            <p:nvPr/>
          </p:nvSpPr>
          <p:spPr>
            <a:xfrm>
              <a:off x="484632" y="1483437"/>
              <a:ext cx="3913632" cy="11866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Cohérence graphique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fr-FR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Clarté et lisibilité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fr-FR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Fluidité de navigation entre les différents livrables</a:t>
              </a:r>
              <a:endParaRPr lang="fr-FR" sz="1100" noProof="0" dirty="0"/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86138486-475F-E2B3-2B74-297D30E6ABC7}"/>
              </a:ext>
            </a:extLst>
          </p:cNvPr>
          <p:cNvGrpSpPr/>
          <p:nvPr/>
        </p:nvGrpSpPr>
        <p:grpSpPr>
          <a:xfrm>
            <a:off x="6291384" y="4099554"/>
            <a:ext cx="5200904" cy="2245045"/>
            <a:chOff x="320040" y="1024128"/>
            <a:chExt cx="4206240" cy="1719072"/>
          </a:xfrm>
        </p:grpSpPr>
        <p:sp>
          <p:nvSpPr>
            <p:cNvPr id="12" name="Shape 2">
              <a:extLst>
                <a:ext uri="{FF2B5EF4-FFF2-40B4-BE49-F238E27FC236}">
                  <a16:creationId xmlns:a16="http://schemas.microsoft.com/office/drawing/2014/main" id="{CEDDBF80-2E84-8D5E-3FF7-AFA9FC33F7E5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3" name="Shape 3">
              <a:extLst>
                <a:ext uri="{FF2B5EF4-FFF2-40B4-BE49-F238E27FC236}">
                  <a16:creationId xmlns:a16="http://schemas.microsoft.com/office/drawing/2014/main" id="{EA12AF7E-0DE0-D13B-CAE9-D60E3606D072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6F959C8B-032E-4DD5-DFDC-01AD29A384F0}"/>
                </a:ext>
              </a:extLst>
            </p:cNvPr>
            <p:cNvSpPr/>
            <p:nvPr/>
          </p:nvSpPr>
          <p:spPr>
            <a:xfrm>
              <a:off x="484632" y="1191751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Navigation et UX</a:t>
              </a:r>
              <a:endParaRPr lang="fr-FR" sz="1300" noProof="0" dirty="0"/>
            </a:p>
          </p:txBody>
        </p:sp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FF794839-DC91-3B83-5EC9-0F122A8FEC7D}"/>
                </a:ext>
              </a:extLst>
            </p:cNvPr>
            <p:cNvSpPr/>
            <p:nvPr/>
          </p:nvSpPr>
          <p:spPr>
            <a:xfrm>
              <a:off x="484632" y="1483437"/>
              <a:ext cx="3913632" cy="11866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Structure en sections claires (profil / projets / livrables)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fr-FR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Liens vers les livrables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fr-FR" sz="11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Format web (GitHub)</a:t>
              </a:r>
              <a:endParaRPr lang="fr-FR" sz="11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018439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0DC57-A1E9-C404-650B-2981D7AAD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BE3E1DC9-9833-7B95-493E-B681112DF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6E59F2D-C962-3596-8016-A225DA3E3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B7DD97-CDA3-7461-8979-63178DCE6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34D42AC-49A6-725C-DEF8-1B89D65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1675428-430C-8046-01FF-FE5D23982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F049F13-0E39-D889-0CAE-40DB4FB67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10149261" cy="9679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3600" b="1" noProof="0" dirty="0">
                <a:solidFill>
                  <a:schemeClr val="bg1"/>
                </a:solidFill>
              </a:rPr>
              <a:t>Spécifications fonctionnelles</a:t>
            </a:r>
            <a:endParaRPr lang="fr-FR" sz="3600" noProof="0" dirty="0">
              <a:solidFill>
                <a:schemeClr val="bg1"/>
              </a:solidFill>
            </a:endParaRP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179009FB-D55A-721C-34D7-E4FF0CAF93D3}"/>
              </a:ext>
            </a:extLst>
          </p:cNvPr>
          <p:cNvGrpSpPr/>
          <p:nvPr/>
        </p:nvGrpSpPr>
        <p:grpSpPr>
          <a:xfrm>
            <a:off x="699714" y="1968149"/>
            <a:ext cx="3936294" cy="1122523"/>
            <a:chOff x="320040" y="1024128"/>
            <a:chExt cx="4206240" cy="1719072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673E4BD1-DA3C-8BF7-299D-B4A7155C3C01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98179246-9945-C87E-EBF7-D89298C37F7C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F7FBFD52-32C0-6F53-7568-2B25F1C3A024}"/>
                </a:ext>
              </a:extLst>
            </p:cNvPr>
            <p:cNvSpPr/>
            <p:nvPr/>
          </p:nvSpPr>
          <p:spPr>
            <a:xfrm>
              <a:off x="484632" y="1191751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Profil personnel</a:t>
              </a:r>
              <a:endParaRPr lang="fr-FR" sz="1300" noProof="0" dirty="0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EA76EF5F-E9A4-741C-28EE-C38A6BDDFF65}"/>
                </a:ext>
              </a:extLst>
            </p:cNvPr>
            <p:cNvSpPr/>
            <p:nvPr/>
          </p:nvSpPr>
          <p:spPr>
            <a:xfrm>
              <a:off x="484632" y="1483437"/>
              <a:ext cx="3913632" cy="11866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1100" noProof="0" dirty="0"/>
                <a:t>Présentation, soft-</a:t>
              </a:r>
              <a:r>
                <a:rPr lang="fr-FR" sz="1100" noProof="0" dirty="0" err="1"/>
                <a:t>skills</a:t>
              </a:r>
              <a:r>
                <a:rPr lang="fr-FR" sz="1100" noProof="0" dirty="0"/>
                <a:t>, compétences et parcours</a:t>
              </a:r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449E3181-E237-8427-91DF-687F05350321}"/>
              </a:ext>
            </a:extLst>
          </p:cNvPr>
          <p:cNvGrpSpPr/>
          <p:nvPr/>
        </p:nvGrpSpPr>
        <p:grpSpPr>
          <a:xfrm>
            <a:off x="6731706" y="1920382"/>
            <a:ext cx="3936294" cy="1122523"/>
            <a:chOff x="320040" y="1024128"/>
            <a:chExt cx="4206240" cy="1719072"/>
          </a:xfrm>
        </p:grpSpPr>
        <p:sp>
          <p:nvSpPr>
            <p:cNvPr id="7" name="Shape 2">
              <a:extLst>
                <a:ext uri="{FF2B5EF4-FFF2-40B4-BE49-F238E27FC236}">
                  <a16:creationId xmlns:a16="http://schemas.microsoft.com/office/drawing/2014/main" id="{835FBF21-90E7-24DB-B9FD-41CA7F3A3A97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B52D7BD9-984A-4D38-0BAB-082035545042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6" name="Text 6">
              <a:extLst>
                <a:ext uri="{FF2B5EF4-FFF2-40B4-BE49-F238E27FC236}">
                  <a16:creationId xmlns:a16="http://schemas.microsoft.com/office/drawing/2014/main" id="{BD5301CE-E235-68D9-C971-D5E8D02E3ED1}"/>
                </a:ext>
              </a:extLst>
            </p:cNvPr>
            <p:cNvSpPr/>
            <p:nvPr/>
          </p:nvSpPr>
          <p:spPr>
            <a:xfrm>
              <a:off x="484632" y="1191751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Projets professionnels</a:t>
              </a:r>
              <a:endParaRPr lang="fr-FR" sz="1300" noProof="0" dirty="0"/>
            </a:p>
          </p:txBody>
        </p:sp>
        <p:sp>
          <p:nvSpPr>
            <p:cNvPr id="17" name="Text 7">
              <a:extLst>
                <a:ext uri="{FF2B5EF4-FFF2-40B4-BE49-F238E27FC236}">
                  <a16:creationId xmlns:a16="http://schemas.microsoft.com/office/drawing/2014/main" id="{11C7EE52-D988-04E4-2131-5C6365BF81AD}"/>
                </a:ext>
              </a:extLst>
            </p:cNvPr>
            <p:cNvSpPr/>
            <p:nvPr/>
          </p:nvSpPr>
          <p:spPr>
            <a:xfrm>
              <a:off x="484632" y="1483437"/>
              <a:ext cx="3913632" cy="11866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1100" noProof="0" dirty="0"/>
                <a:t>11 projets avec livrables et leurs compétences associées</a:t>
              </a:r>
            </a:p>
          </p:txBody>
        </p: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2442712B-43BB-D9AE-C849-7172687E6A97}"/>
              </a:ext>
            </a:extLst>
          </p:cNvPr>
          <p:cNvGrpSpPr/>
          <p:nvPr/>
        </p:nvGrpSpPr>
        <p:grpSpPr>
          <a:xfrm>
            <a:off x="699714" y="3455573"/>
            <a:ext cx="3936294" cy="1122523"/>
            <a:chOff x="320040" y="1024128"/>
            <a:chExt cx="4206240" cy="1719072"/>
          </a:xfrm>
        </p:grpSpPr>
        <p:sp>
          <p:nvSpPr>
            <p:cNvPr id="19" name="Shape 2">
              <a:extLst>
                <a:ext uri="{FF2B5EF4-FFF2-40B4-BE49-F238E27FC236}">
                  <a16:creationId xmlns:a16="http://schemas.microsoft.com/office/drawing/2014/main" id="{3E62D533-A0F0-A4ED-5D12-68B06258F3FF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0" name="Shape 3">
              <a:extLst>
                <a:ext uri="{FF2B5EF4-FFF2-40B4-BE49-F238E27FC236}">
                  <a16:creationId xmlns:a16="http://schemas.microsoft.com/office/drawing/2014/main" id="{D2EA5FE1-E5C3-5247-9B9B-E5BDB394D894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1" name="Text 6">
              <a:extLst>
                <a:ext uri="{FF2B5EF4-FFF2-40B4-BE49-F238E27FC236}">
                  <a16:creationId xmlns:a16="http://schemas.microsoft.com/office/drawing/2014/main" id="{6623F3A3-87A9-9DAC-ACBC-F470D7681030}"/>
                </a:ext>
              </a:extLst>
            </p:cNvPr>
            <p:cNvSpPr/>
            <p:nvPr/>
          </p:nvSpPr>
          <p:spPr>
            <a:xfrm>
              <a:off x="484632" y="1191751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Veille métier</a:t>
              </a:r>
              <a:endParaRPr lang="fr-FR" sz="1300" noProof="0" dirty="0"/>
            </a:p>
          </p:txBody>
        </p:sp>
        <p:sp>
          <p:nvSpPr>
            <p:cNvPr id="22" name="Text 7">
              <a:extLst>
                <a:ext uri="{FF2B5EF4-FFF2-40B4-BE49-F238E27FC236}">
                  <a16:creationId xmlns:a16="http://schemas.microsoft.com/office/drawing/2014/main" id="{22748649-B2E3-C208-4CE1-68964C0FF92D}"/>
                </a:ext>
              </a:extLst>
            </p:cNvPr>
            <p:cNvSpPr/>
            <p:nvPr/>
          </p:nvSpPr>
          <p:spPr>
            <a:xfrm>
              <a:off x="484632" y="1483437"/>
              <a:ext cx="3913632" cy="11866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1100" noProof="0" dirty="0"/>
                <a:t>Tests d’outils, sources documentaires</a:t>
              </a:r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022EA979-699E-D60E-064E-2DB603640AE2}"/>
              </a:ext>
            </a:extLst>
          </p:cNvPr>
          <p:cNvGrpSpPr/>
          <p:nvPr/>
        </p:nvGrpSpPr>
        <p:grpSpPr>
          <a:xfrm>
            <a:off x="6731706" y="3455573"/>
            <a:ext cx="3936294" cy="1122523"/>
            <a:chOff x="320040" y="1024128"/>
            <a:chExt cx="4206240" cy="1719072"/>
          </a:xfrm>
        </p:grpSpPr>
        <p:sp>
          <p:nvSpPr>
            <p:cNvPr id="24" name="Shape 2">
              <a:extLst>
                <a:ext uri="{FF2B5EF4-FFF2-40B4-BE49-F238E27FC236}">
                  <a16:creationId xmlns:a16="http://schemas.microsoft.com/office/drawing/2014/main" id="{2AFA2E48-1B17-FD1E-7A1C-5A8AA902B7E6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5" name="Shape 3">
              <a:extLst>
                <a:ext uri="{FF2B5EF4-FFF2-40B4-BE49-F238E27FC236}">
                  <a16:creationId xmlns:a16="http://schemas.microsoft.com/office/drawing/2014/main" id="{D4E72823-238C-1072-C4CD-33F67B496A91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6" name="Text 6">
              <a:extLst>
                <a:ext uri="{FF2B5EF4-FFF2-40B4-BE49-F238E27FC236}">
                  <a16:creationId xmlns:a16="http://schemas.microsoft.com/office/drawing/2014/main" id="{91A5EF2E-DDE5-7639-4793-F7F3B7C70E7C}"/>
                </a:ext>
              </a:extLst>
            </p:cNvPr>
            <p:cNvSpPr/>
            <p:nvPr/>
          </p:nvSpPr>
          <p:spPr>
            <a:xfrm>
              <a:off x="484632" y="1191751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Tableaux de bord</a:t>
              </a:r>
              <a:endParaRPr lang="fr-FR" sz="1300" noProof="0" dirty="0"/>
            </a:p>
          </p:txBody>
        </p:sp>
        <p:sp>
          <p:nvSpPr>
            <p:cNvPr id="27" name="Text 7">
              <a:extLst>
                <a:ext uri="{FF2B5EF4-FFF2-40B4-BE49-F238E27FC236}">
                  <a16:creationId xmlns:a16="http://schemas.microsoft.com/office/drawing/2014/main" id="{9A34ED88-635B-24DB-C369-D93B2BE1AE6E}"/>
                </a:ext>
              </a:extLst>
            </p:cNvPr>
            <p:cNvSpPr/>
            <p:nvPr/>
          </p:nvSpPr>
          <p:spPr>
            <a:xfrm>
              <a:off x="484632" y="1483437"/>
              <a:ext cx="3913632" cy="11866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1100" noProof="0" dirty="0"/>
                <a:t>Dashboard de veille et dashboard de présentation </a:t>
              </a:r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26E1AE91-E821-7BEF-674B-BFA9385624C9}"/>
              </a:ext>
            </a:extLst>
          </p:cNvPr>
          <p:cNvGrpSpPr/>
          <p:nvPr/>
        </p:nvGrpSpPr>
        <p:grpSpPr>
          <a:xfrm>
            <a:off x="699714" y="4942997"/>
            <a:ext cx="3936294" cy="1122523"/>
            <a:chOff x="320040" y="1024128"/>
            <a:chExt cx="4206240" cy="1719072"/>
          </a:xfrm>
        </p:grpSpPr>
        <p:sp>
          <p:nvSpPr>
            <p:cNvPr id="29" name="Shape 2">
              <a:extLst>
                <a:ext uri="{FF2B5EF4-FFF2-40B4-BE49-F238E27FC236}">
                  <a16:creationId xmlns:a16="http://schemas.microsoft.com/office/drawing/2014/main" id="{10895647-F631-43CB-F102-18461F020798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30" name="Shape 3">
              <a:extLst>
                <a:ext uri="{FF2B5EF4-FFF2-40B4-BE49-F238E27FC236}">
                  <a16:creationId xmlns:a16="http://schemas.microsoft.com/office/drawing/2014/main" id="{DC62E8EF-A8A3-2652-0284-A1CFC13A7DB8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31" name="Text 6">
              <a:extLst>
                <a:ext uri="{FF2B5EF4-FFF2-40B4-BE49-F238E27FC236}">
                  <a16:creationId xmlns:a16="http://schemas.microsoft.com/office/drawing/2014/main" id="{4CB90609-0811-6FBA-D179-F273599E7C58}"/>
                </a:ext>
              </a:extLst>
            </p:cNvPr>
            <p:cNvSpPr/>
            <p:nvPr/>
          </p:nvSpPr>
          <p:spPr>
            <a:xfrm>
              <a:off x="484632" y="1191751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Livrables Aéroworld</a:t>
              </a:r>
              <a:endParaRPr lang="fr-FR" sz="1300" noProof="0" dirty="0"/>
            </a:p>
          </p:txBody>
        </p:sp>
        <p:sp>
          <p:nvSpPr>
            <p:cNvPr id="32" name="Text 7">
              <a:extLst>
                <a:ext uri="{FF2B5EF4-FFF2-40B4-BE49-F238E27FC236}">
                  <a16:creationId xmlns:a16="http://schemas.microsoft.com/office/drawing/2014/main" id="{15926A41-FCC6-FCCE-6FB5-7328D2026D55}"/>
                </a:ext>
              </a:extLst>
            </p:cNvPr>
            <p:cNvSpPr/>
            <p:nvPr/>
          </p:nvSpPr>
          <p:spPr>
            <a:xfrm>
              <a:off x="484632" y="1483437"/>
              <a:ext cx="3913632" cy="11866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1100" noProof="0" dirty="0"/>
                <a:t>Cahier des charges, diagramme de Gantt, analyse des besoins, vidéo de formation, documentation.</a:t>
              </a:r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793EF6A1-BCEC-418C-9A46-4C56A2026EBA}"/>
              </a:ext>
            </a:extLst>
          </p:cNvPr>
          <p:cNvGrpSpPr/>
          <p:nvPr/>
        </p:nvGrpSpPr>
        <p:grpSpPr>
          <a:xfrm>
            <a:off x="6731706" y="4942997"/>
            <a:ext cx="3936294" cy="1122523"/>
            <a:chOff x="320040" y="1024128"/>
            <a:chExt cx="4206240" cy="1719072"/>
          </a:xfrm>
        </p:grpSpPr>
        <p:sp>
          <p:nvSpPr>
            <p:cNvPr id="34" name="Shape 2">
              <a:extLst>
                <a:ext uri="{FF2B5EF4-FFF2-40B4-BE49-F238E27FC236}">
                  <a16:creationId xmlns:a16="http://schemas.microsoft.com/office/drawing/2014/main" id="{358D5F2E-CF1A-B308-A541-4BE69C5BD4CC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35" name="Shape 3">
              <a:extLst>
                <a:ext uri="{FF2B5EF4-FFF2-40B4-BE49-F238E27FC236}">
                  <a16:creationId xmlns:a16="http://schemas.microsoft.com/office/drawing/2014/main" id="{45D37DB8-5E08-6AAC-3289-E14CA1243EDC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36" name="Text 6">
              <a:extLst>
                <a:ext uri="{FF2B5EF4-FFF2-40B4-BE49-F238E27FC236}">
                  <a16:creationId xmlns:a16="http://schemas.microsoft.com/office/drawing/2014/main" id="{13AF481C-B622-BDD3-7E11-654330D060D4}"/>
                </a:ext>
              </a:extLst>
            </p:cNvPr>
            <p:cNvSpPr/>
            <p:nvPr/>
          </p:nvSpPr>
          <p:spPr>
            <a:xfrm>
              <a:off x="484632" y="1191751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Posture consultant</a:t>
              </a:r>
              <a:endParaRPr lang="fr-FR" sz="1300" noProof="0" dirty="0"/>
            </a:p>
          </p:txBody>
        </p:sp>
        <p:sp>
          <p:nvSpPr>
            <p:cNvPr id="37" name="Text 7">
              <a:extLst>
                <a:ext uri="{FF2B5EF4-FFF2-40B4-BE49-F238E27FC236}">
                  <a16:creationId xmlns:a16="http://schemas.microsoft.com/office/drawing/2014/main" id="{CA5E7421-3CD9-0B6D-F18F-847BC65820CE}"/>
                </a:ext>
              </a:extLst>
            </p:cNvPr>
            <p:cNvSpPr/>
            <p:nvPr/>
          </p:nvSpPr>
          <p:spPr>
            <a:xfrm>
              <a:off x="484632" y="1483437"/>
              <a:ext cx="3913632" cy="11866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1100" noProof="0" dirty="0"/>
                <a:t>Portfolio fourni et présentation orale </a:t>
              </a:r>
            </a:p>
          </p:txBody>
        </p:sp>
      </p:grpSp>
      <p:sp>
        <p:nvSpPr>
          <p:cNvPr id="38" name="ZoneTexte 37">
            <a:extLst>
              <a:ext uri="{FF2B5EF4-FFF2-40B4-BE49-F238E27FC236}">
                <a16:creationId xmlns:a16="http://schemas.microsoft.com/office/drawing/2014/main" id="{13AEB3A6-E2B5-1D39-DDD7-A9180B94FFC3}"/>
              </a:ext>
            </a:extLst>
          </p:cNvPr>
          <p:cNvSpPr txBox="1"/>
          <p:nvPr/>
        </p:nvSpPr>
        <p:spPr>
          <a:xfrm>
            <a:off x="687256" y="6304231"/>
            <a:ext cx="9980744" cy="369332"/>
          </a:xfrm>
          <a:prstGeom prst="rect">
            <a:avLst/>
          </a:prstGeom>
          <a:solidFill>
            <a:srgbClr val="F3BFBF"/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RGPD: Données personnelles de tiers anonymisées 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2950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413C1-6F49-4D23-1465-6E24149EF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7FA27E5C-7FB0-DB7C-8F9B-08CD183D7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095B8BE-122D-0CCA-0B06-49A0FE629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400D515-0F11-5A34-2199-00B3433C7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F95B939-4A2B-E91D-580B-922624D69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4C9D14A-B7DC-BDC2-8863-B93F6053D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43EF548-0996-E968-D8C1-EBFACD4A3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10149261" cy="9679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3600" b="1" noProof="0" dirty="0">
                <a:solidFill>
                  <a:schemeClr val="bg1"/>
                </a:solidFill>
              </a:rPr>
              <a:t>Contraintes et spécificités techniques</a:t>
            </a:r>
            <a:endParaRPr lang="fr-FR" sz="3600" noProof="0" dirty="0">
              <a:solidFill>
                <a:schemeClr val="bg1"/>
              </a:solidFill>
            </a:endParaRP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6E65E276-D0A9-16C0-6047-BA2CCE3F9E04}"/>
              </a:ext>
            </a:extLst>
          </p:cNvPr>
          <p:cNvGrpSpPr/>
          <p:nvPr/>
        </p:nvGrpSpPr>
        <p:grpSpPr>
          <a:xfrm>
            <a:off x="699714" y="1968149"/>
            <a:ext cx="4722678" cy="1323349"/>
            <a:chOff x="320040" y="1024128"/>
            <a:chExt cx="4206240" cy="1719072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8A2A45E8-B2C4-91A0-DA3C-0333AB1675F8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088F0727-2479-33F8-78CF-C127862907CD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35BAD864-12B6-F810-EEA5-E19EA86161B8}"/>
                </a:ext>
              </a:extLst>
            </p:cNvPr>
            <p:cNvSpPr/>
            <p:nvPr/>
          </p:nvSpPr>
          <p:spPr>
            <a:xfrm>
              <a:off x="484632" y="1191751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Format du portfolio</a:t>
              </a:r>
              <a:endParaRPr lang="fr-FR" sz="1300" noProof="0" dirty="0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9194B06A-D4E3-8867-EAC8-41E613A6DFDE}"/>
                </a:ext>
              </a:extLst>
            </p:cNvPr>
            <p:cNvSpPr/>
            <p:nvPr/>
          </p:nvSpPr>
          <p:spPr>
            <a:xfrm>
              <a:off x="484632" y="1483437"/>
              <a:ext cx="3913632" cy="11866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100" dirty="0"/>
                <a:t>Publié sur GitHub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100" noProof="0" dirty="0"/>
                <a:t>Format PDF</a:t>
              </a: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795EB4A0-E974-37E5-271B-41F0D4627B21}"/>
              </a:ext>
            </a:extLst>
          </p:cNvPr>
          <p:cNvGrpSpPr/>
          <p:nvPr/>
        </p:nvGrpSpPr>
        <p:grpSpPr>
          <a:xfrm>
            <a:off x="6584808" y="1968149"/>
            <a:ext cx="4722678" cy="1936339"/>
            <a:chOff x="320040" y="1024128"/>
            <a:chExt cx="4206240" cy="1719072"/>
          </a:xfrm>
        </p:grpSpPr>
        <p:sp>
          <p:nvSpPr>
            <p:cNvPr id="12" name="Shape 2">
              <a:extLst>
                <a:ext uri="{FF2B5EF4-FFF2-40B4-BE49-F238E27FC236}">
                  <a16:creationId xmlns:a16="http://schemas.microsoft.com/office/drawing/2014/main" id="{6CF162E4-76A4-4ECF-0D8F-BBD248255324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3" name="Shape 3">
              <a:extLst>
                <a:ext uri="{FF2B5EF4-FFF2-40B4-BE49-F238E27FC236}">
                  <a16:creationId xmlns:a16="http://schemas.microsoft.com/office/drawing/2014/main" id="{0571EA3C-7164-1589-3193-773B681AA4B4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1F1011DE-5717-BEF9-8A42-CA556C1F633B}"/>
                </a:ext>
              </a:extLst>
            </p:cNvPr>
            <p:cNvSpPr/>
            <p:nvPr/>
          </p:nvSpPr>
          <p:spPr>
            <a:xfrm>
              <a:off x="484632" y="1191751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Outils </a:t>
              </a:r>
              <a:endParaRPr lang="fr-FR" sz="1300" noProof="0" dirty="0"/>
            </a:p>
          </p:txBody>
        </p:sp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D585B7D5-B9C5-5616-34B4-30DFB919A60F}"/>
                </a:ext>
              </a:extLst>
            </p:cNvPr>
            <p:cNvSpPr/>
            <p:nvPr/>
          </p:nvSpPr>
          <p:spPr>
            <a:xfrm>
              <a:off x="484632" y="1483437"/>
              <a:ext cx="3913632" cy="11866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100" dirty="0"/>
                <a:t>Power BI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100" noProof="0" dirty="0"/>
                <a:t>Python et Jupyter Notebook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100" dirty="0"/>
                <a:t>SQL et SQLite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100" noProof="0" dirty="0"/>
                <a:t>DBT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100" dirty="0"/>
                <a:t>Snowflake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100" noProof="0" dirty="0"/>
                <a:t>Loom</a:t>
              </a:r>
            </a:p>
          </p:txBody>
        </p:sp>
      </p:grp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19984CB5-B27D-99BF-F8A6-A9F05210F67A}"/>
              </a:ext>
            </a:extLst>
          </p:cNvPr>
          <p:cNvGrpSpPr/>
          <p:nvPr/>
        </p:nvGrpSpPr>
        <p:grpSpPr>
          <a:xfrm>
            <a:off x="699714" y="3663884"/>
            <a:ext cx="4722678" cy="1323349"/>
            <a:chOff x="320040" y="1024128"/>
            <a:chExt cx="4206240" cy="1719072"/>
          </a:xfrm>
        </p:grpSpPr>
        <p:sp>
          <p:nvSpPr>
            <p:cNvPr id="46" name="Shape 2">
              <a:extLst>
                <a:ext uri="{FF2B5EF4-FFF2-40B4-BE49-F238E27FC236}">
                  <a16:creationId xmlns:a16="http://schemas.microsoft.com/office/drawing/2014/main" id="{3B0AC1DF-E5DD-883F-B2F2-8B372634A9E2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48" name="Shape 3">
              <a:extLst>
                <a:ext uri="{FF2B5EF4-FFF2-40B4-BE49-F238E27FC236}">
                  <a16:creationId xmlns:a16="http://schemas.microsoft.com/office/drawing/2014/main" id="{17BC542A-7F66-E7BB-B909-EAD1D25A5A2E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50" name="Text 6">
              <a:extLst>
                <a:ext uri="{FF2B5EF4-FFF2-40B4-BE49-F238E27FC236}">
                  <a16:creationId xmlns:a16="http://schemas.microsoft.com/office/drawing/2014/main" id="{ABCF5B7B-F6FA-C813-3F69-9F8095B87FD9}"/>
                </a:ext>
              </a:extLst>
            </p:cNvPr>
            <p:cNvSpPr/>
            <p:nvPr/>
          </p:nvSpPr>
          <p:spPr>
            <a:xfrm>
              <a:off x="484632" y="1191751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Compatibilité</a:t>
              </a:r>
              <a:endParaRPr lang="fr-FR" sz="1300" noProof="0" dirty="0"/>
            </a:p>
          </p:txBody>
        </p:sp>
        <p:sp>
          <p:nvSpPr>
            <p:cNvPr id="52" name="Text 7">
              <a:extLst>
                <a:ext uri="{FF2B5EF4-FFF2-40B4-BE49-F238E27FC236}">
                  <a16:creationId xmlns:a16="http://schemas.microsoft.com/office/drawing/2014/main" id="{E1245C14-E678-845D-E34C-586A8F58A33B}"/>
                </a:ext>
              </a:extLst>
            </p:cNvPr>
            <p:cNvSpPr/>
            <p:nvPr/>
          </p:nvSpPr>
          <p:spPr>
            <a:xfrm>
              <a:off x="484632" y="1483437"/>
              <a:ext cx="3913632" cy="11866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100" dirty="0"/>
                <a:t>Navigateurs: Chrome, Firefox, Edge, Safari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100" noProof="0" dirty="0"/>
                <a:t>Appareils: PC, Max, tablette</a:t>
              </a:r>
            </a:p>
          </p:txBody>
        </p:sp>
      </p:grp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95189F7C-705F-A4EA-F773-77C5477511DA}"/>
              </a:ext>
            </a:extLst>
          </p:cNvPr>
          <p:cNvGrpSpPr/>
          <p:nvPr/>
        </p:nvGrpSpPr>
        <p:grpSpPr>
          <a:xfrm>
            <a:off x="699714" y="5359619"/>
            <a:ext cx="4722678" cy="1323349"/>
            <a:chOff x="320040" y="1024128"/>
            <a:chExt cx="4206240" cy="1719072"/>
          </a:xfrm>
        </p:grpSpPr>
        <p:sp>
          <p:nvSpPr>
            <p:cNvPr id="55" name="Shape 2">
              <a:extLst>
                <a:ext uri="{FF2B5EF4-FFF2-40B4-BE49-F238E27FC236}">
                  <a16:creationId xmlns:a16="http://schemas.microsoft.com/office/drawing/2014/main" id="{2834F98B-561A-16E3-B0F5-29F3DABE1AF1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56" name="Shape 3">
              <a:extLst>
                <a:ext uri="{FF2B5EF4-FFF2-40B4-BE49-F238E27FC236}">
                  <a16:creationId xmlns:a16="http://schemas.microsoft.com/office/drawing/2014/main" id="{B185A7E2-EB8B-D96F-84D7-427541304F28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57" name="Text 6">
              <a:extLst>
                <a:ext uri="{FF2B5EF4-FFF2-40B4-BE49-F238E27FC236}">
                  <a16:creationId xmlns:a16="http://schemas.microsoft.com/office/drawing/2014/main" id="{88EAB9A5-BAA0-0779-0912-718DD4552D5D}"/>
                </a:ext>
              </a:extLst>
            </p:cNvPr>
            <p:cNvSpPr/>
            <p:nvPr/>
          </p:nvSpPr>
          <p:spPr>
            <a:xfrm>
              <a:off x="484632" y="1191751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Sécurité et sauvegarde</a:t>
              </a:r>
              <a:endParaRPr lang="fr-FR" sz="1300" noProof="0" dirty="0"/>
            </a:p>
          </p:txBody>
        </p:sp>
        <p:sp>
          <p:nvSpPr>
            <p:cNvPr id="58" name="Text 7">
              <a:extLst>
                <a:ext uri="{FF2B5EF4-FFF2-40B4-BE49-F238E27FC236}">
                  <a16:creationId xmlns:a16="http://schemas.microsoft.com/office/drawing/2014/main" id="{1422ABF9-3B68-AA2F-74E6-C881D6B836AD}"/>
                </a:ext>
              </a:extLst>
            </p:cNvPr>
            <p:cNvSpPr/>
            <p:nvPr/>
          </p:nvSpPr>
          <p:spPr>
            <a:xfrm>
              <a:off x="484632" y="1483437"/>
              <a:ext cx="3913632" cy="11866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100" dirty="0"/>
                <a:t>Sauvegardes régulières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100" noProof="0" dirty="0"/>
                <a:t>Pas de données personnelles de tiers exposées</a:t>
              </a:r>
            </a:p>
          </p:txBody>
        </p:sp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4D188EC2-54EC-4226-DE4F-8912D201A784}"/>
              </a:ext>
            </a:extLst>
          </p:cNvPr>
          <p:cNvGrpSpPr/>
          <p:nvPr/>
        </p:nvGrpSpPr>
        <p:grpSpPr>
          <a:xfrm>
            <a:off x="6584808" y="4745027"/>
            <a:ext cx="4722678" cy="1936339"/>
            <a:chOff x="320040" y="1024128"/>
            <a:chExt cx="4206240" cy="1719072"/>
          </a:xfrm>
        </p:grpSpPr>
        <p:sp>
          <p:nvSpPr>
            <p:cNvPr id="60" name="Shape 2">
              <a:extLst>
                <a:ext uri="{FF2B5EF4-FFF2-40B4-BE49-F238E27FC236}">
                  <a16:creationId xmlns:a16="http://schemas.microsoft.com/office/drawing/2014/main" id="{05AE0482-2518-5F54-63CA-427FFCE0E447}"/>
                </a:ext>
              </a:extLst>
            </p:cNvPr>
            <p:cNvSpPr/>
            <p:nvPr/>
          </p:nvSpPr>
          <p:spPr>
            <a:xfrm>
              <a:off x="320040" y="1024128"/>
              <a:ext cx="4206240" cy="1719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61" name="Shape 3">
              <a:extLst>
                <a:ext uri="{FF2B5EF4-FFF2-40B4-BE49-F238E27FC236}">
                  <a16:creationId xmlns:a16="http://schemas.microsoft.com/office/drawing/2014/main" id="{5DFB2DF1-2295-73C2-45E3-29EF9046BB7A}"/>
                </a:ext>
              </a:extLst>
            </p:cNvPr>
            <p:cNvSpPr/>
            <p:nvPr/>
          </p:nvSpPr>
          <p:spPr>
            <a:xfrm>
              <a:off x="320040" y="1024128"/>
              <a:ext cx="64008" cy="1719072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62" name="Text 6">
              <a:extLst>
                <a:ext uri="{FF2B5EF4-FFF2-40B4-BE49-F238E27FC236}">
                  <a16:creationId xmlns:a16="http://schemas.microsoft.com/office/drawing/2014/main" id="{5251E0EC-9031-124B-531A-C39AA00EC9FB}"/>
                </a:ext>
              </a:extLst>
            </p:cNvPr>
            <p:cNvSpPr/>
            <p:nvPr/>
          </p:nvSpPr>
          <p:spPr>
            <a:xfrm>
              <a:off x="484632" y="1191751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300" b="1" noProof="0" dirty="0">
                  <a:solidFill>
                    <a:srgbClr val="1E27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Respect du RGPD</a:t>
              </a:r>
              <a:endParaRPr lang="fr-FR" sz="1300" noProof="0" dirty="0"/>
            </a:p>
          </p:txBody>
        </p:sp>
        <p:sp>
          <p:nvSpPr>
            <p:cNvPr id="63" name="Text 7">
              <a:extLst>
                <a:ext uri="{FF2B5EF4-FFF2-40B4-BE49-F238E27FC236}">
                  <a16:creationId xmlns:a16="http://schemas.microsoft.com/office/drawing/2014/main" id="{DB162185-6356-3BA9-05E3-14CE9DD33E34}"/>
                </a:ext>
              </a:extLst>
            </p:cNvPr>
            <p:cNvSpPr/>
            <p:nvPr/>
          </p:nvSpPr>
          <p:spPr>
            <a:xfrm>
              <a:off x="484632" y="1483437"/>
              <a:ext cx="3913632" cy="11866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100" dirty="0"/>
                <a:t>Anonymisation des données utilisées dans les projets professionnels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100" noProof="0" dirty="0"/>
                <a:t>Mention légale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100" noProof="0" dirty="0"/>
                <a:t>Réglementation appliquée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8979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550794-C697-7DC3-FD24-BC8D79C77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D2502FC-6024-350E-88FA-FC1BE3710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ABFE5F7-9445-A50E-BE64-E53BC5AB1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82BE24-09DF-5839-4413-3130EC81D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106228B-2E21-76F1-156E-FB9BA4BAD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99F8B65-2E64-8500-8F0F-972DF2B60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1BC4060-C99E-3C0E-4879-6293F0E7A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10149261" cy="9679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3600" b="1" noProof="0" dirty="0">
                <a:solidFill>
                  <a:schemeClr val="bg1"/>
                </a:solidFill>
              </a:rPr>
              <a:t>Qualité et performance</a:t>
            </a:r>
            <a:endParaRPr lang="fr-FR" sz="3600" noProof="0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323385E-C54C-3F00-9C90-2EA6C99FB322}"/>
              </a:ext>
            </a:extLst>
          </p:cNvPr>
          <p:cNvSpPr txBox="1"/>
          <p:nvPr/>
        </p:nvSpPr>
        <p:spPr>
          <a:xfrm>
            <a:off x="699713" y="2325361"/>
            <a:ext cx="7657903" cy="369332"/>
          </a:xfrm>
          <a:prstGeom prst="rect">
            <a:avLst/>
          </a:prstGeom>
          <a:solidFill>
            <a:srgbClr val="BFE3F3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Respect de la date de livraison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BCA145A-0299-DAC9-7613-93EA6F89D822}"/>
              </a:ext>
            </a:extLst>
          </p:cNvPr>
          <p:cNvSpPr txBox="1"/>
          <p:nvPr/>
        </p:nvSpPr>
        <p:spPr>
          <a:xfrm>
            <a:off x="699708" y="2756746"/>
            <a:ext cx="7657904" cy="369332"/>
          </a:xfrm>
          <a:prstGeom prst="rect">
            <a:avLst/>
          </a:prstGeom>
          <a:solidFill>
            <a:srgbClr val="BFE3F3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Travail individuel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884CC0E-C2B5-995D-C74E-EA46FF9DE5C2}"/>
              </a:ext>
            </a:extLst>
          </p:cNvPr>
          <p:cNvSpPr txBox="1"/>
          <p:nvPr/>
        </p:nvSpPr>
        <p:spPr>
          <a:xfrm>
            <a:off x="699707" y="3191215"/>
            <a:ext cx="7657905" cy="369332"/>
          </a:xfrm>
          <a:prstGeom prst="rect">
            <a:avLst/>
          </a:prstGeom>
          <a:solidFill>
            <a:srgbClr val="BFE3F3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Aucun budget attribué. Ressources personnelles uniquement (outils gratuits) 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64366EA4-DA49-FA07-C479-77A4BAC577B0}"/>
              </a:ext>
            </a:extLst>
          </p:cNvPr>
          <p:cNvSpPr txBox="1"/>
          <p:nvPr/>
        </p:nvSpPr>
        <p:spPr>
          <a:xfrm>
            <a:off x="699710" y="1793562"/>
            <a:ext cx="593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4E95D9"/>
                </a:solidFill>
              </a:rPr>
              <a:t>Contraintes à prendre en compte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B9CC03C7-B8B0-44C6-0585-F728C504C72B}"/>
              </a:ext>
            </a:extLst>
          </p:cNvPr>
          <p:cNvSpPr txBox="1"/>
          <p:nvPr/>
        </p:nvSpPr>
        <p:spPr>
          <a:xfrm>
            <a:off x="699707" y="3623773"/>
            <a:ext cx="7657905" cy="369332"/>
          </a:xfrm>
          <a:prstGeom prst="rect">
            <a:avLst/>
          </a:prstGeom>
          <a:solidFill>
            <a:srgbClr val="BFE3F3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Respect attentif des demandes du client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ECB3DB87-344E-7980-6E35-0CDF3B5DE76E}"/>
              </a:ext>
            </a:extLst>
          </p:cNvPr>
          <p:cNvSpPr txBox="1"/>
          <p:nvPr/>
        </p:nvSpPr>
        <p:spPr>
          <a:xfrm>
            <a:off x="699707" y="4056331"/>
            <a:ext cx="7657905" cy="369332"/>
          </a:xfrm>
          <a:prstGeom prst="rect">
            <a:avLst/>
          </a:prstGeom>
          <a:solidFill>
            <a:srgbClr val="BFE3F3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Rigueur et précision dans la documentation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96D891F7-10B5-E7CF-C03A-56D3D60DA3E1}"/>
              </a:ext>
            </a:extLst>
          </p:cNvPr>
          <p:cNvSpPr txBox="1"/>
          <p:nvPr/>
        </p:nvSpPr>
        <p:spPr>
          <a:xfrm>
            <a:off x="699710" y="4740845"/>
            <a:ext cx="593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4E95D9"/>
                </a:solidFill>
              </a:rPr>
              <a:t>KPIs de suivi du projet</a:t>
            </a:r>
          </a:p>
        </p:txBody>
      </p: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CC248095-5981-FEC3-E8D2-F4969F2E127E}"/>
              </a:ext>
            </a:extLst>
          </p:cNvPr>
          <p:cNvGrpSpPr/>
          <p:nvPr/>
        </p:nvGrpSpPr>
        <p:grpSpPr>
          <a:xfrm>
            <a:off x="699707" y="5340730"/>
            <a:ext cx="2104560" cy="1317494"/>
            <a:chOff x="1000440" y="2618571"/>
            <a:chExt cx="2104560" cy="2421429"/>
          </a:xfrm>
        </p:grpSpPr>
        <p:sp>
          <p:nvSpPr>
            <p:cNvPr id="60" name="CustomShape 2">
              <a:extLst>
                <a:ext uri="{FF2B5EF4-FFF2-40B4-BE49-F238E27FC236}">
                  <a16:creationId xmlns:a16="http://schemas.microsoft.com/office/drawing/2014/main" id="{58C26492-FA85-F4C4-F01E-A02C4B05268C}"/>
                </a:ext>
              </a:extLst>
            </p:cNvPr>
            <p:cNvSpPr/>
            <p:nvPr/>
          </p:nvSpPr>
          <p:spPr>
            <a:xfrm>
              <a:off x="1000440" y="2735486"/>
              <a:ext cx="2104560" cy="675720"/>
            </a:xfrm>
            <a:prstGeom prst="rect">
              <a:avLst/>
            </a:prstGeom>
            <a:solidFill>
              <a:srgbClr val="1F3864"/>
            </a:solidFill>
            <a:ln w="12600">
              <a:solidFill>
                <a:srgbClr val="1F38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fr-FR" dirty="0"/>
            </a:p>
          </p:txBody>
        </p:sp>
        <p:sp>
          <p:nvSpPr>
            <p:cNvPr id="61" name="CustomShape 3">
              <a:extLst>
                <a:ext uri="{FF2B5EF4-FFF2-40B4-BE49-F238E27FC236}">
                  <a16:creationId xmlns:a16="http://schemas.microsoft.com/office/drawing/2014/main" id="{DD001C15-91E4-8EE2-237E-DECF436B87EE}"/>
                </a:ext>
              </a:extLst>
            </p:cNvPr>
            <p:cNvSpPr/>
            <p:nvPr/>
          </p:nvSpPr>
          <p:spPr>
            <a:xfrm>
              <a:off x="1000440" y="2618571"/>
              <a:ext cx="2104560" cy="6757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fr-FR" sz="1500" b="1" strike="noStrike" spc="-1" dirty="0">
                  <a:solidFill>
                    <a:srgbClr val="FFFFFF"/>
                  </a:solidFill>
                  <a:latin typeface="Calibri"/>
                  <a:ea typeface="Calibri"/>
                </a:rPr>
                <a:t>Coûts</a:t>
              </a:r>
              <a:endParaRPr lang="fr-FR" sz="1500" b="0" strike="noStrike" spc="-1" dirty="0">
                <a:latin typeface="Arial"/>
              </a:endParaRPr>
            </a:p>
          </p:txBody>
        </p:sp>
        <p:sp>
          <p:nvSpPr>
            <p:cNvPr id="64" name="CustomShape 6">
              <a:extLst>
                <a:ext uri="{FF2B5EF4-FFF2-40B4-BE49-F238E27FC236}">
                  <a16:creationId xmlns:a16="http://schemas.microsoft.com/office/drawing/2014/main" id="{042F71E2-C006-39EC-ACF9-F01D236C8507}"/>
                </a:ext>
              </a:extLst>
            </p:cNvPr>
            <p:cNvSpPr/>
            <p:nvPr/>
          </p:nvSpPr>
          <p:spPr>
            <a:xfrm>
              <a:off x="1000440" y="3405291"/>
              <a:ext cx="2104560" cy="1622880"/>
            </a:xfrm>
            <a:prstGeom prst="rect">
              <a:avLst/>
            </a:prstGeom>
            <a:solidFill>
              <a:srgbClr val="E2EFF9"/>
            </a:solidFill>
            <a:ln w="12600">
              <a:solidFill>
                <a:srgbClr val="2E75B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fr-FR"/>
            </a:p>
          </p:txBody>
        </p:sp>
        <p:sp>
          <p:nvSpPr>
            <p:cNvPr id="65" name="CustomShape 7">
              <a:extLst>
                <a:ext uri="{FF2B5EF4-FFF2-40B4-BE49-F238E27FC236}">
                  <a16:creationId xmlns:a16="http://schemas.microsoft.com/office/drawing/2014/main" id="{B5A12CE9-7C49-ACCD-B1DD-857275140ECB}"/>
                </a:ext>
              </a:extLst>
            </p:cNvPr>
            <p:cNvSpPr/>
            <p:nvPr/>
          </p:nvSpPr>
          <p:spPr>
            <a:xfrm>
              <a:off x="1098360" y="3417120"/>
              <a:ext cx="1909080" cy="16228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fr-FR" sz="1400" b="0" strike="noStrike" spc="-1" dirty="0">
                  <a:solidFill>
                    <a:srgbClr val="1E293B"/>
                  </a:solidFill>
                  <a:latin typeface="Calibri"/>
                  <a:ea typeface="Calibri"/>
                </a:rPr>
                <a:t>0€</a:t>
              </a:r>
            </a:p>
            <a:p>
              <a:pPr algn="ctr">
                <a:lnSpc>
                  <a:spcPct val="100000"/>
                </a:lnSpc>
              </a:pPr>
              <a:r>
                <a:rPr lang="fr-FR" sz="1400" spc="-1" dirty="0">
                  <a:solidFill>
                    <a:srgbClr val="1E293B"/>
                  </a:solidFill>
                  <a:latin typeface="Calibri"/>
                  <a:ea typeface="Calibri"/>
                </a:rPr>
                <a:t>Outils gratuits</a:t>
              </a:r>
              <a:endParaRPr lang="fr-FR" sz="1400" b="0" strike="noStrike" spc="-1" dirty="0">
                <a:latin typeface="Arial"/>
              </a:endParaRPr>
            </a:p>
          </p:txBody>
        </p:sp>
      </p:grpSp>
      <p:grpSp>
        <p:nvGrpSpPr>
          <p:cNvPr id="66" name="Groupe 65">
            <a:extLst>
              <a:ext uri="{FF2B5EF4-FFF2-40B4-BE49-F238E27FC236}">
                <a16:creationId xmlns:a16="http://schemas.microsoft.com/office/drawing/2014/main" id="{CA63D575-8093-A31F-C4FD-F2B0A4BA57A9}"/>
              </a:ext>
            </a:extLst>
          </p:cNvPr>
          <p:cNvGrpSpPr/>
          <p:nvPr/>
        </p:nvGrpSpPr>
        <p:grpSpPr>
          <a:xfrm>
            <a:off x="3202115" y="5336941"/>
            <a:ext cx="2104560" cy="1317494"/>
            <a:chOff x="1000440" y="2618571"/>
            <a:chExt cx="2104560" cy="2421429"/>
          </a:xfrm>
        </p:grpSpPr>
        <p:sp>
          <p:nvSpPr>
            <p:cNvPr id="67" name="CustomShape 2">
              <a:extLst>
                <a:ext uri="{FF2B5EF4-FFF2-40B4-BE49-F238E27FC236}">
                  <a16:creationId xmlns:a16="http://schemas.microsoft.com/office/drawing/2014/main" id="{1D6B6452-0269-9E6E-BF7D-97551E7E0740}"/>
                </a:ext>
              </a:extLst>
            </p:cNvPr>
            <p:cNvSpPr/>
            <p:nvPr/>
          </p:nvSpPr>
          <p:spPr>
            <a:xfrm>
              <a:off x="1000440" y="2735486"/>
              <a:ext cx="2104560" cy="675720"/>
            </a:xfrm>
            <a:prstGeom prst="rect">
              <a:avLst/>
            </a:prstGeom>
            <a:solidFill>
              <a:srgbClr val="1F3864"/>
            </a:solidFill>
            <a:ln w="12600">
              <a:solidFill>
                <a:srgbClr val="1F38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fr-FR" dirty="0"/>
            </a:p>
          </p:txBody>
        </p:sp>
        <p:sp>
          <p:nvSpPr>
            <p:cNvPr id="68" name="CustomShape 3">
              <a:extLst>
                <a:ext uri="{FF2B5EF4-FFF2-40B4-BE49-F238E27FC236}">
                  <a16:creationId xmlns:a16="http://schemas.microsoft.com/office/drawing/2014/main" id="{B98DE67C-06EC-41F3-060C-AB5E5D5C4DA8}"/>
                </a:ext>
              </a:extLst>
            </p:cNvPr>
            <p:cNvSpPr/>
            <p:nvPr/>
          </p:nvSpPr>
          <p:spPr>
            <a:xfrm>
              <a:off x="1000440" y="2618571"/>
              <a:ext cx="2104560" cy="6757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fr-FR" sz="1500" b="1" strike="noStrike" spc="-1" dirty="0">
                  <a:solidFill>
                    <a:srgbClr val="FFFFFF"/>
                  </a:solidFill>
                  <a:latin typeface="Calibri"/>
                  <a:ea typeface="Calibri"/>
                </a:rPr>
                <a:t>Délais</a:t>
              </a:r>
              <a:endParaRPr lang="fr-FR" sz="1500" b="0" strike="noStrike" spc="-1" dirty="0">
                <a:latin typeface="Arial"/>
              </a:endParaRPr>
            </a:p>
          </p:txBody>
        </p:sp>
        <p:sp>
          <p:nvSpPr>
            <p:cNvPr id="69" name="CustomShape 6">
              <a:extLst>
                <a:ext uri="{FF2B5EF4-FFF2-40B4-BE49-F238E27FC236}">
                  <a16:creationId xmlns:a16="http://schemas.microsoft.com/office/drawing/2014/main" id="{45A101D5-F455-5080-7A9C-68ECEA0DEF69}"/>
                </a:ext>
              </a:extLst>
            </p:cNvPr>
            <p:cNvSpPr/>
            <p:nvPr/>
          </p:nvSpPr>
          <p:spPr>
            <a:xfrm>
              <a:off x="1000440" y="3405291"/>
              <a:ext cx="2104560" cy="1622880"/>
            </a:xfrm>
            <a:prstGeom prst="rect">
              <a:avLst/>
            </a:prstGeom>
            <a:solidFill>
              <a:srgbClr val="E2EFF9"/>
            </a:solidFill>
            <a:ln w="12600">
              <a:solidFill>
                <a:srgbClr val="2E75B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fr-FR"/>
            </a:p>
          </p:txBody>
        </p:sp>
        <p:sp>
          <p:nvSpPr>
            <p:cNvPr id="70" name="CustomShape 7">
              <a:extLst>
                <a:ext uri="{FF2B5EF4-FFF2-40B4-BE49-F238E27FC236}">
                  <a16:creationId xmlns:a16="http://schemas.microsoft.com/office/drawing/2014/main" id="{66F7BD31-90E0-F7FD-0C47-FE96A6B0C33C}"/>
                </a:ext>
              </a:extLst>
            </p:cNvPr>
            <p:cNvSpPr/>
            <p:nvPr/>
          </p:nvSpPr>
          <p:spPr>
            <a:xfrm>
              <a:off x="1098360" y="3417120"/>
              <a:ext cx="1909080" cy="16228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fr-FR" sz="1400" b="0" strike="noStrike" spc="-1" dirty="0">
                  <a:solidFill>
                    <a:srgbClr val="1E293B"/>
                  </a:solidFill>
                  <a:latin typeface="Calibri"/>
                  <a:ea typeface="Calibri"/>
                </a:rPr>
                <a:t>Respect de la temporalité du diagramme de Gantt</a:t>
              </a:r>
              <a:endParaRPr lang="fr-FR" sz="1400" b="0" strike="noStrike" spc="-1" dirty="0">
                <a:latin typeface="Arial"/>
              </a:endParaRPr>
            </a:p>
          </p:txBody>
        </p:sp>
      </p:grpSp>
      <p:grpSp>
        <p:nvGrpSpPr>
          <p:cNvPr id="71" name="Groupe 70">
            <a:extLst>
              <a:ext uri="{FF2B5EF4-FFF2-40B4-BE49-F238E27FC236}">
                <a16:creationId xmlns:a16="http://schemas.microsoft.com/office/drawing/2014/main" id="{315D8B3C-94FD-040C-B778-647135FB11AD}"/>
              </a:ext>
            </a:extLst>
          </p:cNvPr>
          <p:cNvGrpSpPr/>
          <p:nvPr/>
        </p:nvGrpSpPr>
        <p:grpSpPr>
          <a:xfrm>
            <a:off x="5704523" y="5346299"/>
            <a:ext cx="2104560" cy="1317494"/>
            <a:chOff x="1000440" y="2618571"/>
            <a:chExt cx="2104560" cy="2421429"/>
          </a:xfrm>
        </p:grpSpPr>
        <p:sp>
          <p:nvSpPr>
            <p:cNvPr id="72" name="CustomShape 2">
              <a:extLst>
                <a:ext uri="{FF2B5EF4-FFF2-40B4-BE49-F238E27FC236}">
                  <a16:creationId xmlns:a16="http://schemas.microsoft.com/office/drawing/2014/main" id="{8AFE5187-768B-716B-C75B-545D92D21AF1}"/>
                </a:ext>
              </a:extLst>
            </p:cNvPr>
            <p:cNvSpPr/>
            <p:nvPr/>
          </p:nvSpPr>
          <p:spPr>
            <a:xfrm>
              <a:off x="1000440" y="2735486"/>
              <a:ext cx="2104560" cy="675720"/>
            </a:xfrm>
            <a:prstGeom prst="rect">
              <a:avLst/>
            </a:prstGeom>
            <a:solidFill>
              <a:srgbClr val="1F3864"/>
            </a:solidFill>
            <a:ln w="12600">
              <a:solidFill>
                <a:srgbClr val="1F38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fr-FR" dirty="0"/>
            </a:p>
          </p:txBody>
        </p:sp>
        <p:sp>
          <p:nvSpPr>
            <p:cNvPr id="73" name="CustomShape 3">
              <a:extLst>
                <a:ext uri="{FF2B5EF4-FFF2-40B4-BE49-F238E27FC236}">
                  <a16:creationId xmlns:a16="http://schemas.microsoft.com/office/drawing/2014/main" id="{3661A678-3833-B306-DFB3-994B04639DD9}"/>
                </a:ext>
              </a:extLst>
            </p:cNvPr>
            <p:cNvSpPr/>
            <p:nvPr/>
          </p:nvSpPr>
          <p:spPr>
            <a:xfrm>
              <a:off x="1000440" y="2618571"/>
              <a:ext cx="2104560" cy="6757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fr-FR" sz="1500" b="1" strike="noStrike" spc="-1" dirty="0">
                  <a:solidFill>
                    <a:srgbClr val="FFFFFF"/>
                  </a:solidFill>
                  <a:latin typeface="Calibri"/>
                  <a:ea typeface="Calibri"/>
                </a:rPr>
                <a:t>Qualité</a:t>
              </a:r>
              <a:endParaRPr lang="fr-FR" sz="1500" b="0" strike="noStrike" spc="-1" dirty="0">
                <a:latin typeface="Arial"/>
              </a:endParaRPr>
            </a:p>
          </p:txBody>
        </p:sp>
        <p:sp>
          <p:nvSpPr>
            <p:cNvPr id="74" name="CustomShape 6">
              <a:extLst>
                <a:ext uri="{FF2B5EF4-FFF2-40B4-BE49-F238E27FC236}">
                  <a16:creationId xmlns:a16="http://schemas.microsoft.com/office/drawing/2014/main" id="{7F75424D-AFB2-BBFF-FDBF-F83624448A19}"/>
                </a:ext>
              </a:extLst>
            </p:cNvPr>
            <p:cNvSpPr/>
            <p:nvPr/>
          </p:nvSpPr>
          <p:spPr>
            <a:xfrm>
              <a:off x="1000440" y="3405291"/>
              <a:ext cx="2104560" cy="1622880"/>
            </a:xfrm>
            <a:prstGeom prst="rect">
              <a:avLst/>
            </a:prstGeom>
            <a:solidFill>
              <a:srgbClr val="E2EFF9"/>
            </a:solidFill>
            <a:ln w="12600">
              <a:solidFill>
                <a:srgbClr val="2E75B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fr-FR"/>
            </a:p>
          </p:txBody>
        </p:sp>
        <p:sp>
          <p:nvSpPr>
            <p:cNvPr id="75" name="CustomShape 7">
              <a:extLst>
                <a:ext uri="{FF2B5EF4-FFF2-40B4-BE49-F238E27FC236}">
                  <a16:creationId xmlns:a16="http://schemas.microsoft.com/office/drawing/2014/main" id="{3FBD8518-6BD6-9D5C-23C4-610648E74181}"/>
                </a:ext>
              </a:extLst>
            </p:cNvPr>
            <p:cNvSpPr/>
            <p:nvPr/>
          </p:nvSpPr>
          <p:spPr>
            <a:xfrm>
              <a:off x="1098360" y="3417120"/>
              <a:ext cx="1909080" cy="16228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fr-FR" sz="1400" spc="-1" dirty="0">
                  <a:solidFill>
                    <a:srgbClr val="1E293B"/>
                  </a:solidFill>
                  <a:latin typeface="Calibri"/>
                  <a:ea typeface="Calibri"/>
                </a:rPr>
                <a:t>Livrables attendus conformes </a:t>
              </a:r>
              <a:endParaRPr lang="fr-FR" sz="1400" b="0" strike="noStrike" spc="-1" dirty="0">
                <a:latin typeface="Arial"/>
              </a:endParaRPr>
            </a:p>
          </p:txBody>
        </p:sp>
      </p:grp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D6ECC9E9-9D51-FA81-421B-F20CBDC546CD}"/>
              </a:ext>
            </a:extLst>
          </p:cNvPr>
          <p:cNvGrpSpPr/>
          <p:nvPr/>
        </p:nvGrpSpPr>
        <p:grpSpPr>
          <a:xfrm>
            <a:off x="8304491" y="5330505"/>
            <a:ext cx="2104560" cy="1317494"/>
            <a:chOff x="1000440" y="2618571"/>
            <a:chExt cx="2104560" cy="2421429"/>
          </a:xfrm>
        </p:grpSpPr>
        <p:sp>
          <p:nvSpPr>
            <p:cNvPr id="77" name="CustomShape 2">
              <a:extLst>
                <a:ext uri="{FF2B5EF4-FFF2-40B4-BE49-F238E27FC236}">
                  <a16:creationId xmlns:a16="http://schemas.microsoft.com/office/drawing/2014/main" id="{BFFF4791-7BC9-EE31-9C35-7BFCE67FF714}"/>
                </a:ext>
              </a:extLst>
            </p:cNvPr>
            <p:cNvSpPr/>
            <p:nvPr/>
          </p:nvSpPr>
          <p:spPr>
            <a:xfrm>
              <a:off x="1000440" y="2735486"/>
              <a:ext cx="2104560" cy="675720"/>
            </a:xfrm>
            <a:prstGeom prst="rect">
              <a:avLst/>
            </a:prstGeom>
            <a:solidFill>
              <a:srgbClr val="1F3864"/>
            </a:solidFill>
            <a:ln w="12600">
              <a:solidFill>
                <a:srgbClr val="1F386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fr-FR" dirty="0"/>
            </a:p>
          </p:txBody>
        </p:sp>
        <p:sp>
          <p:nvSpPr>
            <p:cNvPr id="78" name="CustomShape 3">
              <a:extLst>
                <a:ext uri="{FF2B5EF4-FFF2-40B4-BE49-F238E27FC236}">
                  <a16:creationId xmlns:a16="http://schemas.microsoft.com/office/drawing/2014/main" id="{6ABCC668-E4F9-BADE-822A-0C4773028B88}"/>
                </a:ext>
              </a:extLst>
            </p:cNvPr>
            <p:cNvSpPr/>
            <p:nvPr/>
          </p:nvSpPr>
          <p:spPr>
            <a:xfrm>
              <a:off x="1000440" y="2618571"/>
              <a:ext cx="2104560" cy="6757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fr-FR" sz="1500" b="1" strike="noStrike" spc="-1" dirty="0">
                  <a:solidFill>
                    <a:srgbClr val="FFFFFF"/>
                  </a:solidFill>
                  <a:latin typeface="Calibri"/>
                  <a:ea typeface="Calibri"/>
                </a:rPr>
                <a:t>Avancement</a:t>
              </a:r>
              <a:endParaRPr lang="fr-FR" sz="1500" b="0" strike="noStrike" spc="-1" dirty="0">
                <a:latin typeface="Arial"/>
              </a:endParaRPr>
            </a:p>
          </p:txBody>
        </p:sp>
        <p:sp>
          <p:nvSpPr>
            <p:cNvPr id="79" name="CustomShape 6">
              <a:extLst>
                <a:ext uri="{FF2B5EF4-FFF2-40B4-BE49-F238E27FC236}">
                  <a16:creationId xmlns:a16="http://schemas.microsoft.com/office/drawing/2014/main" id="{5E39C5C4-8861-A0C3-64E2-A30E337B6085}"/>
                </a:ext>
              </a:extLst>
            </p:cNvPr>
            <p:cNvSpPr/>
            <p:nvPr/>
          </p:nvSpPr>
          <p:spPr>
            <a:xfrm>
              <a:off x="1000440" y="3405291"/>
              <a:ext cx="2104560" cy="1622880"/>
            </a:xfrm>
            <a:prstGeom prst="rect">
              <a:avLst/>
            </a:prstGeom>
            <a:solidFill>
              <a:srgbClr val="E2EFF9"/>
            </a:solidFill>
            <a:ln w="12600">
              <a:solidFill>
                <a:srgbClr val="2E75B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fr-FR"/>
            </a:p>
          </p:txBody>
        </p:sp>
        <p:sp>
          <p:nvSpPr>
            <p:cNvPr id="80" name="CustomShape 7">
              <a:extLst>
                <a:ext uri="{FF2B5EF4-FFF2-40B4-BE49-F238E27FC236}">
                  <a16:creationId xmlns:a16="http://schemas.microsoft.com/office/drawing/2014/main" id="{37A2405E-0D83-87EA-2D01-62C23439AE00}"/>
                </a:ext>
              </a:extLst>
            </p:cNvPr>
            <p:cNvSpPr/>
            <p:nvPr/>
          </p:nvSpPr>
          <p:spPr>
            <a:xfrm>
              <a:off x="1098360" y="3417120"/>
              <a:ext cx="1909080" cy="16228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fr-FR" sz="1400" b="0" strike="noStrike" spc="-1" dirty="0">
                  <a:solidFill>
                    <a:srgbClr val="1E293B"/>
                  </a:solidFill>
                  <a:latin typeface="Calibri"/>
                  <a:ea typeface="Calibri"/>
                </a:rPr>
                <a:t>Nombre de sections du portfolio finalisées par le total attendu</a:t>
              </a:r>
              <a:endParaRPr lang="fr-FR" sz="1400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8056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C66FAE-17B6-884A-0FBF-7DEBA562D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3F382006-8395-0937-78C4-2D009E74C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3C3DE4C-1D4C-49EC-6EC0-5B599D16D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FDBF47E-0374-420F-6E71-B56622900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88D20D4-A579-4EDA-CC22-5B31BAE8C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53D1C47-969F-CCA2-C8E2-7D6623D89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425BC59-EE6E-2481-19E1-04A2FCA0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10149261" cy="9679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3600" b="1" noProof="0" dirty="0">
                <a:solidFill>
                  <a:schemeClr val="bg1"/>
                </a:solidFill>
              </a:rPr>
              <a:t>Rétroplanning</a:t>
            </a:r>
            <a:endParaRPr lang="fr-FR" sz="3600" noProof="0" dirty="0">
              <a:solidFill>
                <a:schemeClr val="bg1"/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99F99DA-D449-5112-145E-7F58234EC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14" y="2249050"/>
            <a:ext cx="8030696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017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3B9C452-2C6E-4D52-8FC7-669291EE9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4E1CC44-1B7F-472B-B668-B4F2F4723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5BAD077-4A41-458D-9909-1A108699E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1FC21CE-01FD-49CC-BAFC-06F38B34B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7BE83C0-7097-C375-6D37-D57C3C77D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10149261" cy="9679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3600" b="1" noProof="0" dirty="0">
                <a:solidFill>
                  <a:srgbClr val="FFFFFF"/>
                </a:solidFill>
              </a:rPr>
              <a:t>Devis</a:t>
            </a:r>
            <a:endParaRPr lang="fr-FR" sz="3600" noProof="0" dirty="0">
              <a:solidFill>
                <a:srgbClr val="FFFFFF"/>
              </a:solidFill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096D6059-6B61-4597-1EA9-A73EDF84F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116625"/>
              </p:ext>
            </p:extLst>
          </p:nvPr>
        </p:nvGraphicFramePr>
        <p:xfrm>
          <a:off x="681863" y="2872981"/>
          <a:ext cx="10828274" cy="2524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7449">
                  <a:extLst>
                    <a:ext uri="{9D8B030D-6E8A-4147-A177-3AD203B41FA5}">
                      <a16:colId xmlns:a16="http://schemas.microsoft.com/office/drawing/2014/main" val="2043733424"/>
                    </a:ext>
                  </a:extLst>
                </a:gridCol>
                <a:gridCol w="5885688">
                  <a:extLst>
                    <a:ext uri="{9D8B030D-6E8A-4147-A177-3AD203B41FA5}">
                      <a16:colId xmlns:a16="http://schemas.microsoft.com/office/drawing/2014/main" val="3926004953"/>
                    </a:ext>
                  </a:extLst>
                </a:gridCol>
                <a:gridCol w="1985137">
                  <a:extLst>
                    <a:ext uri="{9D8B030D-6E8A-4147-A177-3AD203B41FA5}">
                      <a16:colId xmlns:a16="http://schemas.microsoft.com/office/drawing/2014/main" val="1259389024"/>
                    </a:ext>
                  </a:extLst>
                </a:gridCol>
              </a:tblGrid>
              <a:tr h="42075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Catégorie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Détail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Coût estimé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612623"/>
                  </a:ext>
                </a:extLst>
              </a:tr>
              <a:tr h="420758"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072540"/>
                          </a:solidFill>
                        </a:rPr>
                        <a:t>Ressources humaines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Inclus dans la mission Data ESN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Inclus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3280184"/>
                  </a:ext>
                </a:extLst>
              </a:tr>
              <a:tr h="420758"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072540"/>
                          </a:solidFill>
                        </a:rPr>
                        <a:t>Outils / Logiciels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Power BI Desktop, Loom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0€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797188"/>
                  </a:ext>
                </a:extLst>
              </a:tr>
              <a:tr h="420758"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072540"/>
                          </a:solidFill>
                        </a:rPr>
                        <a:t>Hébergement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GitHub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0€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0633782"/>
                  </a:ext>
                </a:extLst>
              </a:tr>
              <a:tr h="420758"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072540"/>
                          </a:solidFill>
                        </a:rPr>
                        <a:t>Marge Data ESN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Non applicable (portfolio personnel de candidature)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0€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9002484"/>
                  </a:ext>
                </a:extLst>
              </a:tr>
              <a:tr h="420758"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072540"/>
                          </a:solidFill>
                        </a:rPr>
                        <a:t>Total estimé</a:t>
                      </a:r>
                    </a:p>
                  </a:txBody>
                  <a:tcPr anchor="ctr">
                    <a:solidFill>
                      <a:srgbClr val="F3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 anchor="ctr">
                    <a:solidFill>
                      <a:srgbClr val="F3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0€</a:t>
                      </a:r>
                    </a:p>
                  </a:txBody>
                  <a:tcPr anchor="ctr">
                    <a:solidFill>
                      <a:srgbClr val="F3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156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7927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7D1640-9085-97CA-2455-17D65A227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18BDC9-2FA9-074D-2A14-2D72675FC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AB4701-98B4-6A4D-3A28-3D07A660E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B1C960-83E0-D498-9FED-FDBF64EDA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5F618E-EC62-6E20-5E2C-76D3DCA52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CFA0DA7-44D0-3177-445D-DF94A08C2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FDDAF13-52A9-FBFF-49D4-02D1AFD02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263" y="885892"/>
            <a:ext cx="11157470" cy="116418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fr-FR" sz="4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portfolio pensé pour convaincre</a:t>
            </a:r>
            <a:endParaRPr lang="fr-FR" sz="4400" noProof="0" dirty="0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CEF41E-B294-82E2-50CE-23B4F6FE9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075A4C-19E0-86C5-CFF5-D4891768C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5549F86E-F612-4DE0-23EF-EF2BA850A104}"/>
              </a:ext>
            </a:extLst>
          </p:cNvPr>
          <p:cNvSpPr txBox="1">
            <a:spLocks/>
          </p:cNvSpPr>
          <p:nvPr/>
        </p:nvSpPr>
        <p:spPr>
          <a:xfrm>
            <a:off x="2002536" y="3157188"/>
            <a:ext cx="8476488" cy="29260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24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Démontrer la maîtrise de compétences data et la posture consultant afin de convaincre Aéroworld de la pertinence de ma candidature: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compétences démontrées par des livrables concrets et leur présentation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projets professionnels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technique maîtrisée: Python, SQL, Power BI, DBT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de consultant data expérimenté incarnée tout au long du portfolio </a:t>
            </a:r>
          </a:p>
          <a:p>
            <a:pPr algn="l"/>
            <a:endParaRPr lang="fr-FR" sz="2400" b="1" noProof="0" dirty="0">
              <a:solidFill>
                <a:srgbClr val="CADCF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827766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8277</TotalTime>
  <Words>667</Words>
  <Application>Microsoft Office PowerPoint</Application>
  <PresentationFormat>Grand écran</PresentationFormat>
  <Paragraphs>157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Aptos Display (En-têtes)</vt:lpstr>
      <vt:lpstr>Arial</vt:lpstr>
      <vt:lpstr>Calibri</vt:lpstr>
      <vt:lpstr>Georgia</vt:lpstr>
      <vt:lpstr>Thème Office</vt:lpstr>
      <vt:lpstr>Présentation PowerPoint</vt:lpstr>
      <vt:lpstr>Sommaire</vt:lpstr>
      <vt:lpstr>Présentation du projet</vt:lpstr>
      <vt:lpstr>Présentation du projet</vt:lpstr>
      <vt:lpstr>Équipe projet</vt:lpstr>
      <vt:lpstr>Spécifications ergonomiques</vt:lpstr>
      <vt:lpstr>Spécifications fonctionnelles</vt:lpstr>
      <vt:lpstr>Contraintes et spécificités techniques</vt:lpstr>
      <vt:lpstr>Qualité et performance</vt:lpstr>
      <vt:lpstr>Rétroplanning</vt:lpstr>
      <vt:lpstr>Devis</vt:lpstr>
      <vt:lpstr>Un portfolio pensé pour convaincre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Alexandre Low-Kam</dc:creator>
  <cp:lastModifiedBy>Alexandre Low-Kam</cp:lastModifiedBy>
  <cp:revision>67</cp:revision>
  <dcterms:created xsi:type="dcterms:W3CDTF">2026-02-23T17:22:06Z</dcterms:created>
  <dcterms:modified xsi:type="dcterms:W3CDTF">2026-06-01T15:36:52Z</dcterms:modified>
</cp:coreProperties>
</file>